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Arim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1" roundtripDataSignature="AMtx7miD3W9dOKLhpECny/ji3tGsFaaE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59F1FEE-9859-4731-B183-41E2A44F47C0}">
  <a:tblStyle styleId="{859F1FEE-9859-4731-B183-41E2A44F47C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Arimo-bold.fntdata"/><Relationship Id="rId27" Type="http://schemas.openxmlformats.org/officeDocument/2006/relationships/font" Target="fonts/Arim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rimo-italic.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Arim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24"/>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dk1"/>
              </a:buClr>
              <a:buSzPts val="5600"/>
              <a:buFont typeface="Calibri"/>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21" name="Google Shape;21;p24"/>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Clr>
                <a:schemeClr val="dk1"/>
              </a:buClr>
              <a:buSzPts val="3600"/>
              <a:buChar char="●"/>
              <a:defRPr/>
            </a:lvl1pPr>
            <a:lvl2pPr indent="-406400" lvl="1" marL="914400" algn="l">
              <a:lnSpc>
                <a:spcPct val="115000"/>
              </a:lnSpc>
              <a:spcBef>
                <a:spcPts val="0"/>
              </a:spcBef>
              <a:spcAft>
                <a:spcPts val="0"/>
              </a:spcAft>
              <a:buClr>
                <a:schemeClr val="dk1"/>
              </a:buClr>
              <a:buSzPts val="2800"/>
              <a:buChar char="○"/>
              <a:defRPr/>
            </a:lvl2pPr>
            <a:lvl3pPr indent="-406400" lvl="2" marL="1371600" algn="l">
              <a:lnSpc>
                <a:spcPct val="115000"/>
              </a:lnSpc>
              <a:spcBef>
                <a:spcPts val="0"/>
              </a:spcBef>
              <a:spcAft>
                <a:spcPts val="0"/>
              </a:spcAft>
              <a:buClr>
                <a:schemeClr val="dk1"/>
              </a:buClr>
              <a:buSzPts val="2800"/>
              <a:buChar char="■"/>
              <a:defRPr/>
            </a:lvl3pPr>
            <a:lvl4pPr indent="-406400" lvl="3" marL="1828800" algn="l">
              <a:lnSpc>
                <a:spcPct val="115000"/>
              </a:lnSpc>
              <a:spcBef>
                <a:spcPts val="0"/>
              </a:spcBef>
              <a:spcAft>
                <a:spcPts val="0"/>
              </a:spcAft>
              <a:buClr>
                <a:schemeClr val="dk1"/>
              </a:buClr>
              <a:buSzPts val="2800"/>
              <a:buChar char="●"/>
              <a:defRPr/>
            </a:lvl4pPr>
            <a:lvl5pPr indent="-406400" lvl="4" marL="2286000" algn="l">
              <a:lnSpc>
                <a:spcPct val="115000"/>
              </a:lnSpc>
              <a:spcBef>
                <a:spcPts val="0"/>
              </a:spcBef>
              <a:spcAft>
                <a:spcPts val="0"/>
              </a:spcAft>
              <a:buClr>
                <a:schemeClr val="dk1"/>
              </a:buClr>
              <a:buSzPts val="2800"/>
              <a:buChar char="○"/>
              <a:defRPr/>
            </a:lvl5pPr>
            <a:lvl6pPr indent="-406400" lvl="5" marL="2743200" algn="l">
              <a:lnSpc>
                <a:spcPct val="115000"/>
              </a:lnSpc>
              <a:spcBef>
                <a:spcPts val="0"/>
              </a:spcBef>
              <a:spcAft>
                <a:spcPts val="0"/>
              </a:spcAft>
              <a:buClr>
                <a:schemeClr val="dk1"/>
              </a:buClr>
              <a:buSzPts val="2800"/>
              <a:buChar char="■"/>
              <a:defRPr/>
            </a:lvl6pPr>
            <a:lvl7pPr indent="-406400" lvl="6" marL="3200400" algn="l">
              <a:lnSpc>
                <a:spcPct val="115000"/>
              </a:lnSpc>
              <a:spcBef>
                <a:spcPts val="0"/>
              </a:spcBef>
              <a:spcAft>
                <a:spcPts val="0"/>
              </a:spcAft>
              <a:buClr>
                <a:schemeClr val="dk1"/>
              </a:buClr>
              <a:buSzPts val="2800"/>
              <a:buChar char="●"/>
              <a:defRPr/>
            </a:lvl7pPr>
            <a:lvl8pPr indent="-406400" lvl="7" marL="3657600" algn="l">
              <a:lnSpc>
                <a:spcPct val="115000"/>
              </a:lnSpc>
              <a:spcBef>
                <a:spcPts val="0"/>
              </a:spcBef>
              <a:spcAft>
                <a:spcPts val="0"/>
              </a:spcAft>
              <a:buClr>
                <a:schemeClr val="dk1"/>
              </a:buClr>
              <a:buSzPts val="2800"/>
              <a:buChar char="○"/>
              <a:defRPr/>
            </a:lvl8pPr>
            <a:lvl9pPr indent="-406400" lvl="8" marL="4114800" algn="l">
              <a:lnSpc>
                <a:spcPct val="115000"/>
              </a:lnSpc>
              <a:spcBef>
                <a:spcPts val="0"/>
              </a:spcBef>
              <a:spcAft>
                <a:spcPts val="0"/>
              </a:spcAft>
              <a:buClr>
                <a:schemeClr val="dk1"/>
              </a:buClr>
              <a:buSzPts val="2800"/>
              <a:buChar char="■"/>
              <a:defRPr/>
            </a:lvl9pPr>
          </a:lstStyle>
          <a:p/>
        </p:txBody>
      </p:sp>
      <p:sp>
        <p:nvSpPr>
          <p:cNvPr id="22" name="Google Shape;22;p24"/>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6" name="Google Shape;2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2" name="Google Shape;3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5" name="Shape 35"/>
        <p:cNvGrpSpPr/>
        <p:nvPr/>
      </p:nvGrpSpPr>
      <p:grpSpPr>
        <a:xfrm>
          <a:off x="0" y="0"/>
          <a:ext cx="0" cy="0"/>
          <a:chOff x="0" y="0"/>
          <a:chExt cx="0" cy="0"/>
        </a:xfrm>
      </p:grpSpPr>
      <p:sp>
        <p:nvSpPr>
          <p:cNvPr id="36" name="Google Shape;36;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8" name="Google Shape;3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5" name="Google Shape;4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1" name="Google Shape;51;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2" name="Google Shape;52;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3" name="Google Shape;53;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4" name="Google Shape;5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5" name="Google Shape;65;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6" name="Google Shape;6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2"/>
          <p:cNvSpPr/>
          <p:nvPr>
            <p:ph idx="2" type="pic"/>
          </p:nvPr>
        </p:nvSpPr>
        <p:spPr>
          <a:xfrm>
            <a:off x="1792288" y="612775"/>
            <a:ext cx="5486400" cy="4114800"/>
          </a:xfrm>
          <a:prstGeom prst="rect">
            <a:avLst/>
          </a:prstGeom>
          <a:noFill/>
          <a:ln>
            <a:noFill/>
          </a:ln>
        </p:spPr>
      </p:sp>
      <p:sp>
        <p:nvSpPr>
          <p:cNvPr id="72" name="Google Shape;72;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5" name="Google Shape;8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jpg"/><Relationship Id="rId4" Type="http://schemas.openxmlformats.org/officeDocument/2006/relationships/image" Target="../media/image1.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5.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 Id="rId4" Type="http://schemas.openxmlformats.org/officeDocument/2006/relationships/image" Target="../media/image1.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5.jpg"/><Relationship Id="rId4" Type="http://schemas.openxmlformats.org/officeDocument/2006/relationships/image" Target="../media/image9.png"/><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6902" y="0"/>
            <a:ext cx="18254198" cy="10287002"/>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mt="55799"/>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1"/>
          <p:cNvSpPr txBox="1"/>
          <p:nvPr/>
        </p:nvSpPr>
        <p:spPr>
          <a:xfrm>
            <a:off x="3864138" y="4529138"/>
            <a:ext cx="9513300" cy="9234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lang="en-US" sz="5999">
                <a:solidFill>
                  <a:srgbClr val="000000"/>
                </a:solidFill>
                <a:latin typeface="Arial"/>
                <a:ea typeface="Arial"/>
                <a:cs typeface="Arial"/>
                <a:sym typeface="Arial"/>
              </a:rPr>
              <a:t>Inteligencia Artificial 1 [</a:t>
            </a:r>
            <a:r>
              <a:rPr b="1" lang="en-US" sz="5999"/>
              <a:t>B</a:t>
            </a:r>
            <a:r>
              <a:rPr b="1" lang="en-US" sz="5999">
                <a:solidFill>
                  <a:srgbClr val="000000"/>
                </a:solidFill>
                <a:latin typeface="Arial"/>
                <a:ea typeface="Arial"/>
                <a:cs typeface="Arial"/>
                <a:sym typeface="Arial"/>
              </a:rPr>
              <a:t>]</a:t>
            </a:r>
            <a:endParaRPr/>
          </a:p>
        </p:txBody>
      </p:sp>
      <p:sp>
        <p:nvSpPr>
          <p:cNvPr id="94" name="Google Shape;94;p1"/>
          <p:cNvSpPr txBox="1"/>
          <p:nvPr/>
        </p:nvSpPr>
        <p:spPr>
          <a:xfrm>
            <a:off x="5117822" y="5845975"/>
            <a:ext cx="9421800" cy="7695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None/>
            </a:pPr>
            <a:r>
              <a:rPr lang="en-US" sz="4999"/>
              <a:t>Alberto Kanec Ixchop Ordoñez</a:t>
            </a:r>
            <a:endParaRPr/>
          </a:p>
        </p:txBody>
      </p:sp>
      <p:graphicFrame>
        <p:nvGraphicFramePr>
          <p:cNvPr id="95" name="Google Shape;95;p1"/>
          <p:cNvGraphicFramePr/>
          <p:nvPr/>
        </p:nvGraphicFramePr>
        <p:xfrm>
          <a:off x="10656400" y="1940050"/>
          <a:ext cx="3000000" cy="3000000"/>
        </p:xfrm>
        <a:graphic>
          <a:graphicData uri="http://schemas.openxmlformats.org/drawingml/2006/table">
            <a:tbl>
              <a:tblPr>
                <a:noFill/>
                <a:tableStyleId>{859F1FEE-9859-4731-B183-41E2A44F47C0}</a:tableStyleId>
              </a:tblPr>
              <a:tblGrid>
                <a:gridCol w="3030175"/>
                <a:gridCol w="4335825"/>
              </a:tblGrid>
              <a:tr h="77390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2840" u="none" cap="none" strike="noStrike">
                          <a:solidFill>
                            <a:srgbClr val="000000"/>
                          </a:solidFill>
                          <a:latin typeface="Arimo"/>
                          <a:ea typeface="Arimo"/>
                          <a:cs typeface="Arimo"/>
                          <a:sym typeface="Arimo"/>
                        </a:rPr>
                        <a:t>Viernes, </a:t>
                      </a:r>
                      <a:r>
                        <a:rPr lang="en-US" sz="2840">
                          <a:latin typeface="Arimo"/>
                          <a:ea typeface="Arimo"/>
                          <a:cs typeface="Arimo"/>
                          <a:sym typeface="Arimo"/>
                        </a:rPr>
                        <a:t>20</a:t>
                      </a:r>
                      <a:r>
                        <a:rPr lang="en-US" sz="2840" u="none" cap="none" strike="noStrike">
                          <a:solidFill>
                            <a:srgbClr val="000000"/>
                          </a:solidFill>
                          <a:latin typeface="Arimo"/>
                          <a:ea typeface="Arimo"/>
                          <a:cs typeface="Arimo"/>
                          <a:sym typeface="Arimo"/>
                        </a:rPr>
                        <a:t>-</a:t>
                      </a:r>
                      <a:r>
                        <a:rPr lang="en-US" sz="2840">
                          <a:latin typeface="Arimo"/>
                          <a:ea typeface="Arimo"/>
                          <a:cs typeface="Arimo"/>
                          <a:sym typeface="Arimo"/>
                        </a:rPr>
                        <a:t>02</a:t>
                      </a:r>
                      <a:r>
                        <a:rPr lang="en-US" sz="2840" u="none" cap="none" strike="noStrike">
                          <a:solidFill>
                            <a:srgbClr val="000000"/>
                          </a:solidFill>
                          <a:latin typeface="Arimo"/>
                          <a:ea typeface="Arimo"/>
                          <a:cs typeface="Arimo"/>
                          <a:sym typeface="Arimo"/>
                        </a:rPr>
                        <a:t>-</a:t>
                      </a:r>
                      <a:r>
                        <a:rPr lang="en-US" sz="2840">
                          <a:latin typeface="Arimo"/>
                          <a:ea typeface="Arimo"/>
                          <a:cs typeface="Arimo"/>
                          <a:sym typeface="Arimo"/>
                        </a:rPr>
                        <a:t>2026</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73900">
                <a:tc>
                  <a:txBody>
                    <a:bodyPr/>
                    <a:lstStyle/>
                    <a:p>
                      <a:pPr indent="0" lvl="0" marL="0" marR="0" rtl="0" algn="l">
                        <a:lnSpc>
                          <a:spcPct val="120000"/>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0000"/>
                        </a:lnSpc>
                        <a:spcBef>
                          <a:spcPts val="0"/>
                        </a:spcBef>
                        <a:spcAft>
                          <a:spcPts val="0"/>
                        </a:spcAft>
                        <a:buNone/>
                      </a:pPr>
                      <a:r>
                        <a:rPr lang="en-US" sz="2840" u="none" cap="none" strike="noStrike">
                          <a:solidFill>
                            <a:srgbClr val="000000"/>
                          </a:solidFill>
                          <a:latin typeface="Arimo"/>
                          <a:ea typeface="Arimo"/>
                          <a:cs typeface="Arimo"/>
                          <a:sym typeface="Arimo"/>
                        </a:rPr>
                        <a:t>19:00</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02" r="-220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1" name="Google Shape;101;p2"/>
          <p:cNvGrpSpPr/>
          <p:nvPr/>
        </p:nvGrpSpPr>
        <p:grpSpPr>
          <a:xfrm>
            <a:off x="1028700" y="952267"/>
            <a:ext cx="16230600" cy="8382465"/>
            <a:chOff x="0" y="0"/>
            <a:chExt cx="6045684" cy="3122357"/>
          </a:xfrm>
        </p:grpSpPr>
        <p:sp>
          <p:nvSpPr>
            <p:cNvPr id="102" name="Google Shape;102;p2"/>
            <p:cNvSpPr/>
            <p:nvPr/>
          </p:nvSpPr>
          <p:spPr>
            <a:xfrm>
              <a:off x="0" y="0"/>
              <a:ext cx="6045684" cy="3122357"/>
            </a:xfrm>
            <a:custGeom>
              <a:rect b="b" l="l" r="r" t="t"/>
              <a:pathLst>
                <a:path extrusionOk="0" h="3122357" w="6045684">
                  <a:moveTo>
                    <a:pt x="0" y="0"/>
                  </a:moveTo>
                  <a:lnTo>
                    <a:pt x="6045684" y="0"/>
                  </a:lnTo>
                  <a:lnTo>
                    <a:pt x="6045684" y="3122357"/>
                  </a:lnTo>
                  <a:lnTo>
                    <a:pt x="0" y="3122357"/>
                  </a:lnTo>
                  <a:close/>
                </a:path>
              </a:pathLst>
            </a:custGeom>
            <a:solidFill>
              <a:srgbClr val="000000">
                <a:alpha val="0"/>
              </a:srgbClr>
            </a:solidFill>
            <a:ln cap="sq" cmpd="sng" w="66675">
              <a:solidFill>
                <a:srgbClr val="9753A8"/>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2"/>
            <p:cNvSpPr txBox="1"/>
            <p:nvPr/>
          </p:nvSpPr>
          <p:spPr>
            <a:xfrm>
              <a:off x="0" y="0"/>
              <a:ext cx="6045684" cy="3122357"/>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4" name="Google Shape;104;p2"/>
          <p:cNvGrpSpPr/>
          <p:nvPr/>
        </p:nvGrpSpPr>
        <p:grpSpPr>
          <a:xfrm>
            <a:off x="12374539" y="8812325"/>
            <a:ext cx="4284389" cy="1748082"/>
            <a:chOff x="0" y="-47625"/>
            <a:chExt cx="1128399" cy="460400"/>
          </a:xfrm>
        </p:grpSpPr>
        <p:sp>
          <p:nvSpPr>
            <p:cNvPr id="105" name="Google Shape;105;p2"/>
            <p:cNvSpPr/>
            <p:nvPr/>
          </p:nvSpPr>
          <p:spPr>
            <a:xfrm>
              <a:off x="0" y="0"/>
              <a:ext cx="1128399" cy="412775"/>
            </a:xfrm>
            <a:custGeom>
              <a:rect b="b" l="l" r="r" t="t"/>
              <a:pathLst>
                <a:path extrusionOk="0" h="412775" w="1128399">
                  <a:moveTo>
                    <a:pt x="0" y="0"/>
                  </a:moveTo>
                  <a:lnTo>
                    <a:pt x="1128399" y="0"/>
                  </a:lnTo>
                  <a:lnTo>
                    <a:pt x="1128399"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2"/>
            <p:cNvSpPr txBox="1"/>
            <p:nvPr/>
          </p:nvSpPr>
          <p:spPr>
            <a:xfrm>
              <a:off x="0" y="-47625"/>
              <a:ext cx="1128399"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7" name="Google Shape;107;p2"/>
          <p:cNvGrpSpPr/>
          <p:nvPr/>
        </p:nvGrpSpPr>
        <p:grpSpPr>
          <a:xfrm rot="5400000">
            <a:off x="14103077" y="3146822"/>
            <a:ext cx="6983416" cy="1748082"/>
            <a:chOff x="0" y="-47625"/>
            <a:chExt cx="1839254" cy="460400"/>
          </a:xfrm>
        </p:grpSpPr>
        <p:sp>
          <p:nvSpPr>
            <p:cNvPr id="108" name="Google Shape;108;p2"/>
            <p:cNvSpPr/>
            <p:nvPr/>
          </p:nvSpPr>
          <p:spPr>
            <a:xfrm>
              <a:off x="0" y="0"/>
              <a:ext cx="1839254" cy="412775"/>
            </a:xfrm>
            <a:custGeom>
              <a:rect b="b" l="l" r="r" t="t"/>
              <a:pathLst>
                <a:path extrusionOk="0" h="412775" w="1839254">
                  <a:moveTo>
                    <a:pt x="0" y="0"/>
                  </a:moveTo>
                  <a:lnTo>
                    <a:pt x="1839254" y="0"/>
                  </a:lnTo>
                  <a:lnTo>
                    <a:pt x="183925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2"/>
            <p:cNvSpPr txBox="1"/>
            <p:nvPr/>
          </p:nvSpPr>
          <p:spPr>
            <a:xfrm>
              <a:off x="0" y="-47625"/>
              <a:ext cx="183925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10" name="Google Shape;110;p2"/>
          <p:cNvSpPr/>
          <p:nvPr/>
        </p:nvSpPr>
        <p:spPr>
          <a:xfrm rot="-5400000">
            <a:off x="10540746" y="-52264"/>
            <a:ext cx="11547949" cy="9406329"/>
          </a:xfrm>
          <a:custGeom>
            <a:rect b="b" l="l" r="r" t="t"/>
            <a:pathLst>
              <a:path extrusionOk="0" h="9406329" w="11547949">
                <a:moveTo>
                  <a:pt x="11547949" y="9406329"/>
                </a:moveTo>
                <a:lnTo>
                  <a:pt x="0" y="9406329"/>
                </a:lnTo>
                <a:lnTo>
                  <a:pt x="0" y="0"/>
                </a:lnTo>
                <a:lnTo>
                  <a:pt x="11547949" y="0"/>
                </a:lnTo>
                <a:lnTo>
                  <a:pt x="11547949" y="9406329"/>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2"/>
          <p:cNvSpPr txBox="1"/>
          <p:nvPr/>
        </p:nvSpPr>
        <p:spPr>
          <a:xfrm>
            <a:off x="2118001" y="6620396"/>
            <a:ext cx="9224100" cy="2000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Escuela de </a:t>
            </a:r>
            <a:r>
              <a:rPr b="1" lang="en-US" sz="2499">
                <a:solidFill>
                  <a:srgbClr val="050A30"/>
                </a:solidFill>
              </a:rPr>
              <a:t>Ingeniería</a:t>
            </a:r>
            <a:r>
              <a:rPr b="1" lang="en-US" sz="2499">
                <a:solidFill>
                  <a:srgbClr val="050A30"/>
                </a:solidFill>
                <a:latin typeface="Arial"/>
                <a:ea typeface="Arial"/>
                <a:cs typeface="Arial"/>
                <a:sym typeface="Arial"/>
              </a:rPr>
              <a:t> de Ciencias Y Sistemas</a:t>
            </a:r>
            <a:endParaRPr/>
          </a:p>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Facultad de </a:t>
            </a:r>
            <a:r>
              <a:rPr b="1" lang="en-US" sz="2499">
                <a:solidFill>
                  <a:srgbClr val="050A30"/>
                </a:solidFill>
              </a:rPr>
              <a:t>Ingeniería</a:t>
            </a:r>
            <a:endParaRPr/>
          </a:p>
          <a:p>
            <a:pPr indent="0" lvl="0" marL="0" marR="0" rtl="0" algn="l">
              <a:lnSpc>
                <a:spcPct val="140016"/>
              </a:lnSpc>
              <a:spcBef>
                <a:spcPts val="0"/>
              </a:spcBef>
              <a:spcAft>
                <a:spcPts val="0"/>
              </a:spcAft>
              <a:buNone/>
            </a:pPr>
            <a:r>
              <a:rPr b="1" lang="en-US" sz="2499">
                <a:solidFill>
                  <a:srgbClr val="050A30"/>
                </a:solidFill>
                <a:latin typeface="Arial"/>
                <a:ea typeface="Arial"/>
                <a:cs typeface="Arial"/>
                <a:sym typeface="Arial"/>
              </a:rPr>
              <a:t>Universidad de San Carlos de Guatemala</a:t>
            </a:r>
            <a:endParaRPr/>
          </a:p>
          <a:p>
            <a:pPr indent="0" lvl="0" marL="0" marR="0" rtl="0" algn="l">
              <a:lnSpc>
                <a:spcPct val="140016"/>
              </a:lnSpc>
              <a:spcBef>
                <a:spcPts val="0"/>
              </a:spcBef>
              <a:spcAft>
                <a:spcPts val="0"/>
              </a:spcAft>
              <a:buNone/>
            </a:pPr>
            <a:r>
              <a:t/>
            </a:r>
            <a:endParaRPr b="1" sz="2499">
              <a:solidFill>
                <a:srgbClr val="050A30"/>
              </a:solidFill>
              <a:latin typeface="Arial"/>
              <a:ea typeface="Arial"/>
              <a:cs typeface="Arial"/>
              <a:sym typeface="Arial"/>
            </a:endParaRPr>
          </a:p>
        </p:txBody>
      </p:sp>
      <p:sp>
        <p:nvSpPr>
          <p:cNvPr id="112" name="Google Shape;112;p2"/>
          <p:cNvSpPr txBox="1"/>
          <p:nvPr/>
        </p:nvSpPr>
        <p:spPr>
          <a:xfrm>
            <a:off x="2118001" y="3415707"/>
            <a:ext cx="11119114" cy="121031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lang="en-US" sz="8000">
                <a:solidFill>
                  <a:srgbClr val="050A30"/>
                </a:solidFill>
                <a:latin typeface="Arial"/>
                <a:ea typeface="Arial"/>
                <a:cs typeface="Arial"/>
                <a:sym typeface="Arial"/>
              </a:rPr>
              <a:t>Clase 3</a:t>
            </a:r>
            <a:endParaRPr/>
          </a:p>
        </p:txBody>
      </p:sp>
      <p:sp>
        <p:nvSpPr>
          <p:cNvPr id="113" name="Google Shape;113;p2"/>
          <p:cNvSpPr txBox="1"/>
          <p:nvPr/>
        </p:nvSpPr>
        <p:spPr>
          <a:xfrm>
            <a:off x="2184676" y="2365657"/>
            <a:ext cx="11052439" cy="835660"/>
          </a:xfrm>
          <a:prstGeom prst="rect">
            <a:avLst/>
          </a:prstGeom>
          <a:noFill/>
          <a:ln>
            <a:noFill/>
          </a:ln>
        </p:spPr>
        <p:txBody>
          <a:bodyPr anchorCtr="0" anchor="t" bIns="0" lIns="0" spcFirstLastPara="1" rIns="0" wrap="square" tIns="0">
            <a:spAutoFit/>
          </a:bodyPr>
          <a:lstStyle/>
          <a:p>
            <a:pPr indent="0" lvl="0" marL="0" marR="0" rtl="0" algn="l">
              <a:lnSpc>
                <a:spcPct val="119000"/>
              </a:lnSpc>
              <a:spcBef>
                <a:spcPts val="0"/>
              </a:spcBef>
              <a:spcAft>
                <a:spcPts val="0"/>
              </a:spcAft>
              <a:buNone/>
            </a:pPr>
            <a:r>
              <a:rPr b="1" lang="en-US" sz="5500">
                <a:solidFill>
                  <a:srgbClr val="050A30"/>
                </a:solidFill>
                <a:latin typeface="Arial"/>
                <a:ea typeface="Arial"/>
                <a:cs typeface="Arial"/>
                <a:sym typeface="Arial"/>
              </a:rPr>
              <a:t>INTELIGENCIA ARTIFICIAL 1</a:t>
            </a:r>
            <a:endParaRPr/>
          </a:p>
        </p:txBody>
      </p:sp>
      <p:sp>
        <p:nvSpPr>
          <p:cNvPr id="114" name="Google Shape;114;p2"/>
          <p:cNvSpPr txBox="1"/>
          <p:nvPr/>
        </p:nvSpPr>
        <p:spPr>
          <a:xfrm>
            <a:off x="2118001" y="857436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cxnSp>
        <p:nvCxnSpPr>
          <p:cNvPr id="115" name="Google Shape;115;p2"/>
          <p:cNvCxnSpPr/>
          <p:nvPr/>
        </p:nvCxnSpPr>
        <p:spPr>
          <a:xfrm flipH="1" rot="10800000">
            <a:off x="13553005" y="935761"/>
            <a:ext cx="5036482" cy="5036482"/>
          </a:xfrm>
          <a:prstGeom prst="straightConnector1">
            <a:avLst/>
          </a:prstGeom>
          <a:noFill/>
          <a:ln cap="flat" cmpd="sng" w="114300">
            <a:solidFill>
              <a:srgbClr val="050A30"/>
            </a:solidFill>
            <a:prstDash val="solid"/>
            <a:round/>
            <a:headEnd len="sm" w="sm" type="none"/>
            <a:tailEnd len="sm" w="sm" type="none"/>
          </a:ln>
        </p:spPr>
      </p:cxnSp>
      <p:cxnSp>
        <p:nvCxnSpPr>
          <p:cNvPr id="116" name="Google Shape;116;p2"/>
          <p:cNvCxnSpPr/>
          <p:nvPr/>
        </p:nvCxnSpPr>
        <p:spPr>
          <a:xfrm flipH="1" rot="10800000">
            <a:off x="14602740" y="4540846"/>
            <a:ext cx="1216428" cy="1216428"/>
          </a:xfrm>
          <a:prstGeom prst="straightConnector1">
            <a:avLst/>
          </a:prstGeom>
          <a:noFill/>
          <a:ln cap="flat" cmpd="sng" w="114300">
            <a:solidFill>
              <a:srgbClr val="050A30"/>
            </a:solidFill>
            <a:prstDash val="solid"/>
            <a:round/>
            <a:headEnd len="sm" w="sm" type="none"/>
            <a:tailEnd len="sm" w="sm" type="none"/>
          </a:ln>
        </p:spPr>
      </p:cxnSp>
      <p:cxnSp>
        <p:nvCxnSpPr>
          <p:cNvPr id="117" name="Google Shape;117;p2"/>
          <p:cNvCxnSpPr/>
          <p:nvPr/>
        </p:nvCxnSpPr>
        <p:spPr>
          <a:xfrm flipH="1" rot="10800000">
            <a:off x="12944791" y="7512571"/>
            <a:ext cx="2942644" cy="2942644"/>
          </a:xfrm>
          <a:prstGeom prst="straightConnector1">
            <a:avLst/>
          </a:prstGeom>
          <a:noFill/>
          <a:ln cap="flat" cmpd="sng" w="114300">
            <a:solidFill>
              <a:srgbClr val="050A30"/>
            </a:solidFill>
            <a:prstDash val="solid"/>
            <a:round/>
            <a:headEnd len="sm" w="sm" type="none"/>
            <a:tailEnd len="sm" w="sm" type="none"/>
          </a:ln>
        </p:spPr>
      </p:cxnSp>
      <p:cxnSp>
        <p:nvCxnSpPr>
          <p:cNvPr id="118" name="Google Shape;118;p2"/>
          <p:cNvCxnSpPr/>
          <p:nvPr/>
        </p:nvCxnSpPr>
        <p:spPr>
          <a:xfrm flipH="1" rot="10800000">
            <a:off x="11473469" y="9776779"/>
            <a:ext cx="2942644" cy="2942644"/>
          </a:xfrm>
          <a:prstGeom prst="straightConnector1">
            <a:avLst/>
          </a:prstGeom>
          <a:noFill/>
          <a:ln cap="flat" cmpd="sng" w="114300">
            <a:solidFill>
              <a:srgbClr val="050A30"/>
            </a:solidFill>
            <a:prstDash val="solid"/>
            <a:round/>
            <a:headEnd len="sm" w="sm" type="none"/>
            <a:tailEnd len="sm" w="sm" type="none"/>
          </a:ln>
        </p:spPr>
      </p:cxnSp>
      <p:sp>
        <p:nvSpPr>
          <p:cNvPr id="119" name="Google Shape;119;p2"/>
          <p:cNvSpPr txBox="1"/>
          <p:nvPr/>
        </p:nvSpPr>
        <p:spPr>
          <a:xfrm>
            <a:off x="2117999" y="4721275"/>
            <a:ext cx="120771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050A30"/>
                </a:solidFill>
                <a:latin typeface="Arial"/>
                <a:ea typeface="Arial"/>
                <a:cs typeface="Arial"/>
                <a:sym typeface="Arial"/>
              </a:rPr>
              <a:t>Lógica e Inferencia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5" name="Google Shape;125;p3"/>
          <p:cNvGrpSpPr/>
          <p:nvPr/>
        </p:nvGrpSpPr>
        <p:grpSpPr>
          <a:xfrm>
            <a:off x="1362575" y="1028700"/>
            <a:ext cx="15562849" cy="8179961"/>
            <a:chOff x="0" y="0"/>
            <a:chExt cx="5796956" cy="3046927"/>
          </a:xfrm>
        </p:grpSpPr>
        <p:sp>
          <p:nvSpPr>
            <p:cNvPr id="126" name="Google Shape;126;p3"/>
            <p:cNvSpPr/>
            <p:nvPr/>
          </p:nvSpPr>
          <p:spPr>
            <a:xfrm>
              <a:off x="0" y="0"/>
              <a:ext cx="5796955" cy="3046927"/>
            </a:xfrm>
            <a:custGeom>
              <a:rect b="b" l="l" r="r" t="t"/>
              <a:pathLst>
                <a:path extrusionOk="0" h="3046927" w="5796955">
                  <a:moveTo>
                    <a:pt x="0" y="0"/>
                  </a:moveTo>
                  <a:lnTo>
                    <a:pt x="5796955" y="0"/>
                  </a:lnTo>
                  <a:lnTo>
                    <a:pt x="5796955" y="3046927"/>
                  </a:lnTo>
                  <a:lnTo>
                    <a:pt x="0" y="3046927"/>
                  </a:lnTo>
                  <a:close/>
                </a:path>
              </a:pathLst>
            </a:custGeom>
            <a:solidFill>
              <a:srgbClr val="000000">
                <a:alpha val="0"/>
              </a:srgbClr>
            </a:solidFill>
            <a:ln cap="sq" cmpd="sng" w="66675">
              <a:solidFill>
                <a:srgbClr val="570F69"/>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3"/>
            <p:cNvSpPr txBox="1"/>
            <p:nvPr/>
          </p:nvSpPr>
          <p:spPr>
            <a:xfrm>
              <a:off x="0" y="0"/>
              <a:ext cx="5796956" cy="3046927"/>
            </a:xfrm>
            <a:prstGeom prst="rect">
              <a:avLst/>
            </a:prstGeom>
            <a:noFill/>
            <a:ln>
              <a:noFill/>
            </a:ln>
          </p:spPr>
          <p:txBody>
            <a:bodyPr anchorCtr="0" anchor="ctr" bIns="48875" lIns="48875" spcFirstLastPara="1" rIns="48875" wrap="square" tIns="48875">
              <a:noAutofit/>
            </a:bodyPr>
            <a:lstStyle/>
            <a:p>
              <a:pPr indent="0" lvl="0" marL="0" marR="0" rtl="0" algn="ctr">
                <a:lnSpc>
                  <a:spcPct val="1007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8" name="Google Shape;128;p3"/>
          <p:cNvGrpSpPr/>
          <p:nvPr/>
        </p:nvGrpSpPr>
        <p:grpSpPr>
          <a:xfrm rot="2700000">
            <a:off x="121003" y="7895899"/>
            <a:ext cx="3393988" cy="1748082"/>
            <a:chOff x="0" y="-47625"/>
            <a:chExt cx="893890" cy="460400"/>
          </a:xfrm>
        </p:grpSpPr>
        <p:sp>
          <p:nvSpPr>
            <p:cNvPr id="129" name="Google Shape;129;p3"/>
            <p:cNvSpPr/>
            <p:nvPr/>
          </p:nvSpPr>
          <p:spPr>
            <a:xfrm>
              <a:off x="0" y="0"/>
              <a:ext cx="893890" cy="412775"/>
            </a:xfrm>
            <a:custGeom>
              <a:rect b="b" l="l" r="r" t="t"/>
              <a:pathLst>
                <a:path extrusionOk="0" h="412775" w="893890">
                  <a:moveTo>
                    <a:pt x="0" y="0"/>
                  </a:moveTo>
                  <a:lnTo>
                    <a:pt x="893890" y="0"/>
                  </a:lnTo>
                  <a:lnTo>
                    <a:pt x="893890"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3"/>
            <p:cNvSpPr txBox="1"/>
            <p:nvPr/>
          </p:nvSpPr>
          <p:spPr>
            <a:xfrm>
              <a:off x="0" y="-47625"/>
              <a:ext cx="893890"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31" name="Google Shape;131;p3"/>
          <p:cNvGrpSpPr/>
          <p:nvPr/>
        </p:nvGrpSpPr>
        <p:grpSpPr>
          <a:xfrm rot="2700000">
            <a:off x="14900874" y="396084"/>
            <a:ext cx="3393988" cy="1748082"/>
            <a:chOff x="0" y="-47625"/>
            <a:chExt cx="893890" cy="460400"/>
          </a:xfrm>
        </p:grpSpPr>
        <p:sp>
          <p:nvSpPr>
            <p:cNvPr id="132" name="Google Shape;132;p3"/>
            <p:cNvSpPr/>
            <p:nvPr/>
          </p:nvSpPr>
          <p:spPr>
            <a:xfrm>
              <a:off x="0" y="0"/>
              <a:ext cx="893890" cy="412775"/>
            </a:xfrm>
            <a:custGeom>
              <a:rect b="b" l="l" r="r" t="t"/>
              <a:pathLst>
                <a:path extrusionOk="0" h="412775" w="893890">
                  <a:moveTo>
                    <a:pt x="0" y="0"/>
                  </a:moveTo>
                  <a:lnTo>
                    <a:pt x="893890" y="0"/>
                  </a:lnTo>
                  <a:lnTo>
                    <a:pt x="893890"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3"/>
            <p:cNvSpPr txBox="1"/>
            <p:nvPr/>
          </p:nvSpPr>
          <p:spPr>
            <a:xfrm>
              <a:off x="0" y="-47625"/>
              <a:ext cx="893890"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4" name="Google Shape;134;p3"/>
          <p:cNvSpPr/>
          <p:nvPr/>
        </p:nvSpPr>
        <p:spPr>
          <a:xfrm>
            <a:off x="-515035" y="5489862"/>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3"/>
          <p:cNvSpPr/>
          <p:nvPr/>
        </p:nvSpPr>
        <p:spPr>
          <a:xfrm rot="10800000">
            <a:off x="13871465" y="-189523"/>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3"/>
          <p:cNvSpPr txBox="1"/>
          <p:nvPr/>
        </p:nvSpPr>
        <p:spPr>
          <a:xfrm>
            <a:off x="10299400" y="3078601"/>
            <a:ext cx="6464100" cy="6033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Link del Video</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endParaRPr>
          </a:p>
          <a:p>
            <a:pPr indent="0" lvl="0" marL="0" marR="0" rtl="0" algn="l">
              <a:lnSpc>
                <a:spcPct val="120000"/>
              </a:lnSpc>
              <a:spcBef>
                <a:spcPts val="0"/>
              </a:spcBef>
              <a:spcAft>
                <a:spcPts val="0"/>
              </a:spcAft>
              <a:buNone/>
            </a:pPr>
            <a:r>
              <a:t/>
            </a:r>
            <a:endParaRPr b="1" sz="3500">
              <a:solidFill>
                <a:srgbClr val="F4F6FC"/>
              </a:solidFil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rPr b="1" lang="en-US" sz="3500">
                <a:solidFill>
                  <a:srgbClr val="F4F6FC"/>
                </a:solidFill>
              </a:rPr>
              <a:t>https://www.youtube.com/watch?v=5Al4stHFQP4&amp;t=1s</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914400" marR="0" rtl="0" algn="l">
              <a:lnSpc>
                <a:spcPct val="120000"/>
              </a:lnSpc>
              <a:spcBef>
                <a:spcPts val="0"/>
              </a:spcBef>
              <a:spcAft>
                <a:spcPts val="0"/>
              </a:spcAft>
              <a:buNone/>
            </a:pPr>
            <a:r>
              <a:rPr lang="en-US"/>
              <a:t>	</a:t>
            </a:r>
            <a:endParaRPr/>
          </a:p>
        </p:txBody>
      </p:sp>
      <p:sp>
        <p:nvSpPr>
          <p:cNvPr id="137" name="Google Shape;137;p3"/>
          <p:cNvSpPr txBox="1"/>
          <p:nvPr/>
        </p:nvSpPr>
        <p:spPr>
          <a:xfrm>
            <a:off x="1889083" y="1511090"/>
            <a:ext cx="4271494" cy="1152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500">
                <a:solidFill>
                  <a:srgbClr val="F4F6FC"/>
                </a:solidFill>
                <a:latin typeface="Arial"/>
                <a:ea typeface="Arial"/>
                <a:cs typeface="Arial"/>
                <a:sym typeface="Arial"/>
              </a:rPr>
              <a:t>Agenda</a:t>
            </a:r>
            <a:endParaRPr/>
          </a:p>
        </p:txBody>
      </p:sp>
      <p:sp>
        <p:nvSpPr>
          <p:cNvPr id="138" name="Google Shape;138;p3"/>
          <p:cNvSpPr txBox="1"/>
          <p:nvPr/>
        </p:nvSpPr>
        <p:spPr>
          <a:xfrm>
            <a:off x="2034003" y="3078596"/>
            <a:ext cx="6464400" cy="5064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Recordatorios</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0" lvl="0" marL="0" marR="0" rtl="0" algn="l">
              <a:lnSpc>
                <a:spcPct val="120000"/>
              </a:lnSpc>
              <a:spcBef>
                <a:spcPts val="0"/>
              </a:spcBef>
              <a:spcAft>
                <a:spcPts val="0"/>
              </a:spcAft>
              <a:buNone/>
            </a:pPr>
            <a:r>
              <a:rPr b="1" lang="en-US" sz="3500">
                <a:solidFill>
                  <a:srgbClr val="F4F6FC"/>
                </a:solidFill>
                <a:latin typeface="Arial"/>
                <a:ea typeface="Arial"/>
                <a:cs typeface="Arial"/>
                <a:sym typeface="Arial"/>
              </a:rPr>
              <a:t>Temas</a:t>
            </a:r>
            <a:endParaRPr/>
          </a:p>
          <a:p>
            <a:pPr indent="0" lvl="0" marL="0" marR="0" rtl="0" algn="l">
              <a:lnSpc>
                <a:spcPct val="120000"/>
              </a:lnSpc>
              <a:spcBef>
                <a:spcPts val="0"/>
              </a:spcBef>
              <a:spcAft>
                <a:spcPts val="0"/>
              </a:spcAft>
              <a:buNone/>
            </a:pPr>
            <a:r>
              <a:t/>
            </a:r>
            <a:endParaRPr b="1" sz="3500">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Font typeface="Arial"/>
              <a:buChar char="•"/>
            </a:pPr>
            <a:r>
              <a:rPr b="0" i="0" lang="en-US" sz="3500" u="none" cap="none" strike="noStrike">
                <a:solidFill>
                  <a:srgbClr val="F4F6FC"/>
                </a:solidFill>
                <a:latin typeface="Arial"/>
                <a:ea typeface="Arial"/>
                <a:cs typeface="Arial"/>
                <a:sym typeface="Arial"/>
              </a:rPr>
              <a:t>Negación y Cortes</a:t>
            </a:r>
            <a:endParaRPr/>
          </a:p>
          <a:p>
            <a:pPr indent="-377825" lvl="1" marL="755651" marR="0" rtl="0" algn="l">
              <a:lnSpc>
                <a:spcPct val="120000"/>
              </a:lnSpc>
              <a:spcBef>
                <a:spcPts val="0"/>
              </a:spcBef>
              <a:spcAft>
                <a:spcPts val="0"/>
              </a:spcAft>
              <a:buClr>
                <a:srgbClr val="F4F6FC"/>
              </a:buClr>
              <a:buSzPts val="3500"/>
              <a:buFont typeface="Arial"/>
              <a:buChar char="•"/>
            </a:pPr>
            <a:r>
              <a:rPr b="0" i="0" lang="en-US" sz="3500" u="none" cap="none" strike="noStrike">
                <a:solidFill>
                  <a:srgbClr val="F4F6FC"/>
                </a:solidFill>
                <a:latin typeface="Arial"/>
                <a:ea typeface="Arial"/>
                <a:cs typeface="Arial"/>
                <a:sym typeface="Arial"/>
              </a:rPr>
              <a:t>Ciclos y Recursión</a:t>
            </a:r>
            <a:endParaRPr b="0" i="0" sz="3500" u="none" cap="none" strike="noStrike">
              <a:solidFill>
                <a:srgbClr val="F4F6FC"/>
              </a:solidFill>
              <a:latin typeface="Arial"/>
              <a:ea typeface="Arial"/>
              <a:cs typeface="Arial"/>
              <a:sym typeface="Arial"/>
            </a:endParaRPr>
          </a:p>
          <a:p>
            <a:pPr indent="-377825" lvl="1" marL="755651" marR="0" rtl="0" algn="l">
              <a:lnSpc>
                <a:spcPct val="120000"/>
              </a:lnSpc>
              <a:spcBef>
                <a:spcPts val="0"/>
              </a:spcBef>
              <a:spcAft>
                <a:spcPts val="0"/>
              </a:spcAft>
              <a:buClr>
                <a:srgbClr val="F4F6FC"/>
              </a:buClr>
              <a:buSzPts val="3500"/>
              <a:buChar char="•"/>
            </a:pPr>
            <a:r>
              <a:rPr lang="en-US" sz="3500">
                <a:solidFill>
                  <a:srgbClr val="F4F6FC"/>
                </a:solidFill>
              </a:rPr>
              <a:t>Tarea avances P1</a:t>
            </a:r>
            <a:endParaRPr sz="3500">
              <a:solidFill>
                <a:srgbClr val="F4F6FC"/>
              </a:solidFill>
            </a:endParaRPr>
          </a:p>
          <a:p>
            <a:pPr indent="-377825" lvl="1" marL="755651" marR="0" rtl="0" algn="l">
              <a:lnSpc>
                <a:spcPct val="120000"/>
              </a:lnSpc>
              <a:spcBef>
                <a:spcPts val="0"/>
              </a:spcBef>
              <a:spcAft>
                <a:spcPts val="0"/>
              </a:spcAft>
              <a:buClr>
                <a:srgbClr val="F4F6FC"/>
              </a:buClr>
              <a:buSzPts val="3500"/>
              <a:buChar char="•"/>
            </a:pPr>
            <a:r>
              <a:rPr lang="en-US" sz="3500">
                <a:solidFill>
                  <a:srgbClr val="F4F6FC"/>
                </a:solidFill>
              </a:rPr>
              <a:t>Resolución de dudas</a:t>
            </a:r>
            <a:endParaRPr sz="3500">
              <a:solidFill>
                <a:srgbClr val="F4F6FC"/>
              </a:solidFill>
            </a:endParaRPr>
          </a:p>
        </p:txBody>
      </p:sp>
      <p:sp>
        <p:nvSpPr>
          <p:cNvPr id="139" name="Google Shape;139;p3"/>
          <p:cNvSpPr txBox="1"/>
          <p:nvPr/>
        </p:nvSpPr>
        <p:spPr>
          <a:xfrm>
            <a:off x="10014172" y="1511100"/>
            <a:ext cx="5659200" cy="115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7500">
                <a:solidFill>
                  <a:srgbClr val="F4F6FC"/>
                </a:solidFill>
                <a:latin typeface="Arial"/>
                <a:ea typeface="Arial"/>
                <a:cs typeface="Arial"/>
                <a:sym typeface="Arial"/>
              </a:rPr>
              <a:t>Recursos</a:t>
            </a:r>
            <a:endParaRPr/>
          </a:p>
        </p:txBody>
      </p:sp>
      <p:pic>
        <p:nvPicPr>
          <p:cNvPr descr="Código QR&#10;&#10;El contenido generado por IA puede ser incorrecto." id="140" name="Google Shape;140;p3"/>
          <p:cNvPicPr preferRelativeResize="0"/>
          <p:nvPr/>
        </p:nvPicPr>
        <p:blipFill rotWithShape="1">
          <a:blip r:embed="rId5">
            <a:alphaModFix/>
          </a:blip>
          <a:srcRect b="0" l="0" r="0" t="0"/>
          <a:stretch/>
        </p:blipFill>
        <p:spPr>
          <a:xfrm>
            <a:off x="12409330" y="3786356"/>
            <a:ext cx="2244391" cy="224439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6" name="Google Shape;146;p4"/>
          <p:cNvGrpSpPr/>
          <p:nvPr/>
        </p:nvGrpSpPr>
        <p:grpSpPr>
          <a:xfrm rot="-5400000">
            <a:off x="6095749" y="2420783"/>
            <a:ext cx="6818207" cy="21127995"/>
            <a:chOff x="0" y="-47625"/>
            <a:chExt cx="1795742" cy="5564575"/>
          </a:xfrm>
        </p:grpSpPr>
        <p:sp>
          <p:nvSpPr>
            <p:cNvPr id="147" name="Google Shape;147;p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49" name="Google Shape;149;p4"/>
          <p:cNvGrpSpPr/>
          <p:nvPr/>
        </p:nvGrpSpPr>
        <p:grpSpPr>
          <a:xfrm rot="-5400000">
            <a:off x="3906656" y="-11095415"/>
            <a:ext cx="2045233" cy="21127995"/>
            <a:chOff x="0" y="-47625"/>
            <a:chExt cx="538662" cy="5564575"/>
          </a:xfrm>
        </p:grpSpPr>
        <p:sp>
          <p:nvSpPr>
            <p:cNvPr id="150" name="Google Shape;150;p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52" name="Google Shape;152;p4"/>
          <p:cNvGrpSpPr/>
          <p:nvPr/>
        </p:nvGrpSpPr>
        <p:grpSpPr>
          <a:xfrm rot="2700000">
            <a:off x="13798263" y="-60632"/>
            <a:ext cx="4685776" cy="1748082"/>
            <a:chOff x="0" y="-47625"/>
            <a:chExt cx="1234114" cy="460400"/>
          </a:xfrm>
        </p:grpSpPr>
        <p:sp>
          <p:nvSpPr>
            <p:cNvPr id="153" name="Google Shape;153;p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7AC3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5" name="Google Shape;155;p4"/>
          <p:cNvSpPr txBox="1"/>
          <p:nvPr/>
        </p:nvSpPr>
        <p:spPr>
          <a:xfrm>
            <a:off x="1374900" y="1409234"/>
            <a:ext cx="14118300" cy="19992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None/>
            </a:pPr>
            <a:r>
              <a:rPr b="1" lang="en-US" sz="6098">
                <a:solidFill>
                  <a:srgbClr val="050A30"/>
                </a:solidFill>
                <a:latin typeface="Arial"/>
                <a:ea typeface="Arial"/>
                <a:cs typeface="Arial"/>
                <a:sym typeface="Arial"/>
              </a:rPr>
              <a:t>COMPETENCIA(S) Que desarrollaremos</a:t>
            </a:r>
            <a:endParaRPr/>
          </a:p>
        </p:txBody>
      </p:sp>
      <p:sp>
        <p:nvSpPr>
          <p:cNvPr id="156" name="Google Shape;156;p4"/>
          <p:cNvSpPr txBox="1"/>
          <p:nvPr/>
        </p:nvSpPr>
        <p:spPr>
          <a:xfrm>
            <a:off x="2508325" y="3435579"/>
            <a:ext cx="12569700" cy="4063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000">
                <a:solidFill>
                  <a:srgbClr val="050A30"/>
                </a:solidFill>
                <a:latin typeface="Arial"/>
                <a:ea typeface="Arial"/>
                <a:cs typeface="Arial"/>
                <a:sym typeface="Arial"/>
              </a:rPr>
              <a:t>Desarrolla hechos, reglas, expresiones y predicados recursivos mediante el uso de cláusulas, ciclos, listas, unificación y cortes en Prolog para modelar bases de conocimiento y resolver problemas de inferencia lógica </a:t>
            </a:r>
            <a:endParaRPr b="1" sz="4000">
              <a:solidFill>
                <a:srgbClr val="050A3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5"/>
          <p:cNvSpPr txBox="1"/>
          <p:nvPr/>
        </p:nvSpPr>
        <p:spPr>
          <a:xfrm>
            <a:off x="1477486" y="1239476"/>
            <a:ext cx="15333028" cy="1285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F4F6FC"/>
                </a:solidFill>
                <a:latin typeface="Arial"/>
                <a:ea typeface="Arial"/>
                <a:cs typeface="Arial"/>
                <a:sym typeface="Arial"/>
              </a:rPr>
              <a:t>Cortes</a:t>
            </a:r>
            <a:endParaRPr/>
          </a:p>
        </p:txBody>
      </p:sp>
      <p:grpSp>
        <p:nvGrpSpPr>
          <p:cNvPr id="163" name="Google Shape;163;p5"/>
          <p:cNvGrpSpPr/>
          <p:nvPr/>
        </p:nvGrpSpPr>
        <p:grpSpPr>
          <a:xfrm rot="-5400000">
            <a:off x="6095749" y="2420783"/>
            <a:ext cx="6818207" cy="21127995"/>
            <a:chOff x="0" y="-47625"/>
            <a:chExt cx="1795742" cy="5564575"/>
          </a:xfrm>
        </p:grpSpPr>
        <p:sp>
          <p:nvSpPr>
            <p:cNvPr id="164" name="Google Shape;164;p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6" name="Google Shape;166;p5"/>
          <p:cNvGrpSpPr/>
          <p:nvPr/>
        </p:nvGrpSpPr>
        <p:grpSpPr>
          <a:xfrm rot="-5400000">
            <a:off x="3906656" y="-11095415"/>
            <a:ext cx="2045233" cy="21127995"/>
            <a:chOff x="0" y="-47625"/>
            <a:chExt cx="538662" cy="5564575"/>
          </a:xfrm>
        </p:grpSpPr>
        <p:sp>
          <p:nvSpPr>
            <p:cNvPr id="167" name="Google Shape;167;p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69" name="Google Shape;169;p5"/>
          <p:cNvGrpSpPr/>
          <p:nvPr/>
        </p:nvGrpSpPr>
        <p:grpSpPr>
          <a:xfrm rot="2700000">
            <a:off x="13798263" y="-60632"/>
            <a:ext cx="4685776" cy="1748082"/>
            <a:chOff x="0" y="-47625"/>
            <a:chExt cx="1234114" cy="460400"/>
          </a:xfrm>
        </p:grpSpPr>
        <p:sp>
          <p:nvSpPr>
            <p:cNvPr id="170" name="Google Shape;170;p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2" name="Google Shape;172;p5"/>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5"/>
          <p:cNvSpPr txBox="1"/>
          <p:nvPr/>
        </p:nvSpPr>
        <p:spPr>
          <a:xfrm>
            <a:off x="1477486" y="2773001"/>
            <a:ext cx="15333028" cy="26098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lang="en-US" sz="2999">
                <a:solidFill>
                  <a:srgbClr val="F4F6FC"/>
                </a:solidFill>
                <a:latin typeface="Arial"/>
                <a:ea typeface="Arial"/>
                <a:cs typeface="Arial"/>
                <a:sym typeface="Arial"/>
              </a:rPr>
              <a:t>El corte, representado por el símbolo !, es un predicado incorporado en Prolog que sirve para controlar el backtracking (retroceso) durante la ejecución del programa.</a:t>
            </a:r>
            <a:endParaRPr/>
          </a:p>
          <a:p>
            <a:pPr indent="0" lvl="0" marL="0" marR="0" rtl="0" algn="just">
              <a:lnSpc>
                <a:spcPct val="140013"/>
              </a:lnSpc>
              <a:spcBef>
                <a:spcPts val="0"/>
              </a:spcBef>
              <a:spcAft>
                <a:spcPts val="0"/>
              </a:spcAft>
              <a:buNone/>
            </a:pPr>
            <a:r>
              <a:rPr lang="en-US" sz="2999">
                <a:solidFill>
                  <a:srgbClr val="F4F6FC"/>
                </a:solidFill>
                <a:latin typeface="Arial"/>
                <a:ea typeface="Arial"/>
                <a:cs typeface="Arial"/>
                <a:sym typeface="Arial"/>
              </a:rPr>
              <a:t>Su función principal es "podar" o eliminar alternativas de búsqueda, permitiendo al programador restringir el comportamiento de Prolog al explorar soluciones.</a:t>
            </a:r>
            <a:endParaRPr/>
          </a:p>
          <a:p>
            <a:pPr indent="0" lvl="0" marL="0" marR="0" rtl="0" algn="just">
              <a:lnSpc>
                <a:spcPct val="140013"/>
              </a:lnSpc>
              <a:spcBef>
                <a:spcPts val="0"/>
              </a:spcBef>
              <a:spcAft>
                <a:spcPts val="0"/>
              </a:spcAft>
              <a:buNone/>
            </a:pPr>
            <a:r>
              <a:t/>
            </a:r>
            <a:endParaRPr sz="2999">
              <a:solidFill>
                <a:srgbClr val="F4F6FC"/>
              </a:solidFill>
              <a:latin typeface="Arial"/>
              <a:ea typeface="Arial"/>
              <a:cs typeface="Arial"/>
              <a:sym typeface="Arial"/>
            </a:endParaRPr>
          </a:p>
        </p:txBody>
      </p:sp>
      <p:sp>
        <p:nvSpPr>
          <p:cNvPr id="174" name="Google Shape;174;p5"/>
          <p:cNvSpPr txBox="1"/>
          <p:nvPr/>
        </p:nvSpPr>
        <p:spPr>
          <a:xfrm>
            <a:off x="12502616"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175" name="Google Shape;175;p5"/>
          <p:cNvSpPr txBox="1"/>
          <p:nvPr/>
        </p:nvSpPr>
        <p:spPr>
          <a:xfrm>
            <a:off x="1477486" y="8095615"/>
            <a:ext cx="15781814" cy="65659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i="1" lang="en-US" sz="1900" u="none" strike="noStrike">
                <a:solidFill>
                  <a:srgbClr val="F4F6FC"/>
                </a:solidFill>
                <a:latin typeface="Arial"/>
                <a:ea typeface="Arial"/>
                <a:cs typeface="Arial"/>
                <a:sym typeface="Arial"/>
              </a:rPr>
              <a:t>El corte es una herramienta poderosa para optimizar programas Prolog, pero requiere un uso cuidadoso para evitar la eliminación accidental de soluciones. Su función principal es controlar el backtracking y mejorar la eficiencia.</a:t>
            </a:r>
            <a:endParaRPr/>
          </a:p>
        </p:txBody>
      </p:sp>
      <p:sp>
        <p:nvSpPr>
          <p:cNvPr id="176" name="Google Shape;176;p5"/>
          <p:cNvSpPr/>
          <p:nvPr/>
        </p:nvSpPr>
        <p:spPr>
          <a:xfrm>
            <a:off x="1477486" y="5555078"/>
            <a:ext cx="6518887" cy="1406034"/>
          </a:xfrm>
          <a:custGeom>
            <a:rect b="b" l="l" r="r" t="t"/>
            <a:pathLst>
              <a:path extrusionOk="0" h="1406034" w="6518887">
                <a:moveTo>
                  <a:pt x="0" y="0"/>
                </a:moveTo>
                <a:lnTo>
                  <a:pt x="6518887" y="0"/>
                </a:lnTo>
                <a:lnTo>
                  <a:pt x="6518887" y="1406034"/>
                </a:lnTo>
                <a:lnTo>
                  <a:pt x="0" y="140603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5"/>
          <p:cNvSpPr/>
          <p:nvPr/>
        </p:nvSpPr>
        <p:spPr>
          <a:xfrm>
            <a:off x="10311695" y="5555078"/>
            <a:ext cx="6498819" cy="1430058"/>
          </a:xfrm>
          <a:custGeom>
            <a:rect b="b" l="l" r="r" t="t"/>
            <a:pathLst>
              <a:path extrusionOk="0" h="1430058" w="6498819">
                <a:moveTo>
                  <a:pt x="0" y="0"/>
                </a:moveTo>
                <a:lnTo>
                  <a:pt x="6498819" y="0"/>
                </a:lnTo>
                <a:lnTo>
                  <a:pt x="6498819" y="1430058"/>
                </a:lnTo>
                <a:lnTo>
                  <a:pt x="0" y="1430058"/>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3" name="Google Shape;183;p6"/>
          <p:cNvGrpSpPr/>
          <p:nvPr/>
        </p:nvGrpSpPr>
        <p:grpSpPr>
          <a:xfrm rot="-5400000">
            <a:off x="6095749" y="2420783"/>
            <a:ext cx="6818207" cy="21127995"/>
            <a:chOff x="0" y="-47625"/>
            <a:chExt cx="1795742" cy="5564575"/>
          </a:xfrm>
        </p:grpSpPr>
        <p:sp>
          <p:nvSpPr>
            <p:cNvPr id="184" name="Google Shape;184;p6"/>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6"/>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6" name="Google Shape;186;p6"/>
          <p:cNvGrpSpPr/>
          <p:nvPr/>
        </p:nvGrpSpPr>
        <p:grpSpPr>
          <a:xfrm rot="-5400000">
            <a:off x="3906656" y="-11095415"/>
            <a:ext cx="2045233" cy="21127995"/>
            <a:chOff x="0" y="-47625"/>
            <a:chExt cx="538662" cy="5564575"/>
          </a:xfrm>
        </p:grpSpPr>
        <p:sp>
          <p:nvSpPr>
            <p:cNvPr id="187" name="Google Shape;187;p6"/>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6"/>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9" name="Google Shape;189;p6"/>
          <p:cNvGrpSpPr/>
          <p:nvPr/>
        </p:nvGrpSpPr>
        <p:grpSpPr>
          <a:xfrm rot="2700000">
            <a:off x="13798263" y="-60632"/>
            <a:ext cx="4685776" cy="1748082"/>
            <a:chOff x="0" y="-47625"/>
            <a:chExt cx="1234114" cy="460400"/>
          </a:xfrm>
        </p:grpSpPr>
        <p:sp>
          <p:nvSpPr>
            <p:cNvPr id="190" name="Google Shape;190;p6"/>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6"/>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2" name="Google Shape;192;p6"/>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6"/>
          <p:cNvSpPr txBox="1"/>
          <p:nvPr/>
        </p:nvSpPr>
        <p:spPr>
          <a:xfrm>
            <a:off x="670142" y="1840539"/>
            <a:ext cx="16050143" cy="366585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lang="en-US" sz="2999">
                <a:solidFill>
                  <a:srgbClr val="050A30"/>
                </a:solidFill>
                <a:latin typeface="Arial"/>
                <a:ea typeface="Arial"/>
                <a:cs typeface="Arial"/>
                <a:sym typeface="Arial"/>
              </a:rPr>
              <a:t>Cuando Prolog encuentra un ! (corte) en una cláusula:</a:t>
            </a:r>
            <a:endParaRPr/>
          </a:p>
          <a:p>
            <a:pPr indent="0" lvl="0" marL="0" marR="0" rtl="0" algn="just">
              <a:lnSpc>
                <a:spcPct val="46648"/>
              </a:lnSpc>
              <a:spcBef>
                <a:spcPts val="0"/>
              </a:spcBef>
              <a:spcAft>
                <a:spcPts val="0"/>
              </a:spcAft>
              <a:buNone/>
            </a:pPr>
            <a:r>
              <a:t/>
            </a:r>
            <a:endParaRPr sz="2999">
              <a:solidFill>
                <a:srgbClr val="050A30"/>
              </a:solidFill>
              <a:latin typeface="Arial"/>
              <a:ea typeface="Arial"/>
              <a:cs typeface="Arial"/>
              <a:sym typeface="Arial"/>
            </a:endParaRPr>
          </a:p>
          <a:p>
            <a:pPr indent="-323848" lvl="1" marL="647695" marR="0" rtl="0" algn="just">
              <a:lnSpc>
                <a:spcPct val="140013"/>
              </a:lnSpc>
              <a:spcBef>
                <a:spcPts val="0"/>
              </a:spcBef>
              <a:spcAft>
                <a:spcPts val="0"/>
              </a:spcAft>
              <a:buClr>
                <a:srgbClr val="050A30"/>
              </a:buClr>
              <a:buSzPts val="2999"/>
              <a:buFont typeface="Arial"/>
              <a:buChar char="•"/>
            </a:pPr>
            <a:r>
              <a:rPr b="0" i="0" lang="en-US" sz="2999" u="none" cap="none" strike="noStrike">
                <a:solidFill>
                  <a:srgbClr val="050A30"/>
                </a:solidFill>
                <a:latin typeface="Arial"/>
                <a:ea typeface="Arial"/>
                <a:cs typeface="Arial"/>
                <a:sym typeface="Arial"/>
              </a:rPr>
              <a:t>Se compromete con todas las decisiones tomadas antes del corte dentro de esa cláusula.</a:t>
            </a:r>
            <a:endParaRPr/>
          </a:p>
          <a:p>
            <a:pPr indent="0" lvl="0" marL="0" marR="0" rtl="0" algn="just">
              <a:lnSpc>
                <a:spcPct val="46648"/>
              </a:lnSpc>
              <a:spcBef>
                <a:spcPts val="0"/>
              </a:spcBef>
              <a:spcAft>
                <a:spcPts val="0"/>
              </a:spcAft>
              <a:buNone/>
            </a:pPr>
            <a:r>
              <a:t/>
            </a:r>
            <a:endParaRPr sz="2999">
              <a:solidFill>
                <a:srgbClr val="050A30"/>
              </a:solidFill>
              <a:latin typeface="Arial"/>
              <a:ea typeface="Arial"/>
              <a:cs typeface="Arial"/>
              <a:sym typeface="Arial"/>
            </a:endParaRPr>
          </a:p>
          <a:p>
            <a:pPr indent="-323848" lvl="1" marL="647695" marR="0" rtl="0" algn="just">
              <a:lnSpc>
                <a:spcPct val="140013"/>
              </a:lnSpc>
              <a:spcBef>
                <a:spcPts val="0"/>
              </a:spcBef>
              <a:spcAft>
                <a:spcPts val="0"/>
              </a:spcAft>
              <a:buClr>
                <a:srgbClr val="050A30"/>
              </a:buClr>
              <a:buSzPts val="2999"/>
              <a:buFont typeface="Arial"/>
              <a:buChar char="•"/>
            </a:pPr>
            <a:r>
              <a:rPr b="0" i="0" lang="en-US" sz="2999" u="none" cap="none" strike="noStrike">
                <a:solidFill>
                  <a:srgbClr val="050A30"/>
                </a:solidFill>
                <a:latin typeface="Arial"/>
                <a:ea typeface="Arial"/>
                <a:cs typeface="Arial"/>
                <a:sym typeface="Arial"/>
              </a:rPr>
              <a:t>Si luego la ejecución falla, Prolog no volverá a considerar otras cláusulas alternativas del mismo predicado ni otras soluciones anteriores a ese punto.</a:t>
            </a:r>
            <a:endParaRPr/>
          </a:p>
          <a:p>
            <a:pPr indent="0" lvl="0" marL="0" marR="0" rtl="0" algn="just">
              <a:lnSpc>
                <a:spcPct val="46648"/>
              </a:lnSpc>
              <a:spcBef>
                <a:spcPts val="0"/>
              </a:spcBef>
              <a:spcAft>
                <a:spcPts val="0"/>
              </a:spcAft>
              <a:buNone/>
            </a:pPr>
            <a:r>
              <a:t/>
            </a:r>
            <a:endParaRPr sz="2999">
              <a:solidFill>
                <a:srgbClr val="050A30"/>
              </a:solidFill>
              <a:latin typeface="Arial"/>
              <a:ea typeface="Arial"/>
              <a:cs typeface="Arial"/>
              <a:sym typeface="Arial"/>
            </a:endParaRPr>
          </a:p>
          <a:p>
            <a:pPr indent="-323848" lvl="1" marL="647695" marR="0" rtl="0" algn="just">
              <a:lnSpc>
                <a:spcPct val="140013"/>
              </a:lnSpc>
              <a:spcBef>
                <a:spcPts val="0"/>
              </a:spcBef>
              <a:spcAft>
                <a:spcPts val="0"/>
              </a:spcAft>
              <a:buClr>
                <a:srgbClr val="050A30"/>
              </a:buClr>
              <a:buSzPts val="2999"/>
              <a:buFont typeface="Arial"/>
              <a:buChar char="•"/>
            </a:pPr>
            <a:r>
              <a:rPr b="0" i="0" lang="en-US" sz="2999" u="none" cap="none" strike="noStrike">
                <a:solidFill>
                  <a:srgbClr val="050A30"/>
                </a:solidFill>
                <a:latin typeface="Arial"/>
                <a:ea typeface="Arial"/>
                <a:cs typeface="Arial"/>
                <a:sym typeface="Arial"/>
              </a:rPr>
              <a:t>El corte no produce efectos por sí mismo, pero afecta el flujo de control.</a:t>
            </a:r>
            <a:endParaRPr/>
          </a:p>
          <a:p>
            <a:pPr indent="0" lvl="0" marL="0" marR="0" rtl="0" algn="just">
              <a:lnSpc>
                <a:spcPct val="144681"/>
              </a:lnSpc>
              <a:spcBef>
                <a:spcPts val="0"/>
              </a:spcBef>
              <a:spcAft>
                <a:spcPts val="0"/>
              </a:spcAft>
              <a:buNone/>
            </a:pPr>
            <a:r>
              <a:t/>
            </a:r>
            <a:endParaRPr sz="2999">
              <a:solidFill>
                <a:srgbClr val="050A30"/>
              </a:solidFill>
              <a:latin typeface="Arial"/>
              <a:ea typeface="Arial"/>
              <a:cs typeface="Arial"/>
              <a:sym typeface="Arial"/>
            </a:endParaRPr>
          </a:p>
        </p:txBody>
      </p:sp>
      <p:sp>
        <p:nvSpPr>
          <p:cNvPr id="194" name="Google Shape;194;p6"/>
          <p:cNvSpPr txBox="1"/>
          <p:nvPr/>
        </p:nvSpPr>
        <p:spPr>
          <a:xfrm>
            <a:off x="13531316" y="9080500"/>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195" name="Google Shape;195;p6"/>
          <p:cNvSpPr txBox="1"/>
          <p:nvPr/>
        </p:nvSpPr>
        <p:spPr>
          <a:xfrm>
            <a:off x="1028700" y="808682"/>
            <a:ext cx="15333028" cy="7715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5000">
                <a:solidFill>
                  <a:srgbClr val="050A30"/>
                </a:solidFill>
                <a:latin typeface="Arial"/>
                <a:ea typeface="Arial"/>
                <a:cs typeface="Arial"/>
                <a:sym typeface="Arial"/>
              </a:rPr>
              <a:t>¿Qué hace exactamente el corte?</a:t>
            </a:r>
            <a:endParaRPr/>
          </a:p>
        </p:txBody>
      </p:sp>
      <p:sp>
        <p:nvSpPr>
          <p:cNvPr id="196" name="Google Shape;196;p6"/>
          <p:cNvSpPr/>
          <p:nvPr/>
        </p:nvSpPr>
        <p:spPr>
          <a:xfrm>
            <a:off x="4693765" y="5372467"/>
            <a:ext cx="8900470" cy="3171817"/>
          </a:xfrm>
          <a:custGeom>
            <a:rect b="b" l="l" r="r" t="t"/>
            <a:pathLst>
              <a:path extrusionOk="0" h="3171817" w="8900470">
                <a:moveTo>
                  <a:pt x="0" y="0"/>
                </a:moveTo>
                <a:lnTo>
                  <a:pt x="8900470" y="0"/>
                </a:lnTo>
                <a:lnTo>
                  <a:pt x="8900470" y="3171816"/>
                </a:lnTo>
                <a:lnTo>
                  <a:pt x="0" y="3171816"/>
                </a:lnTo>
                <a:lnTo>
                  <a:pt x="0" y="0"/>
                </a:lnTo>
                <a:close/>
              </a:path>
            </a:pathLst>
          </a:custGeom>
          <a:blipFill rotWithShape="1">
            <a:blip r:embed="rId5">
              <a:alphaModFix/>
            </a:blip>
            <a:stretch>
              <a:fillRect b="0" l="-4404" r="-44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7"/>
          <p:cNvSpPr txBox="1"/>
          <p:nvPr/>
        </p:nvSpPr>
        <p:spPr>
          <a:xfrm>
            <a:off x="1492703" y="481674"/>
            <a:ext cx="15333028" cy="9239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6000">
                <a:solidFill>
                  <a:srgbClr val="F4F6FC"/>
                </a:solidFill>
                <a:latin typeface="Arial"/>
                <a:ea typeface="Arial"/>
                <a:cs typeface="Arial"/>
                <a:sym typeface="Arial"/>
              </a:rPr>
              <a:t>Tipos de Corte</a:t>
            </a:r>
            <a:endParaRPr/>
          </a:p>
        </p:txBody>
      </p:sp>
      <p:grpSp>
        <p:nvGrpSpPr>
          <p:cNvPr id="203" name="Google Shape;203;p7"/>
          <p:cNvGrpSpPr/>
          <p:nvPr/>
        </p:nvGrpSpPr>
        <p:grpSpPr>
          <a:xfrm rot="-5400000">
            <a:off x="6095749" y="2420783"/>
            <a:ext cx="6818207" cy="21127995"/>
            <a:chOff x="0" y="-47625"/>
            <a:chExt cx="1795742" cy="5564575"/>
          </a:xfrm>
        </p:grpSpPr>
        <p:sp>
          <p:nvSpPr>
            <p:cNvPr id="204" name="Google Shape;204;p7"/>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7"/>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6" name="Google Shape;206;p7"/>
          <p:cNvGrpSpPr/>
          <p:nvPr/>
        </p:nvGrpSpPr>
        <p:grpSpPr>
          <a:xfrm rot="-5400000">
            <a:off x="3906656" y="-11095415"/>
            <a:ext cx="2045233" cy="21127995"/>
            <a:chOff x="0" y="-47625"/>
            <a:chExt cx="538662" cy="5564575"/>
          </a:xfrm>
        </p:grpSpPr>
        <p:sp>
          <p:nvSpPr>
            <p:cNvPr id="207" name="Google Shape;207;p7"/>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7"/>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09" name="Google Shape;209;p7"/>
          <p:cNvGrpSpPr/>
          <p:nvPr/>
        </p:nvGrpSpPr>
        <p:grpSpPr>
          <a:xfrm rot="2700000">
            <a:off x="13798263" y="-60632"/>
            <a:ext cx="4685776" cy="1748082"/>
            <a:chOff x="0" y="-47625"/>
            <a:chExt cx="1234114" cy="460400"/>
          </a:xfrm>
        </p:grpSpPr>
        <p:sp>
          <p:nvSpPr>
            <p:cNvPr id="210" name="Google Shape;210;p7"/>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7"/>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2" name="Google Shape;212;p7"/>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13" name="Google Shape;213;p7"/>
          <p:cNvGrpSpPr/>
          <p:nvPr/>
        </p:nvGrpSpPr>
        <p:grpSpPr>
          <a:xfrm>
            <a:off x="695548" y="1319718"/>
            <a:ext cx="8150995" cy="6375017"/>
            <a:chOff x="0" y="-47625"/>
            <a:chExt cx="2146764" cy="1679017"/>
          </a:xfrm>
        </p:grpSpPr>
        <p:sp>
          <p:nvSpPr>
            <p:cNvPr id="214" name="Google Shape;214;p7"/>
            <p:cNvSpPr/>
            <p:nvPr/>
          </p:nvSpPr>
          <p:spPr>
            <a:xfrm>
              <a:off x="0" y="0"/>
              <a:ext cx="2146764" cy="1631392"/>
            </a:xfrm>
            <a:custGeom>
              <a:rect b="b" l="l" r="r" t="t"/>
              <a:pathLst>
                <a:path extrusionOk="0" h="1631392" w="2146764">
                  <a:moveTo>
                    <a:pt x="48440" y="0"/>
                  </a:moveTo>
                  <a:lnTo>
                    <a:pt x="2098324" y="0"/>
                  </a:lnTo>
                  <a:cubicBezTo>
                    <a:pt x="2111171" y="0"/>
                    <a:pt x="2123492" y="5104"/>
                    <a:pt x="2132576" y="14188"/>
                  </a:cubicBezTo>
                  <a:cubicBezTo>
                    <a:pt x="2141661" y="23272"/>
                    <a:pt x="2146764" y="35593"/>
                    <a:pt x="2146764" y="48440"/>
                  </a:cubicBezTo>
                  <a:lnTo>
                    <a:pt x="2146764" y="1582951"/>
                  </a:lnTo>
                  <a:cubicBezTo>
                    <a:pt x="2146764" y="1595799"/>
                    <a:pt x="2141661" y="1608120"/>
                    <a:pt x="2132576" y="1617204"/>
                  </a:cubicBezTo>
                  <a:cubicBezTo>
                    <a:pt x="2123492" y="1626288"/>
                    <a:pt x="2111171" y="1631392"/>
                    <a:pt x="2098324" y="1631392"/>
                  </a:cubicBezTo>
                  <a:lnTo>
                    <a:pt x="48440" y="1631392"/>
                  </a:lnTo>
                  <a:cubicBezTo>
                    <a:pt x="21688" y="1631392"/>
                    <a:pt x="0" y="1609704"/>
                    <a:pt x="0" y="1582951"/>
                  </a:cubicBezTo>
                  <a:lnTo>
                    <a:pt x="0" y="48440"/>
                  </a:lnTo>
                  <a:cubicBezTo>
                    <a:pt x="0" y="21688"/>
                    <a:pt x="21688" y="0"/>
                    <a:pt x="48440"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7"/>
            <p:cNvSpPr txBox="1"/>
            <p:nvPr/>
          </p:nvSpPr>
          <p:spPr>
            <a:xfrm>
              <a:off x="0" y="-47625"/>
              <a:ext cx="2146764" cy="1679017"/>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6" name="Google Shape;216;p7"/>
          <p:cNvSpPr txBox="1"/>
          <p:nvPr/>
        </p:nvSpPr>
        <p:spPr>
          <a:xfrm>
            <a:off x="1157727" y="2426985"/>
            <a:ext cx="7264570" cy="1736725"/>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Se utiliza solo para eficiencia.</a:t>
            </a:r>
            <a:endParaRPr/>
          </a:p>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No cambia la lógica del programa, solo evita búsquedas innecesarias.</a:t>
            </a:r>
            <a:endParaRPr/>
          </a:p>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Correcto y seguro.</a:t>
            </a:r>
            <a:endParaRPr/>
          </a:p>
        </p:txBody>
      </p:sp>
      <p:sp>
        <p:nvSpPr>
          <p:cNvPr id="217" name="Google Shape;217;p7"/>
          <p:cNvSpPr txBox="1"/>
          <p:nvPr/>
        </p:nvSpPr>
        <p:spPr>
          <a:xfrm>
            <a:off x="12502616"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218" name="Google Shape;218;p7"/>
          <p:cNvSpPr txBox="1"/>
          <p:nvPr/>
        </p:nvSpPr>
        <p:spPr>
          <a:xfrm>
            <a:off x="1157727" y="1632401"/>
            <a:ext cx="7264570" cy="629921"/>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699">
                <a:solidFill>
                  <a:srgbClr val="222222"/>
                </a:solidFill>
                <a:latin typeface="Arial"/>
                <a:ea typeface="Arial"/>
                <a:cs typeface="Arial"/>
                <a:sym typeface="Arial"/>
              </a:rPr>
              <a:t>Corte Verde</a:t>
            </a:r>
            <a:endParaRPr/>
          </a:p>
        </p:txBody>
      </p:sp>
      <p:grpSp>
        <p:nvGrpSpPr>
          <p:cNvPr id="219" name="Google Shape;219;p7"/>
          <p:cNvGrpSpPr/>
          <p:nvPr/>
        </p:nvGrpSpPr>
        <p:grpSpPr>
          <a:xfrm>
            <a:off x="9301722" y="1319718"/>
            <a:ext cx="7957578" cy="6375017"/>
            <a:chOff x="0" y="-47625"/>
            <a:chExt cx="2095823" cy="1679017"/>
          </a:xfrm>
        </p:grpSpPr>
        <p:sp>
          <p:nvSpPr>
            <p:cNvPr id="220" name="Google Shape;220;p7"/>
            <p:cNvSpPr/>
            <p:nvPr/>
          </p:nvSpPr>
          <p:spPr>
            <a:xfrm>
              <a:off x="0" y="0"/>
              <a:ext cx="2095823" cy="1631392"/>
            </a:xfrm>
            <a:custGeom>
              <a:rect b="b" l="l" r="r" t="t"/>
              <a:pathLst>
                <a:path extrusionOk="0" h="1631392" w="2095823">
                  <a:moveTo>
                    <a:pt x="49618" y="0"/>
                  </a:moveTo>
                  <a:lnTo>
                    <a:pt x="2046205" y="0"/>
                  </a:lnTo>
                  <a:cubicBezTo>
                    <a:pt x="2073608" y="0"/>
                    <a:pt x="2095823" y="22215"/>
                    <a:pt x="2095823" y="49618"/>
                  </a:cubicBezTo>
                  <a:lnTo>
                    <a:pt x="2095823" y="1581774"/>
                  </a:lnTo>
                  <a:cubicBezTo>
                    <a:pt x="2095823" y="1594934"/>
                    <a:pt x="2090595" y="1607554"/>
                    <a:pt x="2081290" y="1616859"/>
                  </a:cubicBezTo>
                  <a:cubicBezTo>
                    <a:pt x="2071985" y="1626164"/>
                    <a:pt x="2059365" y="1631392"/>
                    <a:pt x="2046205" y="1631392"/>
                  </a:cubicBezTo>
                  <a:lnTo>
                    <a:pt x="49618" y="1631392"/>
                  </a:lnTo>
                  <a:cubicBezTo>
                    <a:pt x="22215" y="1631392"/>
                    <a:pt x="0" y="1609177"/>
                    <a:pt x="0" y="1581774"/>
                  </a:cubicBezTo>
                  <a:lnTo>
                    <a:pt x="0" y="49618"/>
                  </a:lnTo>
                  <a:cubicBezTo>
                    <a:pt x="0" y="36458"/>
                    <a:pt x="5228" y="23838"/>
                    <a:pt x="14533" y="14533"/>
                  </a:cubicBezTo>
                  <a:cubicBezTo>
                    <a:pt x="23838" y="5228"/>
                    <a:pt x="36458" y="0"/>
                    <a:pt x="49618"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7"/>
            <p:cNvSpPr txBox="1"/>
            <p:nvPr/>
          </p:nvSpPr>
          <p:spPr>
            <a:xfrm>
              <a:off x="0" y="-47625"/>
              <a:ext cx="2095823" cy="1679017"/>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2" name="Google Shape;222;p7"/>
          <p:cNvSpPr txBox="1"/>
          <p:nvPr/>
        </p:nvSpPr>
        <p:spPr>
          <a:xfrm>
            <a:off x="10129701" y="2426985"/>
            <a:ext cx="6301619" cy="1736725"/>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Se utiliza para forzar decisiones lógicas.</a:t>
            </a:r>
            <a:endParaRPr/>
          </a:p>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Afecta el significado del programa (puede descartar soluciones válidas).</a:t>
            </a:r>
            <a:endParaRPr/>
          </a:p>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Arial"/>
                <a:ea typeface="Arial"/>
                <a:cs typeface="Arial"/>
                <a:sym typeface="Arial"/>
              </a:rPr>
              <a:t>Debe usarse con precaución.</a:t>
            </a:r>
            <a:endParaRPr/>
          </a:p>
        </p:txBody>
      </p:sp>
      <p:sp>
        <p:nvSpPr>
          <p:cNvPr id="223" name="Google Shape;223;p7"/>
          <p:cNvSpPr txBox="1"/>
          <p:nvPr/>
        </p:nvSpPr>
        <p:spPr>
          <a:xfrm>
            <a:off x="10129701" y="1632401"/>
            <a:ext cx="6301619" cy="629921"/>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699">
                <a:solidFill>
                  <a:srgbClr val="222222"/>
                </a:solidFill>
                <a:latin typeface="Arial"/>
                <a:ea typeface="Arial"/>
                <a:cs typeface="Arial"/>
                <a:sym typeface="Arial"/>
              </a:rPr>
              <a:t>Corte Rojo</a:t>
            </a:r>
            <a:endParaRPr/>
          </a:p>
        </p:txBody>
      </p:sp>
      <p:sp>
        <p:nvSpPr>
          <p:cNvPr id="224" name="Google Shape;224;p7"/>
          <p:cNvSpPr txBox="1"/>
          <p:nvPr/>
        </p:nvSpPr>
        <p:spPr>
          <a:xfrm>
            <a:off x="1157727" y="4448810"/>
            <a:ext cx="7264570" cy="2970530"/>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max(X, Y, X) :- X &gt;= Y,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max(_, Y, Y).</a:t>
            </a:r>
            <a:endParaRPr/>
          </a:p>
          <a:p>
            <a:pPr indent="0" lvl="0" marL="0" marR="0" rtl="0" algn="l">
              <a:lnSpc>
                <a:spcPct val="60852"/>
              </a:lnSpc>
              <a:spcBef>
                <a:spcPts val="0"/>
              </a:spcBef>
              <a:spcAft>
                <a:spcPts val="0"/>
              </a:spcAft>
              <a:buNone/>
            </a:pPr>
            <a:r>
              <a:t/>
            </a:r>
            <a:endParaRPr b="1" i="1" sz="2299">
              <a:solidFill>
                <a:srgbClr val="000000"/>
              </a:solidFill>
              <a:latin typeface="Arial"/>
              <a:ea typeface="Arial"/>
              <a:cs typeface="Arial"/>
              <a:sym typeface="Arial"/>
            </a:endParaRPr>
          </a:p>
          <a:p>
            <a:pPr indent="-248284" lvl="1" marL="496569" marR="0" rtl="0" algn="l">
              <a:lnSpc>
                <a:spcPct val="140017"/>
              </a:lnSpc>
              <a:spcBef>
                <a:spcPts val="0"/>
              </a:spcBef>
              <a:spcAft>
                <a:spcPts val="0"/>
              </a:spcAft>
              <a:buClr>
                <a:srgbClr val="000000"/>
              </a:buClr>
              <a:buSzPts val="2299"/>
              <a:buFont typeface="Arial"/>
              <a:buChar char="•"/>
            </a:pPr>
            <a:r>
              <a:rPr b="0" i="0" lang="en-US" sz="2299" u="none" cap="none" strike="noStrike">
                <a:solidFill>
                  <a:srgbClr val="000000"/>
                </a:solidFill>
                <a:latin typeface="Arial"/>
                <a:ea typeface="Arial"/>
                <a:cs typeface="Arial"/>
                <a:sym typeface="Arial"/>
              </a:rPr>
              <a:t>Si X &gt;= Y es cierto, se elige la primera cláusula, y el corte evita evaluar la segunda.</a:t>
            </a:r>
            <a:endParaRPr/>
          </a:p>
          <a:p>
            <a:pPr indent="-248284" lvl="1" marL="496569" marR="0" rtl="0" algn="l">
              <a:lnSpc>
                <a:spcPct val="140017"/>
              </a:lnSpc>
              <a:spcBef>
                <a:spcPts val="0"/>
              </a:spcBef>
              <a:spcAft>
                <a:spcPts val="0"/>
              </a:spcAft>
              <a:buClr>
                <a:srgbClr val="000000"/>
              </a:buClr>
              <a:buSzPts val="2299"/>
              <a:buFont typeface="Arial"/>
              <a:buChar char="•"/>
            </a:pPr>
            <a:r>
              <a:rPr b="0" i="0" lang="en-US" sz="2299" u="none" cap="none" strike="noStrike">
                <a:solidFill>
                  <a:srgbClr val="000000"/>
                </a:solidFill>
                <a:latin typeface="Arial"/>
                <a:ea typeface="Arial"/>
                <a:cs typeface="Arial"/>
                <a:sym typeface="Arial"/>
              </a:rPr>
              <a:t>El corte aquí es verde, porque no cambia la lógica, solo mejora el rendimiento.</a:t>
            </a:r>
            <a:endParaRPr/>
          </a:p>
          <a:p>
            <a:pPr indent="0" lvl="0" marL="0" marR="0" rtl="0" algn="l">
              <a:lnSpc>
                <a:spcPct val="140017"/>
              </a:lnSpc>
              <a:spcBef>
                <a:spcPts val="0"/>
              </a:spcBef>
              <a:spcAft>
                <a:spcPts val="0"/>
              </a:spcAft>
              <a:buNone/>
            </a:pPr>
            <a:r>
              <a:t/>
            </a:r>
            <a:endParaRPr sz="2299">
              <a:solidFill>
                <a:srgbClr val="000000"/>
              </a:solidFill>
              <a:latin typeface="Arial"/>
              <a:ea typeface="Arial"/>
              <a:cs typeface="Arial"/>
              <a:sym typeface="Arial"/>
            </a:endParaRPr>
          </a:p>
        </p:txBody>
      </p:sp>
      <p:sp>
        <p:nvSpPr>
          <p:cNvPr id="225" name="Google Shape;225;p7"/>
          <p:cNvSpPr txBox="1"/>
          <p:nvPr/>
        </p:nvSpPr>
        <p:spPr>
          <a:xfrm>
            <a:off x="9752987" y="4448810"/>
            <a:ext cx="7234299" cy="3370580"/>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clasificacion(X, positivo) :- X &gt; 0,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clasificacion(X, negativo) :- X &lt; 0,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clasificacion(0, neutro).</a:t>
            </a:r>
            <a:endParaRPr/>
          </a:p>
          <a:p>
            <a:pPr indent="0" lvl="0" marL="0" marR="0" rtl="0" algn="l">
              <a:lnSpc>
                <a:spcPct val="60852"/>
              </a:lnSpc>
              <a:spcBef>
                <a:spcPts val="0"/>
              </a:spcBef>
              <a:spcAft>
                <a:spcPts val="0"/>
              </a:spcAft>
              <a:buNone/>
            </a:pPr>
            <a:r>
              <a:t/>
            </a:r>
            <a:endParaRPr b="1" i="1" sz="2299">
              <a:solidFill>
                <a:srgbClr val="000000"/>
              </a:solidFill>
              <a:latin typeface="Arial"/>
              <a:ea typeface="Arial"/>
              <a:cs typeface="Arial"/>
              <a:sym typeface="Arial"/>
            </a:endParaRPr>
          </a:p>
          <a:p>
            <a:pPr indent="-248284" lvl="1" marL="496569" marR="0" rtl="0" algn="l">
              <a:lnSpc>
                <a:spcPct val="140017"/>
              </a:lnSpc>
              <a:spcBef>
                <a:spcPts val="0"/>
              </a:spcBef>
              <a:spcAft>
                <a:spcPts val="0"/>
              </a:spcAft>
              <a:buClr>
                <a:srgbClr val="000000"/>
              </a:buClr>
              <a:buSzPts val="2299"/>
              <a:buFont typeface="Arial"/>
              <a:buChar char="•"/>
            </a:pPr>
            <a:r>
              <a:rPr b="0" i="0" lang="en-US" sz="2299" u="none" cap="none" strike="noStrike">
                <a:solidFill>
                  <a:srgbClr val="000000"/>
                </a:solidFill>
                <a:latin typeface="Arial"/>
                <a:ea typeface="Arial"/>
                <a:cs typeface="Arial"/>
                <a:sym typeface="Arial"/>
              </a:rPr>
              <a:t>Aquí el corte impide que se evalúe la tercera cláusula incluso si X = 0.</a:t>
            </a:r>
            <a:endParaRPr/>
          </a:p>
          <a:p>
            <a:pPr indent="-248284" lvl="1" marL="496569" marR="0" rtl="0" algn="l">
              <a:lnSpc>
                <a:spcPct val="140017"/>
              </a:lnSpc>
              <a:spcBef>
                <a:spcPts val="0"/>
              </a:spcBef>
              <a:spcAft>
                <a:spcPts val="0"/>
              </a:spcAft>
              <a:buClr>
                <a:srgbClr val="000000"/>
              </a:buClr>
              <a:buSzPts val="2299"/>
              <a:buFont typeface="Arial"/>
              <a:buChar char="•"/>
            </a:pPr>
            <a:r>
              <a:rPr b="0" i="0" lang="en-US" sz="2299" u="none" cap="none" strike="noStrike">
                <a:solidFill>
                  <a:srgbClr val="000000"/>
                </a:solidFill>
                <a:latin typeface="Arial"/>
                <a:ea typeface="Arial"/>
                <a:cs typeface="Arial"/>
                <a:sym typeface="Arial"/>
              </a:rPr>
              <a:t>Este es un corte rojo, porque modifica la lógica del programa.</a:t>
            </a:r>
            <a:endParaRPr/>
          </a:p>
          <a:p>
            <a:pPr indent="0" lvl="0" marL="0" marR="0" rtl="0" algn="l">
              <a:lnSpc>
                <a:spcPct val="140017"/>
              </a:lnSpc>
              <a:spcBef>
                <a:spcPts val="0"/>
              </a:spcBef>
              <a:spcAft>
                <a:spcPts val="0"/>
              </a:spcAft>
              <a:buNone/>
            </a:pPr>
            <a:r>
              <a:t/>
            </a:r>
            <a:endParaRPr sz="2299">
              <a:solidFill>
                <a:srgbClr val="000000"/>
              </a:solidFill>
              <a:latin typeface="Arial"/>
              <a:ea typeface="Arial"/>
              <a:cs typeface="Arial"/>
              <a:sym typeface="Arial"/>
            </a:endParaRPr>
          </a:p>
        </p:txBody>
      </p:sp>
      <p:sp>
        <p:nvSpPr>
          <p:cNvPr id="226" name="Google Shape;226;p7"/>
          <p:cNvSpPr txBox="1"/>
          <p:nvPr/>
        </p:nvSpPr>
        <p:spPr>
          <a:xfrm>
            <a:off x="1477486" y="8095615"/>
            <a:ext cx="10729568" cy="1323340"/>
          </a:xfrm>
          <a:prstGeom prst="rect">
            <a:avLst/>
          </a:prstGeom>
          <a:noFill/>
          <a:ln>
            <a:noFill/>
          </a:ln>
        </p:spPr>
        <p:txBody>
          <a:bodyPr anchorCtr="0" anchor="t" bIns="0" lIns="0" spcFirstLastPara="1" rIns="0" wrap="square" tIns="0">
            <a:spAutoFit/>
          </a:bodyPr>
          <a:lstStyle/>
          <a:p>
            <a:pPr indent="-205106" lvl="1" marL="410211" marR="0" rtl="0" algn="just">
              <a:lnSpc>
                <a:spcPct val="140000"/>
              </a:lnSpc>
              <a:spcBef>
                <a:spcPts val="0"/>
              </a:spcBef>
              <a:spcAft>
                <a:spcPts val="0"/>
              </a:spcAft>
              <a:buClr>
                <a:srgbClr val="F4F6FC"/>
              </a:buClr>
              <a:buSzPts val="1900"/>
              <a:buFont typeface="Arial"/>
              <a:buChar char="•"/>
            </a:pPr>
            <a:r>
              <a:rPr b="0" i="1" lang="en-US" sz="1900" u="none" cap="none" strike="noStrike">
                <a:solidFill>
                  <a:srgbClr val="F4F6FC"/>
                </a:solidFill>
                <a:latin typeface="Arial"/>
                <a:ea typeface="Arial"/>
                <a:cs typeface="Arial"/>
                <a:sym typeface="Arial"/>
              </a:rPr>
              <a:t>El corte es útil pero puede dificultar la depuración y el razonamiento lógico.</a:t>
            </a:r>
            <a:endParaRPr/>
          </a:p>
          <a:p>
            <a:pPr indent="-205106" lvl="1" marL="410211" marR="0" rtl="0" algn="just">
              <a:lnSpc>
                <a:spcPct val="140000"/>
              </a:lnSpc>
              <a:spcBef>
                <a:spcPts val="0"/>
              </a:spcBef>
              <a:spcAft>
                <a:spcPts val="0"/>
              </a:spcAft>
              <a:buClr>
                <a:srgbClr val="F4F6FC"/>
              </a:buClr>
              <a:buSzPts val="1900"/>
              <a:buFont typeface="Arial"/>
              <a:buChar char="•"/>
            </a:pPr>
            <a:r>
              <a:rPr b="0" i="1" lang="en-US" sz="1900" u="none" cap="none" strike="noStrike">
                <a:solidFill>
                  <a:srgbClr val="F4F6FC"/>
                </a:solidFill>
                <a:latin typeface="Arial"/>
                <a:ea typeface="Arial"/>
                <a:cs typeface="Arial"/>
                <a:sym typeface="Arial"/>
              </a:rPr>
              <a:t>En programas declarativos, se recomienda usar el corte solo cuando sea necesario y entendido.</a:t>
            </a:r>
            <a:endParaRPr/>
          </a:p>
          <a:p>
            <a:pPr indent="-205106" lvl="1" marL="410211" marR="0" rtl="0" algn="just">
              <a:lnSpc>
                <a:spcPct val="140000"/>
              </a:lnSpc>
              <a:spcBef>
                <a:spcPts val="0"/>
              </a:spcBef>
              <a:spcAft>
                <a:spcPts val="0"/>
              </a:spcAft>
              <a:buClr>
                <a:srgbClr val="F4F6FC"/>
              </a:buClr>
              <a:buSzPts val="1900"/>
              <a:buFont typeface="Arial"/>
              <a:buChar char="•"/>
            </a:pPr>
            <a:r>
              <a:rPr b="0" i="1" lang="en-US" sz="1900" u="none" cap="none" strike="noStrike">
                <a:solidFill>
                  <a:srgbClr val="F4F6FC"/>
                </a:solidFill>
                <a:latin typeface="Arial"/>
                <a:ea typeface="Arial"/>
                <a:cs typeface="Arial"/>
                <a:sym typeface="Arial"/>
              </a:rPr>
              <a:t>En muchos casos, hay alternativas más limpias y declarativas al uso del corte.</a:t>
            </a:r>
            <a:endParaRPr/>
          </a:p>
          <a:p>
            <a:pPr indent="0" lvl="0" marL="0" marR="0" rtl="0" algn="just">
              <a:lnSpc>
                <a:spcPct val="140000"/>
              </a:lnSpc>
              <a:spcBef>
                <a:spcPts val="0"/>
              </a:spcBef>
              <a:spcAft>
                <a:spcPts val="0"/>
              </a:spcAft>
              <a:buNone/>
            </a:pPr>
            <a:r>
              <a:t/>
            </a:r>
            <a:endParaRPr i="1" sz="1900" u="none" strike="noStrike">
              <a:solidFill>
                <a:srgbClr val="F4F6FC"/>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2" name="Google Shape;232;p8"/>
          <p:cNvGrpSpPr/>
          <p:nvPr/>
        </p:nvGrpSpPr>
        <p:grpSpPr>
          <a:xfrm rot="-5400000">
            <a:off x="6095749" y="2420783"/>
            <a:ext cx="6818207" cy="21127995"/>
            <a:chOff x="0" y="-47625"/>
            <a:chExt cx="1795742" cy="5564575"/>
          </a:xfrm>
        </p:grpSpPr>
        <p:sp>
          <p:nvSpPr>
            <p:cNvPr id="233" name="Google Shape;233;p8"/>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8"/>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5" name="Google Shape;235;p8"/>
          <p:cNvGrpSpPr/>
          <p:nvPr/>
        </p:nvGrpSpPr>
        <p:grpSpPr>
          <a:xfrm rot="-5400000">
            <a:off x="3906656" y="-11095415"/>
            <a:ext cx="2045233" cy="21127995"/>
            <a:chOff x="0" y="-47625"/>
            <a:chExt cx="538662" cy="5564575"/>
          </a:xfrm>
        </p:grpSpPr>
        <p:sp>
          <p:nvSpPr>
            <p:cNvPr id="236" name="Google Shape;236;p8"/>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8"/>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8" name="Google Shape;238;p8"/>
          <p:cNvGrpSpPr/>
          <p:nvPr/>
        </p:nvGrpSpPr>
        <p:grpSpPr>
          <a:xfrm rot="2700000">
            <a:off x="13798263" y="-60632"/>
            <a:ext cx="4685776" cy="1748082"/>
            <a:chOff x="0" y="-47625"/>
            <a:chExt cx="1234114" cy="460400"/>
          </a:xfrm>
        </p:grpSpPr>
        <p:sp>
          <p:nvSpPr>
            <p:cNvPr id="239" name="Google Shape;239;p8"/>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8"/>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1" name="Google Shape;241;p8"/>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8"/>
          <p:cNvSpPr txBox="1"/>
          <p:nvPr/>
        </p:nvSpPr>
        <p:spPr>
          <a:xfrm>
            <a:off x="670142" y="1840539"/>
            <a:ext cx="16050143" cy="278003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lang="en-US" sz="2999">
                <a:solidFill>
                  <a:srgbClr val="050A30"/>
                </a:solidFill>
                <a:latin typeface="Arial"/>
                <a:ea typeface="Arial"/>
                <a:cs typeface="Arial"/>
                <a:sym typeface="Arial"/>
              </a:rPr>
              <a:t>En Prolog, la negación se maneja de forma no clásica debido a su base en la lógica de programación basada en pruebas. No se representa información negativa directamente como en otros lenguajes declarativos o lógicos, sino que se utiliza una técnica llamada:</a:t>
            </a:r>
            <a:endParaRPr/>
          </a:p>
          <a:p>
            <a:pPr indent="0" lvl="0" marL="0" marR="0" rtl="0" algn="just">
              <a:lnSpc>
                <a:spcPct val="42014"/>
              </a:lnSpc>
              <a:spcBef>
                <a:spcPts val="0"/>
              </a:spcBef>
              <a:spcAft>
                <a:spcPts val="0"/>
              </a:spcAft>
              <a:buNone/>
            </a:pPr>
            <a:r>
              <a:t/>
            </a:r>
            <a:endParaRPr sz="2999">
              <a:solidFill>
                <a:srgbClr val="050A30"/>
              </a:solidFill>
              <a:latin typeface="Arial"/>
              <a:ea typeface="Arial"/>
              <a:cs typeface="Arial"/>
              <a:sym typeface="Arial"/>
            </a:endParaRPr>
          </a:p>
          <a:p>
            <a:pPr indent="0" lvl="0" marL="0" marR="0" rtl="0" algn="just">
              <a:lnSpc>
                <a:spcPct val="140013"/>
              </a:lnSpc>
              <a:spcBef>
                <a:spcPts val="0"/>
              </a:spcBef>
              <a:spcAft>
                <a:spcPts val="0"/>
              </a:spcAft>
              <a:buNone/>
            </a:pPr>
            <a:r>
              <a:rPr b="1" lang="en-US" sz="2999">
                <a:solidFill>
                  <a:srgbClr val="050A30"/>
                </a:solidFill>
                <a:latin typeface="Arial"/>
                <a:ea typeface="Arial"/>
                <a:cs typeface="Arial"/>
                <a:sym typeface="Arial"/>
              </a:rPr>
              <a:t>Negación como falla (Negation as Failure, NAF)</a:t>
            </a:r>
            <a:endParaRPr/>
          </a:p>
          <a:p>
            <a:pPr indent="0" lvl="0" marL="0" marR="0" rtl="0" algn="just">
              <a:lnSpc>
                <a:spcPct val="144681"/>
              </a:lnSpc>
              <a:spcBef>
                <a:spcPts val="0"/>
              </a:spcBef>
              <a:spcAft>
                <a:spcPts val="0"/>
              </a:spcAft>
              <a:buNone/>
            </a:pPr>
            <a:r>
              <a:t/>
            </a:r>
            <a:endParaRPr b="1" sz="2999">
              <a:solidFill>
                <a:srgbClr val="050A30"/>
              </a:solidFill>
              <a:latin typeface="Arial"/>
              <a:ea typeface="Arial"/>
              <a:cs typeface="Arial"/>
              <a:sym typeface="Arial"/>
            </a:endParaRPr>
          </a:p>
        </p:txBody>
      </p:sp>
      <p:sp>
        <p:nvSpPr>
          <p:cNvPr id="243" name="Google Shape;243;p8"/>
          <p:cNvSpPr txBox="1"/>
          <p:nvPr/>
        </p:nvSpPr>
        <p:spPr>
          <a:xfrm>
            <a:off x="670142" y="4293230"/>
            <a:ext cx="16050143" cy="4524376"/>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1" lang="en-US" sz="2999">
                <a:solidFill>
                  <a:srgbClr val="050A30"/>
                </a:solidFill>
                <a:latin typeface="Arial"/>
                <a:ea typeface="Arial"/>
                <a:cs typeface="Arial"/>
                <a:sym typeface="Arial"/>
              </a:rPr>
              <a:t>¿Cómo funciona?</a:t>
            </a:r>
            <a:endParaRPr/>
          </a:p>
          <a:p>
            <a:pPr indent="0" lvl="0" marL="0" marR="0" rtl="0" algn="just">
              <a:lnSpc>
                <a:spcPct val="140013"/>
              </a:lnSpc>
              <a:spcBef>
                <a:spcPts val="0"/>
              </a:spcBef>
              <a:spcAft>
                <a:spcPts val="0"/>
              </a:spcAft>
              <a:buNone/>
            </a:pPr>
            <a:r>
              <a:rPr lang="en-US" sz="2999">
                <a:solidFill>
                  <a:srgbClr val="050A30"/>
                </a:solidFill>
                <a:latin typeface="Arial"/>
                <a:ea typeface="Arial"/>
                <a:cs typeface="Arial"/>
                <a:sym typeface="Arial"/>
              </a:rPr>
              <a:t>En Prolog, decir que algo no es cierto se interpreta como "no se puede probar que sea cierto". </a:t>
            </a:r>
            <a:endParaRPr/>
          </a:p>
          <a:p>
            <a:pPr indent="0" lvl="0" marL="0" marR="0" rtl="0" algn="just">
              <a:lnSpc>
                <a:spcPct val="46648"/>
              </a:lnSpc>
              <a:spcBef>
                <a:spcPts val="0"/>
              </a:spcBef>
              <a:spcAft>
                <a:spcPts val="0"/>
              </a:spcAft>
              <a:buNone/>
            </a:pPr>
            <a:r>
              <a:t/>
            </a:r>
            <a:endParaRPr sz="2999">
              <a:solidFill>
                <a:srgbClr val="050A30"/>
              </a:solidFill>
              <a:latin typeface="Arial"/>
              <a:ea typeface="Arial"/>
              <a:cs typeface="Arial"/>
              <a:sym typeface="Arial"/>
            </a:endParaRPr>
          </a:p>
          <a:p>
            <a:pPr indent="0" lvl="0" marL="0" marR="0" rtl="0" algn="just">
              <a:lnSpc>
                <a:spcPct val="140013"/>
              </a:lnSpc>
              <a:spcBef>
                <a:spcPts val="0"/>
              </a:spcBef>
              <a:spcAft>
                <a:spcPts val="0"/>
              </a:spcAft>
              <a:buNone/>
            </a:pPr>
            <a:r>
              <a:rPr lang="en-US" sz="2999">
                <a:solidFill>
                  <a:srgbClr val="050A30"/>
                </a:solidFill>
                <a:latin typeface="Arial"/>
                <a:ea typeface="Arial"/>
                <a:cs typeface="Arial"/>
                <a:sym typeface="Arial"/>
              </a:rPr>
              <a:t>Esto significa que:</a:t>
            </a:r>
            <a:endParaRPr/>
          </a:p>
          <a:p>
            <a:pPr indent="-323848" lvl="1" marL="647695" marR="0" rtl="0" algn="just">
              <a:lnSpc>
                <a:spcPct val="140013"/>
              </a:lnSpc>
              <a:spcBef>
                <a:spcPts val="0"/>
              </a:spcBef>
              <a:spcAft>
                <a:spcPts val="0"/>
              </a:spcAft>
              <a:buClr>
                <a:srgbClr val="050A30"/>
              </a:buClr>
              <a:buSzPts val="2999"/>
              <a:buFont typeface="Arial"/>
              <a:buChar char="•"/>
            </a:pPr>
            <a:r>
              <a:rPr b="0" i="0" lang="en-US" sz="2999" u="none" cap="none" strike="noStrike">
                <a:solidFill>
                  <a:srgbClr val="050A30"/>
                </a:solidFill>
                <a:latin typeface="Arial"/>
                <a:ea typeface="Arial"/>
                <a:cs typeface="Arial"/>
                <a:sym typeface="Arial"/>
              </a:rPr>
              <a:t>Si una consulta G tiene éxito, entonces + G (no G) falla.</a:t>
            </a:r>
            <a:endParaRPr/>
          </a:p>
          <a:p>
            <a:pPr indent="-323848" lvl="1" marL="647695" marR="0" rtl="0" algn="just">
              <a:lnSpc>
                <a:spcPct val="140013"/>
              </a:lnSpc>
              <a:spcBef>
                <a:spcPts val="0"/>
              </a:spcBef>
              <a:spcAft>
                <a:spcPts val="0"/>
              </a:spcAft>
              <a:buClr>
                <a:srgbClr val="050A30"/>
              </a:buClr>
              <a:buSzPts val="2999"/>
              <a:buFont typeface="Arial"/>
              <a:buChar char="•"/>
            </a:pPr>
            <a:r>
              <a:rPr b="0" i="0" lang="en-US" sz="2999" u="none" cap="none" strike="noStrike">
                <a:solidFill>
                  <a:srgbClr val="050A30"/>
                </a:solidFill>
                <a:latin typeface="Arial"/>
                <a:ea typeface="Arial"/>
                <a:cs typeface="Arial"/>
                <a:sym typeface="Arial"/>
              </a:rPr>
              <a:t>Si una consulta G falla, entonces + G (no G) tiene éxito.</a:t>
            </a:r>
            <a:endParaRPr/>
          </a:p>
          <a:p>
            <a:pPr indent="0" lvl="0" marL="0" marR="0" rtl="0" algn="just">
              <a:lnSpc>
                <a:spcPct val="46648"/>
              </a:lnSpc>
              <a:spcBef>
                <a:spcPts val="0"/>
              </a:spcBef>
              <a:spcAft>
                <a:spcPts val="0"/>
              </a:spcAft>
              <a:buNone/>
            </a:pPr>
            <a:r>
              <a:t/>
            </a:r>
            <a:endParaRPr sz="2999">
              <a:solidFill>
                <a:srgbClr val="050A30"/>
              </a:solidFill>
              <a:latin typeface="Arial"/>
              <a:ea typeface="Arial"/>
              <a:cs typeface="Arial"/>
              <a:sym typeface="Arial"/>
            </a:endParaRPr>
          </a:p>
          <a:p>
            <a:pPr indent="0" lvl="0" marL="0" marR="0" rtl="0" algn="just">
              <a:lnSpc>
                <a:spcPct val="140013"/>
              </a:lnSpc>
              <a:spcBef>
                <a:spcPts val="0"/>
              </a:spcBef>
              <a:spcAft>
                <a:spcPts val="0"/>
              </a:spcAft>
              <a:buNone/>
            </a:pPr>
            <a:r>
              <a:rPr lang="en-US" sz="2999">
                <a:solidFill>
                  <a:srgbClr val="050A30"/>
                </a:solidFill>
                <a:latin typeface="Arial"/>
                <a:ea typeface="Arial"/>
                <a:cs typeface="Arial"/>
                <a:sym typeface="Arial"/>
              </a:rPr>
              <a:t>Esto se representa con el operador:</a:t>
            </a:r>
            <a:endParaRPr/>
          </a:p>
          <a:p>
            <a:pPr indent="-323848" lvl="1" marL="647695" marR="0" rtl="0" algn="just">
              <a:lnSpc>
                <a:spcPct val="140013"/>
              </a:lnSpc>
              <a:spcBef>
                <a:spcPts val="0"/>
              </a:spcBef>
              <a:spcAft>
                <a:spcPts val="0"/>
              </a:spcAft>
              <a:buClr>
                <a:srgbClr val="050A30"/>
              </a:buClr>
              <a:buSzPts val="2999"/>
              <a:buFont typeface="Arial"/>
              <a:buChar char="•"/>
            </a:pPr>
            <a:r>
              <a:rPr b="0" i="0" lang="en-US" sz="2999" u="none" cap="none" strike="noStrike">
                <a:solidFill>
                  <a:srgbClr val="050A30"/>
                </a:solidFill>
                <a:latin typeface="Arial"/>
                <a:ea typeface="Arial"/>
                <a:cs typeface="Arial"/>
                <a:sym typeface="Arial"/>
              </a:rPr>
              <a:t>\+ G → "no G"</a:t>
            </a:r>
            <a:endParaRPr/>
          </a:p>
          <a:p>
            <a:pPr indent="-323848" lvl="1" marL="647695" marR="0" rtl="0" algn="just">
              <a:lnSpc>
                <a:spcPct val="140013"/>
              </a:lnSpc>
              <a:spcBef>
                <a:spcPts val="0"/>
              </a:spcBef>
              <a:spcAft>
                <a:spcPts val="0"/>
              </a:spcAft>
              <a:buClr>
                <a:srgbClr val="050A30"/>
              </a:buClr>
              <a:buSzPts val="2999"/>
              <a:buFont typeface="Arial"/>
              <a:buChar char="•"/>
            </a:pPr>
            <a:r>
              <a:rPr b="0" i="0" lang="en-US" sz="2999" u="none" cap="none" strike="noStrike">
                <a:solidFill>
                  <a:srgbClr val="050A30"/>
                </a:solidFill>
                <a:latin typeface="Arial"/>
                <a:ea typeface="Arial"/>
                <a:cs typeface="Arial"/>
                <a:sym typeface="Arial"/>
              </a:rPr>
              <a:t>También puede verse como not(G) en versiones antiguas o algunos entornos.</a:t>
            </a:r>
            <a:endParaRPr/>
          </a:p>
        </p:txBody>
      </p:sp>
      <p:sp>
        <p:nvSpPr>
          <p:cNvPr id="244" name="Google Shape;244;p8"/>
          <p:cNvSpPr txBox="1"/>
          <p:nvPr/>
        </p:nvSpPr>
        <p:spPr>
          <a:xfrm>
            <a:off x="13531316" y="9080500"/>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245" name="Google Shape;245;p8"/>
          <p:cNvSpPr txBox="1"/>
          <p:nvPr/>
        </p:nvSpPr>
        <p:spPr>
          <a:xfrm>
            <a:off x="1028700" y="491199"/>
            <a:ext cx="15333028" cy="1285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050A30"/>
                </a:solidFill>
                <a:latin typeface="Arial"/>
                <a:ea typeface="Arial"/>
                <a:cs typeface="Arial"/>
                <a:sym typeface="Arial"/>
              </a:rPr>
              <a:t>Negación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9"/>
          <p:cNvSpPr txBox="1"/>
          <p:nvPr/>
        </p:nvSpPr>
        <p:spPr>
          <a:xfrm>
            <a:off x="1563814" y="641404"/>
            <a:ext cx="15333000" cy="1302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F4F6FC"/>
                </a:solidFill>
                <a:latin typeface="Arial"/>
                <a:ea typeface="Arial"/>
                <a:cs typeface="Arial"/>
                <a:sym typeface="Arial"/>
              </a:rPr>
              <a:t>Ejemplo</a:t>
            </a:r>
            <a:endParaRPr/>
          </a:p>
        </p:txBody>
      </p:sp>
      <p:grpSp>
        <p:nvGrpSpPr>
          <p:cNvPr id="252" name="Google Shape;252;p9"/>
          <p:cNvGrpSpPr/>
          <p:nvPr/>
        </p:nvGrpSpPr>
        <p:grpSpPr>
          <a:xfrm rot="-5400000">
            <a:off x="6095749" y="2420783"/>
            <a:ext cx="6818207" cy="21127995"/>
            <a:chOff x="0" y="-47625"/>
            <a:chExt cx="1795742" cy="5564575"/>
          </a:xfrm>
        </p:grpSpPr>
        <p:sp>
          <p:nvSpPr>
            <p:cNvPr id="253" name="Google Shape;253;p9"/>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9"/>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5" name="Google Shape;255;p9"/>
          <p:cNvGrpSpPr/>
          <p:nvPr/>
        </p:nvGrpSpPr>
        <p:grpSpPr>
          <a:xfrm rot="-5400000">
            <a:off x="3906656" y="-11095415"/>
            <a:ext cx="2045233" cy="21127995"/>
            <a:chOff x="0" y="-47625"/>
            <a:chExt cx="538662" cy="5564575"/>
          </a:xfrm>
        </p:grpSpPr>
        <p:sp>
          <p:nvSpPr>
            <p:cNvPr id="256" name="Google Shape;256;p9"/>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9"/>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58" name="Google Shape;258;p9"/>
          <p:cNvGrpSpPr/>
          <p:nvPr/>
        </p:nvGrpSpPr>
        <p:grpSpPr>
          <a:xfrm rot="2700000">
            <a:off x="13798263" y="-60632"/>
            <a:ext cx="4685776" cy="1748082"/>
            <a:chOff x="0" y="-47625"/>
            <a:chExt cx="1234114" cy="460400"/>
          </a:xfrm>
        </p:grpSpPr>
        <p:sp>
          <p:nvSpPr>
            <p:cNvPr id="259" name="Google Shape;259;p9"/>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9"/>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1" name="Google Shape;261;p9"/>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9"/>
          <p:cNvSpPr txBox="1"/>
          <p:nvPr/>
        </p:nvSpPr>
        <p:spPr>
          <a:xfrm>
            <a:off x="4193829" y="2040823"/>
            <a:ext cx="9900300" cy="7032900"/>
          </a:xfrm>
          <a:prstGeom prst="rect">
            <a:avLst/>
          </a:prstGeom>
          <a:noFill/>
          <a:ln>
            <a:noFill/>
          </a:ln>
        </p:spPr>
        <p:txBody>
          <a:bodyPr anchorCtr="0" anchor="t" bIns="0" lIns="0" spcFirstLastPara="1" rIns="0" wrap="square" tIns="0">
            <a:spAutoFit/>
          </a:bodyPr>
          <a:lstStyle/>
          <a:p>
            <a:pPr indent="0" lvl="0" marL="0" marR="0" rtl="0" algn="just">
              <a:lnSpc>
                <a:spcPct val="122007"/>
              </a:lnSpc>
              <a:spcBef>
                <a:spcPts val="0"/>
              </a:spcBef>
              <a:spcAft>
                <a:spcPts val="0"/>
              </a:spcAft>
              <a:buNone/>
            </a:pPr>
            <a:r>
              <a:rPr lang="en-US" sz="2999">
                <a:solidFill>
                  <a:srgbClr val="F4F6FC"/>
                </a:solidFill>
                <a:latin typeface="Arial"/>
                <a:ea typeface="Arial"/>
                <a:cs typeface="Arial"/>
                <a:sym typeface="Arial"/>
              </a:rPr>
              <a:t>hombre(juan).</a:t>
            </a:r>
            <a:endParaRPr/>
          </a:p>
          <a:p>
            <a:pPr indent="0" lvl="0" marL="0" marR="0" rtl="0" algn="just">
              <a:lnSpc>
                <a:spcPct val="122007"/>
              </a:lnSpc>
              <a:spcBef>
                <a:spcPts val="0"/>
              </a:spcBef>
              <a:spcAft>
                <a:spcPts val="0"/>
              </a:spcAft>
              <a:buNone/>
            </a:pPr>
            <a:r>
              <a:rPr lang="en-US" sz="2999">
                <a:solidFill>
                  <a:srgbClr val="F4F6FC"/>
                </a:solidFill>
                <a:latin typeface="Arial"/>
                <a:ea typeface="Arial"/>
                <a:cs typeface="Arial"/>
                <a:sym typeface="Arial"/>
              </a:rPr>
              <a:t>hombre(pedro).</a:t>
            </a:r>
            <a:endParaRPr/>
          </a:p>
          <a:p>
            <a:pPr indent="0" lvl="0" marL="0" marR="0" rtl="0" algn="just">
              <a:lnSpc>
                <a:spcPct val="81360"/>
              </a:lnSpc>
              <a:spcBef>
                <a:spcPts val="0"/>
              </a:spcBef>
              <a:spcAft>
                <a:spcPts val="0"/>
              </a:spcAft>
              <a:buNone/>
            </a:pPr>
            <a:r>
              <a:t/>
            </a:r>
            <a:endParaRPr sz="2999">
              <a:solidFill>
                <a:srgbClr val="F4F6FC"/>
              </a:solidFill>
              <a:latin typeface="Arial"/>
              <a:ea typeface="Arial"/>
              <a:cs typeface="Arial"/>
              <a:sym typeface="Arial"/>
            </a:endParaRPr>
          </a:p>
          <a:p>
            <a:pPr indent="0" lvl="0" marL="0" marR="0" rtl="0" algn="just">
              <a:lnSpc>
                <a:spcPct val="122007"/>
              </a:lnSpc>
              <a:spcBef>
                <a:spcPts val="0"/>
              </a:spcBef>
              <a:spcAft>
                <a:spcPts val="0"/>
              </a:spcAft>
              <a:buNone/>
            </a:pPr>
            <a:r>
              <a:rPr lang="en-US" sz="2999">
                <a:solidFill>
                  <a:srgbClr val="F4F6FC"/>
                </a:solidFill>
                <a:latin typeface="Arial"/>
                <a:ea typeface="Arial"/>
                <a:cs typeface="Arial"/>
                <a:sym typeface="Arial"/>
              </a:rPr>
              <a:t>mujer(maria).</a:t>
            </a:r>
            <a:endParaRPr/>
          </a:p>
          <a:p>
            <a:pPr indent="0" lvl="0" marL="0" marR="0" rtl="0" algn="just">
              <a:lnSpc>
                <a:spcPct val="81360"/>
              </a:lnSpc>
              <a:spcBef>
                <a:spcPts val="0"/>
              </a:spcBef>
              <a:spcAft>
                <a:spcPts val="0"/>
              </a:spcAft>
              <a:buNone/>
            </a:pPr>
            <a:r>
              <a:t/>
            </a:r>
            <a:endParaRPr sz="2999">
              <a:solidFill>
                <a:srgbClr val="F4F6FC"/>
              </a:solidFill>
              <a:latin typeface="Arial"/>
              <a:ea typeface="Arial"/>
              <a:cs typeface="Arial"/>
              <a:sym typeface="Arial"/>
            </a:endParaRPr>
          </a:p>
          <a:p>
            <a:pPr indent="0" lvl="0" marL="0" marR="0" rtl="0" algn="just">
              <a:lnSpc>
                <a:spcPct val="122007"/>
              </a:lnSpc>
              <a:spcBef>
                <a:spcPts val="0"/>
              </a:spcBef>
              <a:spcAft>
                <a:spcPts val="0"/>
              </a:spcAft>
              <a:buNone/>
            </a:pPr>
            <a:r>
              <a:rPr lang="en-US" sz="2999">
                <a:solidFill>
                  <a:srgbClr val="F4F6FC"/>
                </a:solidFill>
                <a:latin typeface="Arial"/>
                <a:ea typeface="Arial"/>
                <a:cs typeface="Arial"/>
                <a:sym typeface="Arial"/>
              </a:rPr>
              <a:t>% Consultas</a:t>
            </a:r>
            <a:endParaRPr/>
          </a:p>
          <a:p>
            <a:pPr indent="0" lvl="0" marL="0" marR="0" rtl="0" algn="just">
              <a:lnSpc>
                <a:spcPct val="122007"/>
              </a:lnSpc>
              <a:spcBef>
                <a:spcPts val="0"/>
              </a:spcBef>
              <a:spcAft>
                <a:spcPts val="0"/>
              </a:spcAft>
              <a:buNone/>
            </a:pPr>
            <a:r>
              <a:rPr lang="en-US" sz="2999">
                <a:solidFill>
                  <a:srgbClr val="F4F6FC"/>
                </a:solidFill>
                <a:latin typeface="Arial"/>
                <a:ea typeface="Arial"/>
                <a:cs typeface="Arial"/>
                <a:sym typeface="Arial"/>
              </a:rPr>
              <a:t>?- \+ hombre(maria).</a:t>
            </a:r>
            <a:endParaRPr/>
          </a:p>
          <a:p>
            <a:pPr indent="0" lvl="0" marL="0" marR="0" rtl="0" algn="just">
              <a:lnSpc>
                <a:spcPct val="122007"/>
              </a:lnSpc>
              <a:spcBef>
                <a:spcPts val="0"/>
              </a:spcBef>
              <a:spcAft>
                <a:spcPts val="0"/>
              </a:spcAft>
              <a:buNone/>
            </a:pPr>
            <a:r>
              <a:rPr lang="en-US" sz="2999">
                <a:solidFill>
                  <a:srgbClr val="F4F6FC"/>
                </a:solidFill>
                <a:latin typeface="Arial"/>
                <a:ea typeface="Arial"/>
                <a:cs typeface="Arial"/>
                <a:sym typeface="Arial"/>
              </a:rPr>
              <a:t>true.   % Porque no puede probar que maria sea hombre</a:t>
            </a:r>
            <a:endParaRPr/>
          </a:p>
          <a:p>
            <a:pPr indent="0" lvl="0" marL="0" marR="0" rtl="0" algn="just">
              <a:lnSpc>
                <a:spcPct val="81360"/>
              </a:lnSpc>
              <a:spcBef>
                <a:spcPts val="0"/>
              </a:spcBef>
              <a:spcAft>
                <a:spcPts val="0"/>
              </a:spcAft>
              <a:buNone/>
            </a:pPr>
            <a:r>
              <a:t/>
            </a:r>
            <a:endParaRPr sz="2999">
              <a:solidFill>
                <a:srgbClr val="F4F6FC"/>
              </a:solidFill>
              <a:latin typeface="Arial"/>
              <a:ea typeface="Arial"/>
              <a:cs typeface="Arial"/>
              <a:sym typeface="Arial"/>
            </a:endParaRPr>
          </a:p>
          <a:p>
            <a:pPr indent="0" lvl="0" marL="0" marR="0" rtl="0" algn="just">
              <a:lnSpc>
                <a:spcPct val="122007"/>
              </a:lnSpc>
              <a:spcBef>
                <a:spcPts val="0"/>
              </a:spcBef>
              <a:spcAft>
                <a:spcPts val="0"/>
              </a:spcAft>
              <a:buNone/>
            </a:pPr>
            <a:r>
              <a:rPr lang="en-US" sz="2999">
                <a:solidFill>
                  <a:srgbClr val="F4F6FC"/>
                </a:solidFill>
                <a:latin typeface="Arial"/>
                <a:ea typeface="Arial"/>
                <a:cs typeface="Arial"/>
                <a:sym typeface="Arial"/>
              </a:rPr>
              <a:t>?- \+ mujer(juan).</a:t>
            </a:r>
            <a:endParaRPr/>
          </a:p>
          <a:p>
            <a:pPr indent="0" lvl="0" marL="0" marR="0" rtl="0" algn="just">
              <a:lnSpc>
                <a:spcPct val="122007"/>
              </a:lnSpc>
              <a:spcBef>
                <a:spcPts val="0"/>
              </a:spcBef>
              <a:spcAft>
                <a:spcPts val="0"/>
              </a:spcAft>
              <a:buNone/>
            </a:pPr>
            <a:r>
              <a:rPr lang="en-US" sz="2999">
                <a:solidFill>
                  <a:srgbClr val="F4F6FC"/>
                </a:solidFill>
                <a:latin typeface="Arial"/>
                <a:ea typeface="Arial"/>
                <a:cs typeface="Arial"/>
                <a:sym typeface="Arial"/>
              </a:rPr>
              <a:t>true.   % Porque no puede probar que juan sea mujer</a:t>
            </a:r>
            <a:endParaRPr/>
          </a:p>
          <a:p>
            <a:pPr indent="0" lvl="0" marL="0" marR="0" rtl="0" algn="just">
              <a:lnSpc>
                <a:spcPct val="81360"/>
              </a:lnSpc>
              <a:spcBef>
                <a:spcPts val="0"/>
              </a:spcBef>
              <a:spcAft>
                <a:spcPts val="0"/>
              </a:spcAft>
              <a:buNone/>
            </a:pPr>
            <a:r>
              <a:t/>
            </a:r>
            <a:endParaRPr sz="2999">
              <a:solidFill>
                <a:srgbClr val="F4F6FC"/>
              </a:solidFill>
              <a:latin typeface="Arial"/>
              <a:ea typeface="Arial"/>
              <a:cs typeface="Arial"/>
              <a:sym typeface="Arial"/>
            </a:endParaRPr>
          </a:p>
          <a:p>
            <a:pPr indent="0" lvl="0" marL="0" marR="0" rtl="0" algn="just">
              <a:lnSpc>
                <a:spcPct val="122007"/>
              </a:lnSpc>
              <a:spcBef>
                <a:spcPts val="0"/>
              </a:spcBef>
              <a:spcAft>
                <a:spcPts val="0"/>
              </a:spcAft>
              <a:buNone/>
            </a:pPr>
            <a:r>
              <a:rPr lang="en-US" sz="2999">
                <a:solidFill>
                  <a:srgbClr val="F4F6FC"/>
                </a:solidFill>
                <a:latin typeface="Arial"/>
                <a:ea typeface="Arial"/>
                <a:cs typeface="Arial"/>
                <a:sym typeface="Arial"/>
              </a:rPr>
              <a:t>?- \+ mujer(maria).</a:t>
            </a:r>
            <a:endParaRPr/>
          </a:p>
          <a:p>
            <a:pPr indent="0" lvl="0" marL="0" marR="0" rtl="0" algn="just">
              <a:lnSpc>
                <a:spcPct val="122007"/>
              </a:lnSpc>
              <a:spcBef>
                <a:spcPts val="0"/>
              </a:spcBef>
              <a:spcAft>
                <a:spcPts val="0"/>
              </a:spcAft>
              <a:buNone/>
            </a:pPr>
            <a:r>
              <a:rPr lang="en-US" sz="2999">
                <a:solidFill>
                  <a:srgbClr val="F4F6FC"/>
                </a:solidFill>
                <a:latin typeface="Arial"/>
                <a:ea typeface="Arial"/>
                <a:cs typeface="Arial"/>
                <a:sym typeface="Arial"/>
              </a:rPr>
              <a:t>false.  % Porque puede probar que maria sí es mujer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68" name="Google Shape;268;p10"/>
          <p:cNvGrpSpPr/>
          <p:nvPr/>
        </p:nvGrpSpPr>
        <p:grpSpPr>
          <a:xfrm rot="-5400000">
            <a:off x="6095749" y="2420783"/>
            <a:ext cx="6818207" cy="21127995"/>
            <a:chOff x="0" y="-47625"/>
            <a:chExt cx="1795742" cy="5564575"/>
          </a:xfrm>
        </p:grpSpPr>
        <p:sp>
          <p:nvSpPr>
            <p:cNvPr id="269" name="Google Shape;269;p10"/>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10"/>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1" name="Google Shape;271;p10"/>
          <p:cNvGrpSpPr/>
          <p:nvPr/>
        </p:nvGrpSpPr>
        <p:grpSpPr>
          <a:xfrm rot="-5400000">
            <a:off x="3906656" y="-11095415"/>
            <a:ext cx="2045233" cy="21127995"/>
            <a:chOff x="0" y="-47625"/>
            <a:chExt cx="538662" cy="5564575"/>
          </a:xfrm>
        </p:grpSpPr>
        <p:sp>
          <p:nvSpPr>
            <p:cNvPr id="272" name="Google Shape;272;p10"/>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3" name="Google Shape;273;p10"/>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74" name="Google Shape;274;p10"/>
          <p:cNvGrpSpPr/>
          <p:nvPr/>
        </p:nvGrpSpPr>
        <p:grpSpPr>
          <a:xfrm rot="2700000">
            <a:off x="13798263" y="-60632"/>
            <a:ext cx="4685776" cy="1748082"/>
            <a:chOff x="0" y="-47625"/>
            <a:chExt cx="1234114" cy="460400"/>
          </a:xfrm>
        </p:grpSpPr>
        <p:sp>
          <p:nvSpPr>
            <p:cNvPr id="275" name="Google Shape;275;p10"/>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10"/>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7" name="Google Shape;277;p10"/>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0"/>
          <p:cNvSpPr txBox="1"/>
          <p:nvPr/>
        </p:nvSpPr>
        <p:spPr>
          <a:xfrm>
            <a:off x="670142" y="1261052"/>
            <a:ext cx="16050000" cy="1144800"/>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lang="en-US" sz="3099">
                <a:solidFill>
                  <a:srgbClr val="050A30"/>
                </a:solidFill>
                <a:latin typeface="Arial"/>
                <a:ea typeface="Arial"/>
                <a:cs typeface="Arial"/>
                <a:sym typeface="Arial"/>
              </a:rPr>
              <a:t>Internamente, la negación como falla puede modelarse usando un corte (!) seguido de una regla que siempre falla (fail), como esta:</a:t>
            </a:r>
            <a:endParaRPr/>
          </a:p>
        </p:txBody>
      </p:sp>
      <p:sp>
        <p:nvSpPr>
          <p:cNvPr id="279" name="Google Shape;279;p10"/>
          <p:cNvSpPr txBox="1"/>
          <p:nvPr/>
        </p:nvSpPr>
        <p:spPr>
          <a:xfrm>
            <a:off x="13531316" y="9080500"/>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280" name="Google Shape;280;p10"/>
          <p:cNvSpPr txBox="1"/>
          <p:nvPr/>
        </p:nvSpPr>
        <p:spPr>
          <a:xfrm>
            <a:off x="1028700" y="511026"/>
            <a:ext cx="15333000" cy="7695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5000">
                <a:solidFill>
                  <a:srgbClr val="050A30"/>
                </a:solidFill>
                <a:latin typeface="Arial"/>
                <a:ea typeface="Arial"/>
                <a:cs typeface="Arial"/>
                <a:sym typeface="Arial"/>
              </a:rPr>
              <a:t>¿Cómo se implementa internamente?</a:t>
            </a:r>
            <a:endParaRPr/>
          </a:p>
        </p:txBody>
      </p:sp>
      <p:sp>
        <p:nvSpPr>
          <p:cNvPr id="281" name="Google Shape;281;p10"/>
          <p:cNvSpPr/>
          <p:nvPr/>
        </p:nvSpPr>
        <p:spPr>
          <a:xfrm>
            <a:off x="8225127" y="1881703"/>
            <a:ext cx="4610222" cy="991446"/>
          </a:xfrm>
          <a:custGeom>
            <a:rect b="b" l="l" r="r" t="t"/>
            <a:pathLst>
              <a:path extrusionOk="0" h="991446" w="4610222">
                <a:moveTo>
                  <a:pt x="0" y="0"/>
                </a:moveTo>
                <a:lnTo>
                  <a:pt x="4610221" y="0"/>
                </a:lnTo>
                <a:lnTo>
                  <a:pt x="4610221" y="991446"/>
                </a:lnTo>
                <a:lnTo>
                  <a:pt x="0" y="991446"/>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0"/>
          <p:cNvSpPr txBox="1"/>
          <p:nvPr/>
        </p:nvSpPr>
        <p:spPr>
          <a:xfrm>
            <a:off x="670142" y="2943168"/>
            <a:ext cx="16050000" cy="4914900"/>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lang="en-US" sz="3099">
                <a:solidFill>
                  <a:srgbClr val="050A30"/>
                </a:solidFill>
                <a:latin typeface="Arial"/>
                <a:ea typeface="Arial"/>
                <a:cs typeface="Arial"/>
                <a:sym typeface="Arial"/>
              </a:rPr>
              <a:t>Esto se interpreta así:</a:t>
            </a:r>
            <a:endParaRPr/>
          </a:p>
          <a:p>
            <a:pPr indent="0" lvl="0" marL="0" marR="0" rtl="0" algn="just">
              <a:lnSpc>
                <a:spcPct val="45143"/>
              </a:lnSpc>
              <a:spcBef>
                <a:spcPts val="0"/>
              </a:spcBef>
              <a:spcAft>
                <a:spcPts val="0"/>
              </a:spcAft>
              <a:buNone/>
            </a:pPr>
            <a:r>
              <a:t/>
            </a:r>
            <a:endParaRPr sz="3099">
              <a:solidFill>
                <a:srgbClr val="050A30"/>
              </a:solidFill>
              <a:latin typeface="Arial"/>
              <a:ea typeface="Arial"/>
              <a:cs typeface="Arial"/>
              <a:sym typeface="Arial"/>
            </a:endParaRPr>
          </a:p>
          <a:p>
            <a:pPr indent="-334642" lvl="1" marL="669285" marR="0" rtl="0" algn="just">
              <a:lnSpc>
                <a:spcPct val="140012"/>
              </a:lnSpc>
              <a:spcBef>
                <a:spcPts val="0"/>
              </a:spcBef>
              <a:spcAft>
                <a:spcPts val="0"/>
              </a:spcAft>
              <a:buClr>
                <a:srgbClr val="050A30"/>
              </a:buClr>
              <a:buSzPts val="3099"/>
              <a:buFont typeface="Arial"/>
              <a:buChar char="•"/>
            </a:pPr>
            <a:r>
              <a:rPr b="0" i="0" lang="en-US" sz="3099" u="none" cap="none" strike="noStrike">
                <a:solidFill>
                  <a:srgbClr val="050A30"/>
                </a:solidFill>
                <a:latin typeface="Arial"/>
                <a:ea typeface="Arial"/>
                <a:cs typeface="Arial"/>
                <a:sym typeface="Arial"/>
              </a:rPr>
              <a:t>Si G es cierto (G tiene éxito), el corte ! impide cualquier otra alternativa y fail fuerza el fallo.</a:t>
            </a:r>
            <a:endParaRPr/>
          </a:p>
          <a:p>
            <a:pPr indent="-334642" lvl="1" marL="669285" marR="0" rtl="0" algn="just">
              <a:lnSpc>
                <a:spcPct val="140012"/>
              </a:lnSpc>
              <a:spcBef>
                <a:spcPts val="0"/>
              </a:spcBef>
              <a:spcAft>
                <a:spcPts val="0"/>
              </a:spcAft>
              <a:buClr>
                <a:srgbClr val="050A30"/>
              </a:buClr>
              <a:buSzPts val="3099"/>
              <a:buFont typeface="Arial"/>
              <a:buChar char="•"/>
            </a:pPr>
            <a:r>
              <a:rPr b="0" i="0" lang="en-US" sz="3099" u="none" cap="none" strike="noStrike">
                <a:solidFill>
                  <a:srgbClr val="050A30"/>
                </a:solidFill>
                <a:latin typeface="Arial"/>
                <a:ea typeface="Arial"/>
                <a:cs typeface="Arial"/>
                <a:sym typeface="Arial"/>
              </a:rPr>
              <a:t>Si G falla, entonces la segunda cláusula (not(_)) tiene éxito.</a:t>
            </a:r>
            <a:endParaRPr/>
          </a:p>
          <a:p>
            <a:pPr indent="0" lvl="0" marL="0" marR="0" rtl="0" algn="just">
              <a:lnSpc>
                <a:spcPct val="45143"/>
              </a:lnSpc>
              <a:spcBef>
                <a:spcPts val="0"/>
              </a:spcBef>
              <a:spcAft>
                <a:spcPts val="0"/>
              </a:spcAft>
              <a:buNone/>
            </a:pPr>
            <a:r>
              <a:t/>
            </a:r>
            <a:endParaRPr sz="3099">
              <a:solidFill>
                <a:srgbClr val="050A30"/>
              </a:solidFill>
              <a:latin typeface="Arial"/>
              <a:ea typeface="Arial"/>
              <a:cs typeface="Arial"/>
              <a:sym typeface="Arial"/>
            </a:endParaRPr>
          </a:p>
          <a:p>
            <a:pPr indent="0" lvl="0" marL="0" marR="0" rtl="0" algn="just">
              <a:lnSpc>
                <a:spcPct val="140012"/>
              </a:lnSpc>
              <a:spcBef>
                <a:spcPts val="0"/>
              </a:spcBef>
              <a:spcAft>
                <a:spcPts val="0"/>
              </a:spcAft>
              <a:buNone/>
            </a:pPr>
            <a:r>
              <a:rPr lang="en-US" sz="3099">
                <a:solidFill>
                  <a:srgbClr val="050A30"/>
                </a:solidFill>
                <a:latin typeface="Arial"/>
                <a:ea typeface="Arial"/>
                <a:cs typeface="Arial"/>
                <a:sym typeface="Arial"/>
              </a:rPr>
              <a:t>Este patrón evita que Prolog siga buscando soluciones alternativas y define claramente el comportamiento del not.</a:t>
            </a:r>
            <a:endParaRPr/>
          </a:p>
          <a:p>
            <a:pPr indent="0" lvl="0" marL="0" marR="0" rtl="0" algn="just">
              <a:lnSpc>
                <a:spcPct val="140012"/>
              </a:lnSpc>
              <a:spcBef>
                <a:spcPts val="0"/>
              </a:spcBef>
              <a:spcAft>
                <a:spcPts val="0"/>
              </a:spcAft>
              <a:buNone/>
            </a:pPr>
            <a:r>
              <a:t/>
            </a:r>
            <a:endParaRPr sz="3099">
              <a:solidFill>
                <a:srgbClr val="050A30"/>
              </a:solidFill>
              <a:latin typeface="Arial"/>
              <a:ea typeface="Arial"/>
              <a:cs typeface="Arial"/>
              <a:sym typeface="Arial"/>
            </a:endParaRPr>
          </a:p>
        </p:txBody>
      </p:sp>
      <p:sp>
        <p:nvSpPr>
          <p:cNvPr id="283" name="Google Shape;283;p10"/>
          <p:cNvSpPr txBox="1"/>
          <p:nvPr/>
        </p:nvSpPr>
        <p:spPr>
          <a:xfrm>
            <a:off x="670140" y="7469175"/>
            <a:ext cx="14041500" cy="2462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i="1" lang="en-US" sz="2000">
                <a:solidFill>
                  <a:srgbClr val="050A30"/>
                </a:solidFill>
                <a:latin typeface="Arial"/>
                <a:ea typeface="Arial"/>
                <a:cs typeface="Arial"/>
                <a:sym typeface="Arial"/>
              </a:rPr>
              <a:t>Consideraciones importantes</a:t>
            </a:r>
            <a:endParaRPr/>
          </a:p>
          <a:p>
            <a:pPr indent="-215900" lvl="1" marL="431801" marR="0" rtl="0" algn="just">
              <a:lnSpc>
                <a:spcPct val="140000"/>
              </a:lnSpc>
              <a:spcBef>
                <a:spcPts val="0"/>
              </a:spcBef>
              <a:spcAft>
                <a:spcPts val="0"/>
              </a:spcAft>
              <a:buClr>
                <a:srgbClr val="050A30"/>
              </a:buClr>
              <a:buSzPts val="2000"/>
              <a:buFont typeface="Arial"/>
              <a:buChar char="•"/>
            </a:pPr>
            <a:r>
              <a:rPr b="1" i="1" lang="en-US" sz="2000" u="none" cap="none" strike="noStrike">
                <a:solidFill>
                  <a:srgbClr val="050A30"/>
                </a:solidFill>
                <a:latin typeface="Arial"/>
                <a:ea typeface="Arial"/>
                <a:cs typeface="Arial"/>
                <a:sym typeface="Arial"/>
              </a:rPr>
              <a:t>Incompleto:</a:t>
            </a:r>
            <a:r>
              <a:rPr b="0" i="1" lang="en-US" sz="2000" u="none" cap="none" strike="noStrike">
                <a:solidFill>
                  <a:srgbClr val="050A30"/>
                </a:solidFill>
                <a:latin typeface="Arial"/>
                <a:ea typeface="Arial"/>
                <a:cs typeface="Arial"/>
                <a:sym typeface="Arial"/>
              </a:rPr>
              <a:t> La negación como falla no es lógica pura; puede dar resultados incorrectos si hay variables no instanciadas.</a:t>
            </a:r>
            <a:endParaRPr/>
          </a:p>
          <a:p>
            <a:pPr indent="-215900" lvl="1" marL="431801" marR="0" rtl="0" algn="just">
              <a:lnSpc>
                <a:spcPct val="140000"/>
              </a:lnSpc>
              <a:spcBef>
                <a:spcPts val="0"/>
              </a:spcBef>
              <a:spcAft>
                <a:spcPts val="0"/>
              </a:spcAft>
              <a:buClr>
                <a:srgbClr val="050A30"/>
              </a:buClr>
              <a:buSzPts val="2000"/>
              <a:buFont typeface="Arial"/>
              <a:buChar char="•"/>
            </a:pPr>
            <a:r>
              <a:rPr b="1" i="1" lang="en-US" sz="2000" u="none" cap="none" strike="noStrike">
                <a:solidFill>
                  <a:srgbClr val="050A30"/>
                </a:solidFill>
                <a:latin typeface="Arial"/>
                <a:ea typeface="Arial"/>
                <a:cs typeface="Arial"/>
                <a:sym typeface="Arial"/>
              </a:rPr>
              <a:t>No es lógica clásica:</a:t>
            </a:r>
            <a:r>
              <a:rPr b="0" i="1" lang="en-US" sz="2000" u="none" cap="none" strike="noStrike">
                <a:solidFill>
                  <a:srgbClr val="050A30"/>
                </a:solidFill>
                <a:latin typeface="Arial"/>
                <a:ea typeface="Arial"/>
                <a:cs typeface="Arial"/>
                <a:sym typeface="Arial"/>
              </a:rPr>
              <a:t> No se debe asumir que \+ p(X) significa que not(p(X)) en lógica formal.</a:t>
            </a:r>
            <a:endParaRPr/>
          </a:p>
          <a:p>
            <a:pPr indent="-215900" lvl="1" marL="431801" marR="0" rtl="0" algn="just">
              <a:lnSpc>
                <a:spcPct val="140000"/>
              </a:lnSpc>
              <a:spcBef>
                <a:spcPts val="0"/>
              </a:spcBef>
              <a:spcAft>
                <a:spcPts val="0"/>
              </a:spcAft>
              <a:buClr>
                <a:srgbClr val="050A30"/>
              </a:buClr>
              <a:buSzPts val="2000"/>
              <a:buFont typeface="Arial"/>
              <a:buChar char="•"/>
            </a:pPr>
            <a:r>
              <a:rPr b="1" i="1" lang="en-US" sz="2000" u="none" cap="none" strike="noStrike">
                <a:solidFill>
                  <a:srgbClr val="050A30"/>
                </a:solidFill>
                <a:latin typeface="Arial"/>
                <a:ea typeface="Arial"/>
                <a:cs typeface="Arial"/>
                <a:sym typeface="Arial"/>
              </a:rPr>
              <a:t>Cuidado con predicados no cerrados:</a:t>
            </a:r>
            <a:r>
              <a:rPr b="0" i="1" lang="en-US" sz="2000" u="none" cap="none" strike="noStrike">
                <a:solidFill>
                  <a:srgbClr val="050A30"/>
                </a:solidFill>
                <a:latin typeface="Arial"/>
                <a:ea typeface="Arial"/>
                <a:cs typeface="Arial"/>
                <a:sym typeface="Arial"/>
              </a:rPr>
              <a:t> Si la base de datos no está completa, las conclusiones pueden ser engañosas.</a:t>
            </a:r>
            <a:endParaRPr/>
          </a:p>
          <a:p>
            <a:pPr indent="0" lvl="0" marL="0" marR="0" rtl="0" algn="just">
              <a:lnSpc>
                <a:spcPct val="140000"/>
              </a:lnSpc>
              <a:spcBef>
                <a:spcPts val="0"/>
              </a:spcBef>
              <a:spcAft>
                <a:spcPts val="0"/>
              </a:spcAft>
              <a:buNone/>
            </a:pPr>
            <a:r>
              <a:t/>
            </a:r>
            <a:endParaRPr i="1" sz="2000">
              <a:solidFill>
                <a:srgbClr val="050A3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89" name="Google Shape;289;p11"/>
          <p:cNvGrpSpPr/>
          <p:nvPr/>
        </p:nvGrpSpPr>
        <p:grpSpPr>
          <a:xfrm rot="-5400000">
            <a:off x="6095749" y="2420783"/>
            <a:ext cx="6818207" cy="21127995"/>
            <a:chOff x="0" y="-47625"/>
            <a:chExt cx="1795742" cy="5564575"/>
          </a:xfrm>
        </p:grpSpPr>
        <p:sp>
          <p:nvSpPr>
            <p:cNvPr id="290" name="Google Shape;290;p11"/>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1"/>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2" name="Google Shape;292;p11"/>
          <p:cNvGrpSpPr/>
          <p:nvPr/>
        </p:nvGrpSpPr>
        <p:grpSpPr>
          <a:xfrm rot="-5400000">
            <a:off x="3906656" y="-11095415"/>
            <a:ext cx="2045233" cy="21127995"/>
            <a:chOff x="0" y="-47625"/>
            <a:chExt cx="538662" cy="5564575"/>
          </a:xfrm>
        </p:grpSpPr>
        <p:sp>
          <p:nvSpPr>
            <p:cNvPr id="293" name="Google Shape;293;p11"/>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1"/>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95" name="Google Shape;295;p11"/>
          <p:cNvGrpSpPr/>
          <p:nvPr/>
        </p:nvGrpSpPr>
        <p:grpSpPr>
          <a:xfrm rot="2700000">
            <a:off x="13798263" y="-60632"/>
            <a:ext cx="4685776" cy="1748082"/>
            <a:chOff x="0" y="-47625"/>
            <a:chExt cx="1234114" cy="460400"/>
          </a:xfrm>
        </p:grpSpPr>
        <p:sp>
          <p:nvSpPr>
            <p:cNvPr id="296" name="Google Shape;296;p11"/>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1"/>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8" name="Google Shape;298;p11"/>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1"/>
          <p:cNvSpPr txBox="1"/>
          <p:nvPr/>
        </p:nvSpPr>
        <p:spPr>
          <a:xfrm>
            <a:off x="1028700" y="8699056"/>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050A30"/>
                </a:solidFill>
                <a:latin typeface="Arial"/>
                <a:ea typeface="Arial"/>
                <a:cs typeface="Arial"/>
                <a:sym typeface="Arial"/>
              </a:rPr>
              <a:t>Elaborado por: Robin Omar Buezo Díaz</a:t>
            </a:r>
            <a:endParaRPr/>
          </a:p>
        </p:txBody>
      </p:sp>
      <p:sp>
        <p:nvSpPr>
          <p:cNvPr id="300" name="Google Shape;300;p11"/>
          <p:cNvSpPr txBox="1"/>
          <p:nvPr/>
        </p:nvSpPr>
        <p:spPr>
          <a:xfrm>
            <a:off x="1477486" y="2636082"/>
            <a:ext cx="15333028" cy="1285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050A30"/>
                </a:solidFill>
                <a:latin typeface="Arial"/>
                <a:ea typeface="Arial"/>
                <a:cs typeface="Arial"/>
                <a:sym typeface="Arial"/>
              </a:rPr>
              <a:t>Ciclos y Recursión</a:t>
            </a:r>
            <a:endParaRPr/>
          </a:p>
        </p:txBody>
      </p:sp>
      <p:sp>
        <p:nvSpPr>
          <p:cNvPr id="301" name="Google Shape;301;p11"/>
          <p:cNvSpPr txBox="1"/>
          <p:nvPr/>
        </p:nvSpPr>
        <p:spPr>
          <a:xfrm>
            <a:off x="2095667" y="3855282"/>
            <a:ext cx="12642554" cy="530861"/>
          </a:xfrm>
          <a:prstGeom prst="rect">
            <a:avLst/>
          </a:prstGeom>
          <a:noFill/>
          <a:ln>
            <a:noFill/>
          </a:ln>
        </p:spPr>
        <p:txBody>
          <a:bodyPr anchorCtr="0" anchor="t" bIns="0" lIns="0" spcFirstLastPara="1" rIns="0" wrap="square" tIns="0">
            <a:spAutoFit/>
          </a:bodyPr>
          <a:lstStyle/>
          <a:p>
            <a:pPr indent="0" lvl="0" marL="0" marR="0" rtl="0" algn="just">
              <a:lnSpc>
                <a:spcPct val="241055"/>
              </a:lnSpc>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1"/>
          <p:cNvSpPr txBox="1"/>
          <p:nvPr/>
        </p:nvSpPr>
        <p:spPr>
          <a:xfrm>
            <a:off x="1477486" y="4319467"/>
            <a:ext cx="15333028" cy="2609851"/>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lang="en-US" sz="2999">
                <a:solidFill>
                  <a:srgbClr val="050A30"/>
                </a:solidFill>
                <a:latin typeface="Arial"/>
                <a:ea typeface="Arial"/>
                <a:cs typeface="Arial"/>
                <a:sym typeface="Arial"/>
              </a:rPr>
              <a:t>En lenguajes imperativos como Python, Java o C, las estructuras de control como for, while o do-while permiten realizar tareas repetitivas de manera explícita. Sin embargo, Prolog, como lenguaje declarativo, no posee estructuras de iteración tradicionales. En su lugar, la recursión es el principal mecanismo para procesar estructuras repetitivas o listas, realizar acumulaciones, y explorar soluciones en árboles de búsqueda.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12"/>
          <p:cNvSpPr txBox="1"/>
          <p:nvPr/>
        </p:nvSpPr>
        <p:spPr>
          <a:xfrm>
            <a:off x="1496536" y="485497"/>
            <a:ext cx="15333000" cy="1302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8465">
                <a:solidFill>
                  <a:srgbClr val="F4F6FC"/>
                </a:solidFill>
                <a:latin typeface="Arial"/>
                <a:ea typeface="Arial"/>
                <a:cs typeface="Arial"/>
                <a:sym typeface="Arial"/>
              </a:rPr>
              <a:t>Tipos de Recursión</a:t>
            </a:r>
            <a:endParaRPr/>
          </a:p>
        </p:txBody>
      </p:sp>
      <p:grpSp>
        <p:nvGrpSpPr>
          <p:cNvPr id="309" name="Google Shape;309;p12"/>
          <p:cNvGrpSpPr/>
          <p:nvPr/>
        </p:nvGrpSpPr>
        <p:grpSpPr>
          <a:xfrm rot="-5400000">
            <a:off x="6095749" y="2420783"/>
            <a:ext cx="6818207" cy="21127995"/>
            <a:chOff x="0" y="-47625"/>
            <a:chExt cx="1795742" cy="5564575"/>
          </a:xfrm>
        </p:grpSpPr>
        <p:sp>
          <p:nvSpPr>
            <p:cNvPr id="310" name="Google Shape;310;p12"/>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2"/>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2" name="Google Shape;312;p12"/>
          <p:cNvGrpSpPr/>
          <p:nvPr/>
        </p:nvGrpSpPr>
        <p:grpSpPr>
          <a:xfrm rot="-5400000">
            <a:off x="3906656" y="-11095415"/>
            <a:ext cx="2045233" cy="21127995"/>
            <a:chOff x="0" y="-47625"/>
            <a:chExt cx="538662" cy="5564575"/>
          </a:xfrm>
        </p:grpSpPr>
        <p:sp>
          <p:nvSpPr>
            <p:cNvPr id="313" name="Google Shape;313;p12"/>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2"/>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5" name="Google Shape;315;p12"/>
          <p:cNvGrpSpPr/>
          <p:nvPr/>
        </p:nvGrpSpPr>
        <p:grpSpPr>
          <a:xfrm rot="2700000">
            <a:off x="13798263" y="-60632"/>
            <a:ext cx="4685776" cy="1748082"/>
            <a:chOff x="0" y="-47625"/>
            <a:chExt cx="1234114" cy="460400"/>
          </a:xfrm>
        </p:grpSpPr>
        <p:sp>
          <p:nvSpPr>
            <p:cNvPr id="316" name="Google Shape;316;p12"/>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2"/>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8" name="Google Shape;318;p12"/>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19" name="Google Shape;319;p12"/>
          <p:cNvGrpSpPr/>
          <p:nvPr/>
        </p:nvGrpSpPr>
        <p:grpSpPr>
          <a:xfrm>
            <a:off x="1496525" y="1681025"/>
            <a:ext cx="7070591" cy="7149422"/>
            <a:chOff x="0" y="-47625"/>
            <a:chExt cx="1862201" cy="1679017"/>
          </a:xfrm>
        </p:grpSpPr>
        <p:sp>
          <p:nvSpPr>
            <p:cNvPr id="320" name="Google Shape;320;p12"/>
            <p:cNvSpPr/>
            <p:nvPr/>
          </p:nvSpPr>
          <p:spPr>
            <a:xfrm>
              <a:off x="0" y="0"/>
              <a:ext cx="1862201" cy="1631392"/>
            </a:xfrm>
            <a:custGeom>
              <a:rect b="b" l="l" r="r" t="t"/>
              <a:pathLst>
                <a:path extrusionOk="0" h="1631392" w="1862201">
                  <a:moveTo>
                    <a:pt x="55843" y="0"/>
                  </a:moveTo>
                  <a:lnTo>
                    <a:pt x="1806359" y="0"/>
                  </a:lnTo>
                  <a:cubicBezTo>
                    <a:pt x="1821169" y="0"/>
                    <a:pt x="1835373" y="5883"/>
                    <a:pt x="1845845" y="16356"/>
                  </a:cubicBezTo>
                  <a:cubicBezTo>
                    <a:pt x="1856318" y="26828"/>
                    <a:pt x="1862201" y="41032"/>
                    <a:pt x="1862201" y="55843"/>
                  </a:cubicBezTo>
                  <a:lnTo>
                    <a:pt x="1862201" y="1575549"/>
                  </a:lnTo>
                  <a:cubicBezTo>
                    <a:pt x="1862201" y="1590360"/>
                    <a:pt x="1856318" y="1604563"/>
                    <a:pt x="1845845" y="1615036"/>
                  </a:cubicBezTo>
                  <a:cubicBezTo>
                    <a:pt x="1835373" y="1625509"/>
                    <a:pt x="1821169" y="1631392"/>
                    <a:pt x="1806359" y="1631392"/>
                  </a:cubicBezTo>
                  <a:lnTo>
                    <a:pt x="55843" y="1631392"/>
                  </a:lnTo>
                  <a:cubicBezTo>
                    <a:pt x="41032" y="1631392"/>
                    <a:pt x="26828" y="1625509"/>
                    <a:pt x="16356" y="1615036"/>
                  </a:cubicBezTo>
                  <a:cubicBezTo>
                    <a:pt x="5883" y="1604563"/>
                    <a:pt x="0" y="1590360"/>
                    <a:pt x="0" y="1575549"/>
                  </a:cubicBezTo>
                  <a:lnTo>
                    <a:pt x="0" y="55843"/>
                  </a:lnTo>
                  <a:cubicBezTo>
                    <a:pt x="0" y="41032"/>
                    <a:pt x="5883" y="26828"/>
                    <a:pt x="16356" y="16356"/>
                  </a:cubicBezTo>
                  <a:cubicBezTo>
                    <a:pt x="26828" y="5883"/>
                    <a:pt x="41032" y="0"/>
                    <a:pt x="55843"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2"/>
            <p:cNvSpPr txBox="1"/>
            <p:nvPr/>
          </p:nvSpPr>
          <p:spPr>
            <a:xfrm>
              <a:off x="0" y="-47625"/>
              <a:ext cx="1862201" cy="1679017"/>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2" name="Google Shape;322;p12"/>
          <p:cNvSpPr txBox="1"/>
          <p:nvPr/>
        </p:nvSpPr>
        <p:spPr>
          <a:xfrm>
            <a:off x="1881013" y="2332170"/>
            <a:ext cx="6301500" cy="960300"/>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lang="en-US" sz="2599">
                <a:solidFill>
                  <a:srgbClr val="000000"/>
                </a:solidFill>
                <a:latin typeface="Arial"/>
                <a:ea typeface="Arial"/>
                <a:cs typeface="Arial"/>
                <a:sym typeface="Arial"/>
              </a:rPr>
              <a:t>Una función se llama a sí misma en su definición.</a:t>
            </a:r>
            <a:endParaRPr/>
          </a:p>
        </p:txBody>
      </p:sp>
      <p:sp>
        <p:nvSpPr>
          <p:cNvPr id="323" name="Google Shape;323;p12"/>
          <p:cNvSpPr txBox="1"/>
          <p:nvPr/>
        </p:nvSpPr>
        <p:spPr>
          <a:xfrm>
            <a:off x="12502616"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324" name="Google Shape;324;p12"/>
          <p:cNvSpPr txBox="1"/>
          <p:nvPr/>
        </p:nvSpPr>
        <p:spPr>
          <a:xfrm>
            <a:off x="1897451" y="1840066"/>
            <a:ext cx="6301500" cy="5694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699">
                <a:solidFill>
                  <a:srgbClr val="222222"/>
                </a:solidFill>
                <a:latin typeface="Arial"/>
                <a:ea typeface="Arial"/>
                <a:cs typeface="Arial"/>
                <a:sym typeface="Arial"/>
              </a:rPr>
              <a:t>Recursión Directa</a:t>
            </a:r>
            <a:endParaRPr/>
          </a:p>
        </p:txBody>
      </p:sp>
      <p:grpSp>
        <p:nvGrpSpPr>
          <p:cNvPr id="325" name="Google Shape;325;p12"/>
          <p:cNvGrpSpPr/>
          <p:nvPr/>
        </p:nvGrpSpPr>
        <p:grpSpPr>
          <a:xfrm>
            <a:off x="10033450" y="1621500"/>
            <a:ext cx="7070591" cy="7149422"/>
            <a:chOff x="0" y="-47625"/>
            <a:chExt cx="1862201" cy="1679017"/>
          </a:xfrm>
        </p:grpSpPr>
        <p:sp>
          <p:nvSpPr>
            <p:cNvPr id="326" name="Google Shape;326;p12"/>
            <p:cNvSpPr/>
            <p:nvPr/>
          </p:nvSpPr>
          <p:spPr>
            <a:xfrm>
              <a:off x="0" y="0"/>
              <a:ext cx="1862201" cy="1631392"/>
            </a:xfrm>
            <a:custGeom>
              <a:rect b="b" l="l" r="r" t="t"/>
              <a:pathLst>
                <a:path extrusionOk="0" h="1631392" w="1862201">
                  <a:moveTo>
                    <a:pt x="55843" y="0"/>
                  </a:moveTo>
                  <a:lnTo>
                    <a:pt x="1806359" y="0"/>
                  </a:lnTo>
                  <a:cubicBezTo>
                    <a:pt x="1821169" y="0"/>
                    <a:pt x="1835373" y="5883"/>
                    <a:pt x="1845845" y="16356"/>
                  </a:cubicBezTo>
                  <a:cubicBezTo>
                    <a:pt x="1856318" y="26828"/>
                    <a:pt x="1862201" y="41032"/>
                    <a:pt x="1862201" y="55843"/>
                  </a:cubicBezTo>
                  <a:lnTo>
                    <a:pt x="1862201" y="1575549"/>
                  </a:lnTo>
                  <a:cubicBezTo>
                    <a:pt x="1862201" y="1590360"/>
                    <a:pt x="1856318" y="1604563"/>
                    <a:pt x="1845845" y="1615036"/>
                  </a:cubicBezTo>
                  <a:cubicBezTo>
                    <a:pt x="1835373" y="1625509"/>
                    <a:pt x="1821169" y="1631392"/>
                    <a:pt x="1806359" y="1631392"/>
                  </a:cubicBezTo>
                  <a:lnTo>
                    <a:pt x="55843" y="1631392"/>
                  </a:lnTo>
                  <a:cubicBezTo>
                    <a:pt x="41032" y="1631392"/>
                    <a:pt x="26828" y="1625509"/>
                    <a:pt x="16356" y="1615036"/>
                  </a:cubicBezTo>
                  <a:cubicBezTo>
                    <a:pt x="5883" y="1604563"/>
                    <a:pt x="0" y="1590360"/>
                    <a:pt x="0" y="1575549"/>
                  </a:cubicBezTo>
                  <a:lnTo>
                    <a:pt x="0" y="55843"/>
                  </a:lnTo>
                  <a:cubicBezTo>
                    <a:pt x="0" y="41032"/>
                    <a:pt x="5883" y="26828"/>
                    <a:pt x="16356" y="16356"/>
                  </a:cubicBezTo>
                  <a:cubicBezTo>
                    <a:pt x="26828" y="5883"/>
                    <a:pt x="41032" y="0"/>
                    <a:pt x="55843"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12"/>
            <p:cNvSpPr txBox="1"/>
            <p:nvPr/>
          </p:nvSpPr>
          <p:spPr>
            <a:xfrm>
              <a:off x="0" y="-47625"/>
              <a:ext cx="1862201" cy="1679017"/>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8" name="Google Shape;328;p12"/>
          <p:cNvSpPr txBox="1"/>
          <p:nvPr/>
        </p:nvSpPr>
        <p:spPr>
          <a:xfrm>
            <a:off x="10417906" y="2241888"/>
            <a:ext cx="6301500" cy="1520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2600">
                <a:solidFill>
                  <a:srgbClr val="000000"/>
                </a:solidFill>
                <a:latin typeface="Arial"/>
                <a:ea typeface="Arial"/>
                <a:cs typeface="Arial"/>
                <a:sym typeface="Arial"/>
              </a:rPr>
              <a:t>Optimiza el uso de memoria, ya que la última llamada en la función es la recursión.</a:t>
            </a:r>
            <a:endParaRPr/>
          </a:p>
        </p:txBody>
      </p:sp>
      <p:sp>
        <p:nvSpPr>
          <p:cNvPr id="329" name="Google Shape;329;p12"/>
          <p:cNvSpPr txBox="1"/>
          <p:nvPr/>
        </p:nvSpPr>
        <p:spPr>
          <a:xfrm>
            <a:off x="10417906" y="1775435"/>
            <a:ext cx="6301500" cy="5694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699">
                <a:solidFill>
                  <a:srgbClr val="222222"/>
                </a:solidFill>
                <a:latin typeface="Arial"/>
                <a:ea typeface="Arial"/>
                <a:cs typeface="Arial"/>
                <a:sym typeface="Arial"/>
              </a:rPr>
              <a:t>Recursión de Cola</a:t>
            </a:r>
            <a:endParaRPr/>
          </a:p>
        </p:txBody>
      </p:sp>
      <p:sp>
        <p:nvSpPr>
          <p:cNvPr id="330" name="Google Shape;330;p12"/>
          <p:cNvSpPr txBox="1"/>
          <p:nvPr/>
        </p:nvSpPr>
        <p:spPr>
          <a:xfrm>
            <a:off x="1778463" y="3315327"/>
            <a:ext cx="6301500" cy="5321700"/>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factorial(0, 1). % Caso base: factorial de 0 es 1 factorial(N, F) :-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     N &gt; 0,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     N1 is N - 1,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     factorial(N1, F1), % Llamada recursiva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     F is N * F1. </a:t>
            </a:r>
            <a:endParaRPr/>
          </a:p>
          <a:p>
            <a:pPr indent="0" lvl="0" marL="0" marR="0" rtl="0" algn="l">
              <a:lnSpc>
                <a:spcPct val="60852"/>
              </a:lnSpc>
              <a:spcBef>
                <a:spcPts val="0"/>
              </a:spcBef>
              <a:spcAft>
                <a:spcPts val="0"/>
              </a:spcAft>
              <a:buNone/>
            </a:pPr>
            <a:r>
              <a:t/>
            </a:r>
            <a:endParaRPr b="1" i="1" sz="2299">
              <a:solidFill>
                <a:srgbClr val="000000"/>
              </a:solidFill>
              <a:latin typeface="Arial"/>
              <a:ea typeface="Arial"/>
              <a:cs typeface="Arial"/>
              <a:sym typeface="Arial"/>
            </a:endParaRPr>
          </a:p>
          <a:p>
            <a:pPr indent="0" lvl="0" marL="0" marR="0" rtl="0" algn="just">
              <a:lnSpc>
                <a:spcPct val="140000"/>
              </a:lnSpc>
              <a:spcBef>
                <a:spcPts val="0"/>
              </a:spcBef>
              <a:spcAft>
                <a:spcPts val="0"/>
              </a:spcAft>
              <a:buNone/>
            </a:pPr>
            <a:r>
              <a:rPr lang="en-US" sz="2100">
                <a:solidFill>
                  <a:srgbClr val="000000"/>
                </a:solidFill>
                <a:latin typeface="Arial"/>
                <a:ea typeface="Arial"/>
                <a:cs typeface="Arial"/>
                <a:sym typeface="Arial"/>
              </a:rPr>
              <a:t>Aquí, la llamada recursiva ocurre antes de la multiplicación. Esto requiere que el intérprete mantenga cada llamada en la pila, lo que puede provocar desbordamientos para valores grandes de N.</a:t>
            </a:r>
            <a:endParaRPr/>
          </a:p>
        </p:txBody>
      </p:sp>
      <p:sp>
        <p:nvSpPr>
          <p:cNvPr id="331" name="Google Shape;331;p12"/>
          <p:cNvSpPr txBox="1"/>
          <p:nvPr/>
        </p:nvSpPr>
        <p:spPr>
          <a:xfrm>
            <a:off x="10417906" y="3752367"/>
            <a:ext cx="6301500" cy="4739700"/>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factorial_tail(N, F) :- factorial_helper(N, 1, F).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factorial_helper(0, Acc, Acc). % Caso base factorial_helper(N, Acc, F) :-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     N &gt; 0,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     N1 is N - 1,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     Acc1 is Acc * N, </a:t>
            </a:r>
            <a:endParaRPr/>
          </a:p>
          <a:p>
            <a:pPr indent="0" lvl="0" marL="0" marR="0" rtl="0" algn="l">
              <a:lnSpc>
                <a:spcPct val="140017"/>
              </a:lnSpc>
              <a:spcBef>
                <a:spcPts val="0"/>
              </a:spcBef>
              <a:spcAft>
                <a:spcPts val="0"/>
              </a:spcAft>
              <a:buNone/>
            </a:pPr>
            <a:r>
              <a:rPr b="1" i="1" lang="en-US" sz="2299">
                <a:solidFill>
                  <a:srgbClr val="000000"/>
                </a:solidFill>
                <a:latin typeface="Arial"/>
                <a:ea typeface="Arial"/>
                <a:cs typeface="Arial"/>
                <a:sym typeface="Arial"/>
              </a:rPr>
              <a:t>     factorial_helper(N1, Acc1, F). </a:t>
            </a:r>
            <a:endParaRPr/>
          </a:p>
          <a:p>
            <a:pPr indent="0" lvl="0" marL="0" marR="0" rtl="0" algn="l">
              <a:lnSpc>
                <a:spcPct val="140017"/>
              </a:lnSpc>
              <a:spcBef>
                <a:spcPts val="0"/>
              </a:spcBef>
              <a:spcAft>
                <a:spcPts val="0"/>
              </a:spcAft>
              <a:buNone/>
            </a:pPr>
            <a:r>
              <a:t/>
            </a:r>
            <a:endParaRPr b="1" i="1" sz="2299">
              <a:solidFill>
                <a:srgbClr val="000000"/>
              </a:solidFill>
              <a:latin typeface="Arial"/>
              <a:ea typeface="Arial"/>
              <a:cs typeface="Arial"/>
              <a:sym typeface="Arial"/>
            </a:endParaRPr>
          </a:p>
          <a:p>
            <a:pPr indent="0" lvl="0" marL="0" marR="0" rtl="0" algn="just">
              <a:lnSpc>
                <a:spcPct val="140000"/>
              </a:lnSpc>
              <a:spcBef>
                <a:spcPts val="0"/>
              </a:spcBef>
              <a:spcAft>
                <a:spcPts val="0"/>
              </a:spcAft>
              <a:buNone/>
            </a:pPr>
            <a:r>
              <a:rPr lang="en-US" sz="2100">
                <a:solidFill>
                  <a:srgbClr val="000000"/>
                </a:solidFill>
                <a:latin typeface="Arial"/>
                <a:ea typeface="Arial"/>
                <a:cs typeface="Arial"/>
                <a:sym typeface="Arial"/>
              </a:rPr>
              <a:t>Acc actúa como un acumulador para llevar el resultado parcial.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13"/>
          <p:cNvSpPr txBox="1"/>
          <p:nvPr/>
        </p:nvSpPr>
        <p:spPr>
          <a:xfrm>
            <a:off x="1477486" y="1222573"/>
            <a:ext cx="15333028" cy="9239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6000">
                <a:solidFill>
                  <a:srgbClr val="F4F6FC"/>
                </a:solidFill>
                <a:latin typeface="Arial"/>
                <a:ea typeface="Arial"/>
                <a:cs typeface="Arial"/>
                <a:sym typeface="Arial"/>
              </a:rPr>
              <a:t>Ventajas de la Recursión en Prolog</a:t>
            </a:r>
            <a:endParaRPr/>
          </a:p>
        </p:txBody>
      </p:sp>
      <p:grpSp>
        <p:nvGrpSpPr>
          <p:cNvPr id="338" name="Google Shape;338;p13"/>
          <p:cNvGrpSpPr/>
          <p:nvPr/>
        </p:nvGrpSpPr>
        <p:grpSpPr>
          <a:xfrm rot="-5400000">
            <a:off x="6095749" y="2420783"/>
            <a:ext cx="6818207" cy="21127995"/>
            <a:chOff x="0" y="-47625"/>
            <a:chExt cx="1795742" cy="5564575"/>
          </a:xfrm>
        </p:grpSpPr>
        <p:sp>
          <p:nvSpPr>
            <p:cNvPr id="339" name="Google Shape;339;p13"/>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3"/>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1" name="Google Shape;341;p13"/>
          <p:cNvGrpSpPr/>
          <p:nvPr/>
        </p:nvGrpSpPr>
        <p:grpSpPr>
          <a:xfrm rot="-5400000">
            <a:off x="3906656" y="-11095415"/>
            <a:ext cx="2045233" cy="21127995"/>
            <a:chOff x="0" y="-47625"/>
            <a:chExt cx="538662" cy="5564575"/>
          </a:xfrm>
        </p:grpSpPr>
        <p:sp>
          <p:nvSpPr>
            <p:cNvPr id="342" name="Google Shape;342;p13"/>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13"/>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44" name="Google Shape;344;p13"/>
          <p:cNvGrpSpPr/>
          <p:nvPr/>
        </p:nvGrpSpPr>
        <p:grpSpPr>
          <a:xfrm rot="2700000">
            <a:off x="13798263" y="-60632"/>
            <a:ext cx="4685776" cy="1748082"/>
            <a:chOff x="0" y="-47625"/>
            <a:chExt cx="1234114" cy="460400"/>
          </a:xfrm>
        </p:grpSpPr>
        <p:sp>
          <p:nvSpPr>
            <p:cNvPr id="345" name="Google Shape;345;p13"/>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13"/>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7" name="Google Shape;347;p13"/>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48" name="Google Shape;348;p13"/>
          <p:cNvGrpSpPr/>
          <p:nvPr/>
        </p:nvGrpSpPr>
        <p:grpSpPr>
          <a:xfrm>
            <a:off x="1496536" y="2907295"/>
            <a:ext cx="6973192" cy="1848081"/>
            <a:chOff x="0" y="-47625"/>
            <a:chExt cx="1836561" cy="486737"/>
          </a:xfrm>
        </p:grpSpPr>
        <p:sp>
          <p:nvSpPr>
            <p:cNvPr id="349" name="Google Shape;349;p13"/>
            <p:cNvSpPr/>
            <p:nvPr/>
          </p:nvSpPr>
          <p:spPr>
            <a:xfrm>
              <a:off x="0" y="0"/>
              <a:ext cx="1836561" cy="439112"/>
            </a:xfrm>
            <a:custGeom>
              <a:rect b="b" l="l" r="r" t="t"/>
              <a:pathLst>
                <a:path extrusionOk="0" h="439112" w="1836561">
                  <a:moveTo>
                    <a:pt x="56622" y="0"/>
                  </a:moveTo>
                  <a:lnTo>
                    <a:pt x="1779938" y="0"/>
                  </a:lnTo>
                  <a:cubicBezTo>
                    <a:pt x="1811210" y="0"/>
                    <a:pt x="1836561" y="25351"/>
                    <a:pt x="1836561" y="56622"/>
                  </a:cubicBezTo>
                  <a:lnTo>
                    <a:pt x="1836561" y="382490"/>
                  </a:lnTo>
                  <a:cubicBezTo>
                    <a:pt x="1836561" y="413762"/>
                    <a:pt x="1811210" y="439112"/>
                    <a:pt x="1779938" y="439112"/>
                  </a:cubicBezTo>
                  <a:lnTo>
                    <a:pt x="56622" y="439112"/>
                  </a:lnTo>
                  <a:cubicBezTo>
                    <a:pt x="25351" y="439112"/>
                    <a:pt x="0" y="413762"/>
                    <a:pt x="0" y="382490"/>
                  </a:cubicBezTo>
                  <a:lnTo>
                    <a:pt x="0" y="56622"/>
                  </a:lnTo>
                  <a:cubicBezTo>
                    <a:pt x="0" y="25351"/>
                    <a:pt x="25351" y="0"/>
                    <a:pt x="56622"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3"/>
            <p:cNvSpPr txBox="1"/>
            <p:nvPr/>
          </p:nvSpPr>
          <p:spPr>
            <a:xfrm>
              <a:off x="0" y="-47625"/>
              <a:ext cx="1836561" cy="486737"/>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1" name="Google Shape;351;p13"/>
          <p:cNvSpPr txBox="1"/>
          <p:nvPr/>
        </p:nvSpPr>
        <p:spPr>
          <a:xfrm>
            <a:off x="12502616"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352" name="Google Shape;352;p13"/>
          <p:cNvSpPr txBox="1"/>
          <p:nvPr/>
        </p:nvSpPr>
        <p:spPr>
          <a:xfrm>
            <a:off x="1897451" y="3219978"/>
            <a:ext cx="6301619" cy="1287146"/>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699">
                <a:solidFill>
                  <a:srgbClr val="222222"/>
                </a:solidFill>
                <a:latin typeface="Arial"/>
                <a:ea typeface="Arial"/>
                <a:cs typeface="Arial"/>
                <a:sym typeface="Arial"/>
              </a:rPr>
              <a:t>Se alinea con el paradigma declarativo</a:t>
            </a:r>
            <a:endParaRPr/>
          </a:p>
        </p:txBody>
      </p:sp>
      <p:grpSp>
        <p:nvGrpSpPr>
          <p:cNvPr id="353" name="Google Shape;353;p13"/>
          <p:cNvGrpSpPr/>
          <p:nvPr/>
        </p:nvGrpSpPr>
        <p:grpSpPr>
          <a:xfrm>
            <a:off x="10033443" y="2907295"/>
            <a:ext cx="7070545" cy="1848081"/>
            <a:chOff x="0" y="-47625"/>
            <a:chExt cx="1862201" cy="486737"/>
          </a:xfrm>
        </p:grpSpPr>
        <p:sp>
          <p:nvSpPr>
            <p:cNvPr id="354" name="Google Shape;354;p13"/>
            <p:cNvSpPr/>
            <p:nvPr/>
          </p:nvSpPr>
          <p:spPr>
            <a:xfrm>
              <a:off x="0" y="0"/>
              <a:ext cx="1862201" cy="439112"/>
            </a:xfrm>
            <a:custGeom>
              <a:rect b="b" l="l" r="r" t="t"/>
              <a:pathLst>
                <a:path extrusionOk="0" h="439112" w="1862201">
                  <a:moveTo>
                    <a:pt x="55843" y="0"/>
                  </a:moveTo>
                  <a:lnTo>
                    <a:pt x="1806359" y="0"/>
                  </a:lnTo>
                  <a:cubicBezTo>
                    <a:pt x="1821169" y="0"/>
                    <a:pt x="1835373" y="5883"/>
                    <a:pt x="1845845" y="16356"/>
                  </a:cubicBezTo>
                  <a:cubicBezTo>
                    <a:pt x="1856318" y="26828"/>
                    <a:pt x="1862201" y="41032"/>
                    <a:pt x="1862201" y="55843"/>
                  </a:cubicBezTo>
                  <a:lnTo>
                    <a:pt x="1862201" y="383270"/>
                  </a:lnTo>
                  <a:cubicBezTo>
                    <a:pt x="1862201" y="398080"/>
                    <a:pt x="1856318" y="412284"/>
                    <a:pt x="1845845" y="422756"/>
                  </a:cubicBezTo>
                  <a:cubicBezTo>
                    <a:pt x="1835373" y="433229"/>
                    <a:pt x="1821169" y="439112"/>
                    <a:pt x="1806359" y="439112"/>
                  </a:cubicBezTo>
                  <a:lnTo>
                    <a:pt x="55843" y="439112"/>
                  </a:lnTo>
                  <a:cubicBezTo>
                    <a:pt x="41032" y="439112"/>
                    <a:pt x="26828" y="433229"/>
                    <a:pt x="16356" y="422756"/>
                  </a:cubicBezTo>
                  <a:cubicBezTo>
                    <a:pt x="5883" y="412284"/>
                    <a:pt x="0" y="398080"/>
                    <a:pt x="0" y="383270"/>
                  </a:cubicBezTo>
                  <a:lnTo>
                    <a:pt x="0" y="55843"/>
                  </a:lnTo>
                  <a:cubicBezTo>
                    <a:pt x="0" y="41032"/>
                    <a:pt x="5883" y="26828"/>
                    <a:pt x="16356" y="16356"/>
                  </a:cubicBezTo>
                  <a:cubicBezTo>
                    <a:pt x="26828" y="5883"/>
                    <a:pt x="41032" y="0"/>
                    <a:pt x="55843"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3"/>
            <p:cNvSpPr txBox="1"/>
            <p:nvPr/>
          </p:nvSpPr>
          <p:spPr>
            <a:xfrm>
              <a:off x="0" y="-47625"/>
              <a:ext cx="1862201" cy="486737"/>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6" name="Google Shape;356;p13"/>
          <p:cNvSpPr txBox="1"/>
          <p:nvPr/>
        </p:nvSpPr>
        <p:spPr>
          <a:xfrm>
            <a:off x="10417900" y="3219973"/>
            <a:ext cx="6301500" cy="2163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699">
                <a:solidFill>
                  <a:srgbClr val="222222"/>
                </a:solidFill>
                <a:latin typeface="Arial"/>
                <a:ea typeface="Arial"/>
                <a:cs typeface="Arial"/>
                <a:sym typeface="Arial"/>
              </a:rPr>
              <a:t>Permite expresar soluciones elegantes y concisas</a:t>
            </a:r>
            <a:endParaRPr/>
          </a:p>
        </p:txBody>
      </p:sp>
      <p:grpSp>
        <p:nvGrpSpPr>
          <p:cNvPr id="357" name="Google Shape;357;p13"/>
          <p:cNvGrpSpPr/>
          <p:nvPr/>
        </p:nvGrpSpPr>
        <p:grpSpPr>
          <a:xfrm>
            <a:off x="5657404" y="5915397"/>
            <a:ext cx="6973192" cy="1848081"/>
            <a:chOff x="0" y="-47625"/>
            <a:chExt cx="1836561" cy="486737"/>
          </a:xfrm>
        </p:grpSpPr>
        <p:sp>
          <p:nvSpPr>
            <p:cNvPr id="358" name="Google Shape;358;p13"/>
            <p:cNvSpPr/>
            <p:nvPr/>
          </p:nvSpPr>
          <p:spPr>
            <a:xfrm>
              <a:off x="0" y="0"/>
              <a:ext cx="1836561" cy="439112"/>
            </a:xfrm>
            <a:custGeom>
              <a:rect b="b" l="l" r="r" t="t"/>
              <a:pathLst>
                <a:path extrusionOk="0" h="439112" w="1836561">
                  <a:moveTo>
                    <a:pt x="56622" y="0"/>
                  </a:moveTo>
                  <a:lnTo>
                    <a:pt x="1779938" y="0"/>
                  </a:lnTo>
                  <a:cubicBezTo>
                    <a:pt x="1811210" y="0"/>
                    <a:pt x="1836561" y="25351"/>
                    <a:pt x="1836561" y="56622"/>
                  </a:cubicBezTo>
                  <a:lnTo>
                    <a:pt x="1836561" y="382490"/>
                  </a:lnTo>
                  <a:cubicBezTo>
                    <a:pt x="1836561" y="413762"/>
                    <a:pt x="1811210" y="439112"/>
                    <a:pt x="1779938" y="439112"/>
                  </a:cubicBezTo>
                  <a:lnTo>
                    <a:pt x="56622" y="439112"/>
                  </a:lnTo>
                  <a:cubicBezTo>
                    <a:pt x="25351" y="439112"/>
                    <a:pt x="0" y="413762"/>
                    <a:pt x="0" y="382490"/>
                  </a:cubicBezTo>
                  <a:lnTo>
                    <a:pt x="0" y="56622"/>
                  </a:lnTo>
                  <a:cubicBezTo>
                    <a:pt x="0" y="25351"/>
                    <a:pt x="25351" y="0"/>
                    <a:pt x="56622"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13"/>
            <p:cNvSpPr txBox="1"/>
            <p:nvPr/>
          </p:nvSpPr>
          <p:spPr>
            <a:xfrm>
              <a:off x="0" y="-47625"/>
              <a:ext cx="1836561" cy="486737"/>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0" name="Google Shape;360;p13"/>
          <p:cNvSpPr txBox="1"/>
          <p:nvPr/>
        </p:nvSpPr>
        <p:spPr>
          <a:xfrm>
            <a:off x="6058320" y="6228080"/>
            <a:ext cx="6301619" cy="1287146"/>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699">
                <a:solidFill>
                  <a:srgbClr val="222222"/>
                </a:solidFill>
                <a:latin typeface="Arial"/>
                <a:ea typeface="Arial"/>
                <a:cs typeface="Arial"/>
                <a:sym typeface="Arial"/>
              </a:rPr>
              <a:t>Facilita el procesamiento de listas y estructuras anidadas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4"/>
          <p:cNvSpPr txBox="1"/>
          <p:nvPr/>
        </p:nvSpPr>
        <p:spPr>
          <a:xfrm>
            <a:off x="1477486" y="1222573"/>
            <a:ext cx="15333028" cy="9239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6000">
                <a:solidFill>
                  <a:srgbClr val="F4F6FC"/>
                </a:solidFill>
                <a:latin typeface="Arial"/>
                <a:ea typeface="Arial"/>
                <a:cs typeface="Arial"/>
                <a:sym typeface="Arial"/>
              </a:rPr>
              <a:t>¿Cuándo usar recursión de cola?</a:t>
            </a:r>
            <a:endParaRPr/>
          </a:p>
        </p:txBody>
      </p:sp>
      <p:grpSp>
        <p:nvGrpSpPr>
          <p:cNvPr id="367" name="Google Shape;367;p14"/>
          <p:cNvGrpSpPr/>
          <p:nvPr/>
        </p:nvGrpSpPr>
        <p:grpSpPr>
          <a:xfrm rot="-5400000">
            <a:off x="6095749" y="2420783"/>
            <a:ext cx="6818207" cy="21127995"/>
            <a:chOff x="0" y="-47625"/>
            <a:chExt cx="1795742" cy="5564575"/>
          </a:xfrm>
        </p:grpSpPr>
        <p:sp>
          <p:nvSpPr>
            <p:cNvPr id="368" name="Google Shape;368;p14"/>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4"/>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0" name="Google Shape;370;p14"/>
          <p:cNvGrpSpPr/>
          <p:nvPr/>
        </p:nvGrpSpPr>
        <p:grpSpPr>
          <a:xfrm rot="-5400000">
            <a:off x="3906656" y="-11095415"/>
            <a:ext cx="2045233" cy="21127995"/>
            <a:chOff x="0" y="-47625"/>
            <a:chExt cx="538662" cy="5564575"/>
          </a:xfrm>
        </p:grpSpPr>
        <p:sp>
          <p:nvSpPr>
            <p:cNvPr id="371" name="Google Shape;371;p14"/>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14"/>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73" name="Google Shape;373;p14"/>
          <p:cNvGrpSpPr/>
          <p:nvPr/>
        </p:nvGrpSpPr>
        <p:grpSpPr>
          <a:xfrm rot="2700000">
            <a:off x="13798263" y="-60632"/>
            <a:ext cx="4685776" cy="1748082"/>
            <a:chOff x="0" y="-47625"/>
            <a:chExt cx="1234114" cy="460400"/>
          </a:xfrm>
        </p:grpSpPr>
        <p:sp>
          <p:nvSpPr>
            <p:cNvPr id="374" name="Google Shape;374;p14"/>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4"/>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6" name="Google Shape;376;p14"/>
          <p:cNvSpPr/>
          <p:nvPr/>
        </p:nvSpPr>
        <p:spPr>
          <a:xfrm rot="10800000">
            <a:off x="14019925" y="-210928"/>
            <a:ext cx="5098075" cy="5098075"/>
          </a:xfrm>
          <a:custGeom>
            <a:rect b="b" l="l" r="r" t="t"/>
            <a:pathLst>
              <a:path extrusionOk="0" h="5098075" w="5098075">
                <a:moveTo>
                  <a:pt x="0" y="0"/>
                </a:moveTo>
                <a:lnTo>
                  <a:pt x="5098075" y="0"/>
                </a:lnTo>
                <a:lnTo>
                  <a:pt x="5098075" y="5098075"/>
                </a:lnTo>
                <a:lnTo>
                  <a:pt x="0" y="5098075"/>
                </a:lnTo>
                <a:lnTo>
                  <a:pt x="0" y="0"/>
                </a:lnTo>
                <a:close/>
              </a:path>
            </a:pathLst>
          </a:custGeom>
          <a:blipFill rotWithShape="1">
            <a:blip r:embed="rId4">
              <a:alphaModFix amt="77000"/>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77" name="Google Shape;377;p14"/>
          <p:cNvGrpSpPr/>
          <p:nvPr/>
        </p:nvGrpSpPr>
        <p:grpSpPr>
          <a:xfrm>
            <a:off x="1496536" y="2907295"/>
            <a:ext cx="6973192" cy="2383525"/>
            <a:chOff x="0" y="-47625"/>
            <a:chExt cx="1836561" cy="627760"/>
          </a:xfrm>
        </p:grpSpPr>
        <p:sp>
          <p:nvSpPr>
            <p:cNvPr id="378" name="Google Shape;378;p14"/>
            <p:cNvSpPr/>
            <p:nvPr/>
          </p:nvSpPr>
          <p:spPr>
            <a:xfrm>
              <a:off x="0" y="0"/>
              <a:ext cx="1836561" cy="580135"/>
            </a:xfrm>
            <a:custGeom>
              <a:rect b="b" l="l" r="r" t="t"/>
              <a:pathLst>
                <a:path extrusionOk="0" h="580135" w="1836561">
                  <a:moveTo>
                    <a:pt x="56622" y="0"/>
                  </a:moveTo>
                  <a:lnTo>
                    <a:pt x="1779938" y="0"/>
                  </a:lnTo>
                  <a:cubicBezTo>
                    <a:pt x="1811210" y="0"/>
                    <a:pt x="1836561" y="25351"/>
                    <a:pt x="1836561" y="56622"/>
                  </a:cubicBezTo>
                  <a:lnTo>
                    <a:pt x="1836561" y="523512"/>
                  </a:lnTo>
                  <a:cubicBezTo>
                    <a:pt x="1836561" y="554784"/>
                    <a:pt x="1811210" y="580135"/>
                    <a:pt x="1779938" y="580135"/>
                  </a:cubicBezTo>
                  <a:lnTo>
                    <a:pt x="56622" y="580135"/>
                  </a:lnTo>
                  <a:cubicBezTo>
                    <a:pt x="25351" y="580135"/>
                    <a:pt x="0" y="554784"/>
                    <a:pt x="0" y="523512"/>
                  </a:cubicBezTo>
                  <a:lnTo>
                    <a:pt x="0" y="56622"/>
                  </a:lnTo>
                  <a:cubicBezTo>
                    <a:pt x="0" y="25351"/>
                    <a:pt x="25351" y="0"/>
                    <a:pt x="56622"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9" name="Google Shape;379;p14"/>
            <p:cNvSpPr txBox="1"/>
            <p:nvPr/>
          </p:nvSpPr>
          <p:spPr>
            <a:xfrm>
              <a:off x="0" y="-47625"/>
              <a:ext cx="1836561" cy="62776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0" name="Google Shape;380;p14"/>
          <p:cNvSpPr txBox="1"/>
          <p:nvPr/>
        </p:nvSpPr>
        <p:spPr>
          <a:xfrm>
            <a:off x="12502616" y="8931275"/>
            <a:ext cx="4756684" cy="32702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1" lang="en-US" sz="2000">
                <a:solidFill>
                  <a:srgbClr val="F4F6FC"/>
                </a:solidFill>
                <a:latin typeface="Arial"/>
                <a:ea typeface="Arial"/>
                <a:cs typeface="Arial"/>
                <a:sym typeface="Arial"/>
              </a:rPr>
              <a:t>Elaborado por: Robin Omar Buezo Díaz</a:t>
            </a:r>
            <a:endParaRPr/>
          </a:p>
        </p:txBody>
      </p:sp>
      <p:sp>
        <p:nvSpPr>
          <p:cNvPr id="381" name="Google Shape;381;p14"/>
          <p:cNvSpPr txBox="1"/>
          <p:nvPr/>
        </p:nvSpPr>
        <p:spPr>
          <a:xfrm>
            <a:off x="1897451" y="3219978"/>
            <a:ext cx="6301619" cy="1944371"/>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699">
                <a:solidFill>
                  <a:srgbClr val="222222"/>
                </a:solidFill>
                <a:latin typeface="Arial"/>
                <a:ea typeface="Arial"/>
                <a:cs typeface="Arial"/>
                <a:sym typeface="Arial"/>
              </a:rPr>
              <a:t>Al procesar grandes volúmenes de datos o listas extensas.</a:t>
            </a:r>
            <a:endParaRPr/>
          </a:p>
        </p:txBody>
      </p:sp>
      <p:grpSp>
        <p:nvGrpSpPr>
          <p:cNvPr id="382" name="Google Shape;382;p14"/>
          <p:cNvGrpSpPr/>
          <p:nvPr/>
        </p:nvGrpSpPr>
        <p:grpSpPr>
          <a:xfrm>
            <a:off x="10033443" y="2907295"/>
            <a:ext cx="7070545" cy="2383525"/>
            <a:chOff x="0" y="-47625"/>
            <a:chExt cx="1862201" cy="627760"/>
          </a:xfrm>
        </p:grpSpPr>
        <p:sp>
          <p:nvSpPr>
            <p:cNvPr id="383" name="Google Shape;383;p14"/>
            <p:cNvSpPr/>
            <p:nvPr/>
          </p:nvSpPr>
          <p:spPr>
            <a:xfrm>
              <a:off x="0" y="0"/>
              <a:ext cx="1862201" cy="580135"/>
            </a:xfrm>
            <a:custGeom>
              <a:rect b="b" l="l" r="r" t="t"/>
              <a:pathLst>
                <a:path extrusionOk="0" h="580135" w="1862201">
                  <a:moveTo>
                    <a:pt x="55843" y="0"/>
                  </a:moveTo>
                  <a:lnTo>
                    <a:pt x="1806359" y="0"/>
                  </a:lnTo>
                  <a:cubicBezTo>
                    <a:pt x="1821169" y="0"/>
                    <a:pt x="1835373" y="5883"/>
                    <a:pt x="1845845" y="16356"/>
                  </a:cubicBezTo>
                  <a:cubicBezTo>
                    <a:pt x="1856318" y="26828"/>
                    <a:pt x="1862201" y="41032"/>
                    <a:pt x="1862201" y="55843"/>
                  </a:cubicBezTo>
                  <a:lnTo>
                    <a:pt x="1862201" y="524292"/>
                  </a:lnTo>
                  <a:cubicBezTo>
                    <a:pt x="1862201" y="539102"/>
                    <a:pt x="1856318" y="553306"/>
                    <a:pt x="1845845" y="563779"/>
                  </a:cubicBezTo>
                  <a:cubicBezTo>
                    <a:pt x="1835373" y="574251"/>
                    <a:pt x="1821169" y="580135"/>
                    <a:pt x="1806359" y="580135"/>
                  </a:cubicBezTo>
                  <a:lnTo>
                    <a:pt x="55843" y="580135"/>
                  </a:lnTo>
                  <a:cubicBezTo>
                    <a:pt x="41032" y="580135"/>
                    <a:pt x="26828" y="574251"/>
                    <a:pt x="16356" y="563779"/>
                  </a:cubicBezTo>
                  <a:cubicBezTo>
                    <a:pt x="5883" y="553306"/>
                    <a:pt x="0" y="539102"/>
                    <a:pt x="0" y="524292"/>
                  </a:cubicBezTo>
                  <a:lnTo>
                    <a:pt x="0" y="55843"/>
                  </a:lnTo>
                  <a:cubicBezTo>
                    <a:pt x="0" y="41032"/>
                    <a:pt x="5883" y="26828"/>
                    <a:pt x="16356" y="16356"/>
                  </a:cubicBezTo>
                  <a:cubicBezTo>
                    <a:pt x="26828" y="5883"/>
                    <a:pt x="41032" y="0"/>
                    <a:pt x="55843"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4"/>
            <p:cNvSpPr txBox="1"/>
            <p:nvPr/>
          </p:nvSpPr>
          <p:spPr>
            <a:xfrm>
              <a:off x="0" y="-47625"/>
              <a:ext cx="1862201" cy="627760"/>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5" name="Google Shape;385;p14"/>
          <p:cNvSpPr txBox="1"/>
          <p:nvPr/>
        </p:nvSpPr>
        <p:spPr>
          <a:xfrm>
            <a:off x="10417906" y="3548590"/>
            <a:ext cx="6301619" cy="1287146"/>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699">
                <a:solidFill>
                  <a:srgbClr val="222222"/>
                </a:solidFill>
                <a:latin typeface="Arial"/>
                <a:ea typeface="Arial"/>
                <a:cs typeface="Arial"/>
                <a:sym typeface="Arial"/>
              </a:rPr>
              <a:t>Para evitar el uso excesivo de pila.</a:t>
            </a:r>
            <a:endParaRPr/>
          </a:p>
        </p:txBody>
      </p:sp>
      <p:grpSp>
        <p:nvGrpSpPr>
          <p:cNvPr id="386" name="Google Shape;386;p14"/>
          <p:cNvGrpSpPr/>
          <p:nvPr/>
        </p:nvGrpSpPr>
        <p:grpSpPr>
          <a:xfrm>
            <a:off x="5657404" y="5915397"/>
            <a:ext cx="6973192" cy="2354407"/>
            <a:chOff x="0" y="-47625"/>
            <a:chExt cx="1836561" cy="620091"/>
          </a:xfrm>
        </p:grpSpPr>
        <p:sp>
          <p:nvSpPr>
            <p:cNvPr id="387" name="Google Shape;387;p14"/>
            <p:cNvSpPr/>
            <p:nvPr/>
          </p:nvSpPr>
          <p:spPr>
            <a:xfrm>
              <a:off x="0" y="0"/>
              <a:ext cx="1836561" cy="572466"/>
            </a:xfrm>
            <a:custGeom>
              <a:rect b="b" l="l" r="r" t="t"/>
              <a:pathLst>
                <a:path extrusionOk="0" h="572466" w="1836561">
                  <a:moveTo>
                    <a:pt x="56622" y="0"/>
                  </a:moveTo>
                  <a:lnTo>
                    <a:pt x="1779938" y="0"/>
                  </a:lnTo>
                  <a:cubicBezTo>
                    <a:pt x="1811210" y="0"/>
                    <a:pt x="1836561" y="25351"/>
                    <a:pt x="1836561" y="56622"/>
                  </a:cubicBezTo>
                  <a:lnTo>
                    <a:pt x="1836561" y="515844"/>
                  </a:lnTo>
                  <a:cubicBezTo>
                    <a:pt x="1836561" y="547115"/>
                    <a:pt x="1811210" y="572466"/>
                    <a:pt x="1779938" y="572466"/>
                  </a:cubicBezTo>
                  <a:lnTo>
                    <a:pt x="56622" y="572466"/>
                  </a:lnTo>
                  <a:cubicBezTo>
                    <a:pt x="25351" y="572466"/>
                    <a:pt x="0" y="547115"/>
                    <a:pt x="0" y="515844"/>
                  </a:cubicBezTo>
                  <a:lnTo>
                    <a:pt x="0" y="56622"/>
                  </a:lnTo>
                  <a:cubicBezTo>
                    <a:pt x="0" y="25351"/>
                    <a:pt x="25351" y="0"/>
                    <a:pt x="56622" y="0"/>
                  </a:cubicBez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4"/>
            <p:cNvSpPr txBox="1"/>
            <p:nvPr/>
          </p:nvSpPr>
          <p:spPr>
            <a:xfrm>
              <a:off x="0" y="-47625"/>
              <a:ext cx="1836561" cy="620091"/>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9" name="Google Shape;389;p14"/>
          <p:cNvSpPr txBox="1"/>
          <p:nvPr/>
        </p:nvSpPr>
        <p:spPr>
          <a:xfrm>
            <a:off x="6058320" y="6228080"/>
            <a:ext cx="6301619" cy="1944371"/>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lang="en-US" sz="3699">
                <a:solidFill>
                  <a:srgbClr val="222222"/>
                </a:solidFill>
                <a:latin typeface="Arial"/>
                <a:ea typeface="Arial"/>
                <a:cs typeface="Arial"/>
                <a:sym typeface="Arial"/>
              </a:rPr>
              <a:t>Siempre que sea posible, ya que mejora el rendimiento y eficiencia.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95" name="Google Shape;395;p15"/>
          <p:cNvGrpSpPr/>
          <p:nvPr/>
        </p:nvGrpSpPr>
        <p:grpSpPr>
          <a:xfrm rot="-5400000">
            <a:off x="6095749" y="2420783"/>
            <a:ext cx="6818207" cy="21127995"/>
            <a:chOff x="0" y="-47625"/>
            <a:chExt cx="1795742" cy="5564575"/>
          </a:xfrm>
        </p:grpSpPr>
        <p:sp>
          <p:nvSpPr>
            <p:cNvPr id="396" name="Google Shape;396;p15"/>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5"/>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98" name="Google Shape;398;p15"/>
          <p:cNvGrpSpPr/>
          <p:nvPr/>
        </p:nvGrpSpPr>
        <p:grpSpPr>
          <a:xfrm rot="-5400000">
            <a:off x="3906656" y="-11095415"/>
            <a:ext cx="2045233" cy="21127995"/>
            <a:chOff x="0" y="-47625"/>
            <a:chExt cx="538662" cy="5564575"/>
          </a:xfrm>
        </p:grpSpPr>
        <p:sp>
          <p:nvSpPr>
            <p:cNvPr id="399" name="Google Shape;399;p15"/>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5"/>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01" name="Google Shape;401;p15"/>
          <p:cNvGrpSpPr/>
          <p:nvPr/>
        </p:nvGrpSpPr>
        <p:grpSpPr>
          <a:xfrm rot="2700000">
            <a:off x="13798263" y="-60632"/>
            <a:ext cx="4685776" cy="1748082"/>
            <a:chOff x="0" y="-47625"/>
            <a:chExt cx="1234114" cy="460400"/>
          </a:xfrm>
        </p:grpSpPr>
        <p:sp>
          <p:nvSpPr>
            <p:cNvPr id="402" name="Google Shape;402;p15"/>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F4F6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5"/>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4" name="Google Shape;404;p15"/>
          <p:cNvSpPr txBox="1"/>
          <p:nvPr/>
        </p:nvSpPr>
        <p:spPr>
          <a:xfrm>
            <a:off x="2392343" y="705467"/>
            <a:ext cx="13503315"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Conceptos Clave Aprendidos </a:t>
            </a:r>
            <a:endParaRPr/>
          </a:p>
        </p:txBody>
      </p:sp>
      <p:sp>
        <p:nvSpPr>
          <p:cNvPr id="405" name="Google Shape;405;p15"/>
          <p:cNvSpPr txBox="1"/>
          <p:nvPr/>
        </p:nvSpPr>
        <p:spPr>
          <a:xfrm>
            <a:off x="1264565" y="1795508"/>
            <a:ext cx="15758869" cy="7458074"/>
          </a:xfrm>
          <a:prstGeom prst="rect">
            <a:avLst/>
          </a:prstGeom>
          <a:noFill/>
          <a:ln>
            <a:noFill/>
          </a:ln>
        </p:spPr>
        <p:txBody>
          <a:bodyPr anchorCtr="0" anchor="t" bIns="0" lIns="0" spcFirstLastPara="1" rIns="0" wrap="square" tIns="0">
            <a:spAutoFit/>
          </a:bodyPr>
          <a:lstStyle/>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Corte en Prolog: </a:t>
            </a:r>
            <a:r>
              <a:rPr b="0" i="0" lang="en-US" sz="3000" u="none" cap="none" strike="noStrike">
                <a:solidFill>
                  <a:srgbClr val="050A30"/>
                </a:solidFill>
                <a:latin typeface="Arial"/>
                <a:ea typeface="Arial"/>
                <a:cs typeface="Arial"/>
                <a:sym typeface="Arial"/>
              </a:rPr>
              <a:t>El corte (!) controla el retroceso en la ejecución. El corte verde mejora la eficiencia sin cambiar la lógica. El corte rojo modifica la lógica del programa y debe usarse con precaución.</a:t>
            </a:r>
            <a:endParaRPr/>
          </a:p>
          <a:p>
            <a:pPr indent="0" lvl="0" marL="0" marR="0" rtl="0" algn="just">
              <a:lnSpc>
                <a:spcPct val="140000"/>
              </a:lnSpc>
              <a:spcBef>
                <a:spcPts val="0"/>
              </a:spcBef>
              <a:spcAft>
                <a:spcPts val="0"/>
              </a:spcAft>
              <a:buNone/>
            </a:pPr>
            <a:r>
              <a:t/>
            </a:r>
            <a:endParaRPr sz="3000">
              <a:solidFill>
                <a:srgbClr val="050A30"/>
              </a:solidFill>
              <a:latin typeface="Arial"/>
              <a:ea typeface="Arial"/>
              <a:cs typeface="Arial"/>
              <a:sym typeface="Arial"/>
            </a:endParaRPr>
          </a:p>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Negación como Falla: </a:t>
            </a:r>
            <a:r>
              <a:rPr b="0" i="0" lang="en-US" sz="3000" u="none" cap="none" strike="noStrike">
                <a:solidFill>
                  <a:srgbClr val="050A30"/>
                </a:solidFill>
                <a:latin typeface="Arial"/>
                <a:ea typeface="Arial"/>
                <a:cs typeface="Arial"/>
                <a:sym typeface="Arial"/>
              </a:rPr>
              <a:t>Prolog usa \+ para negar: algo es falso si no se puede probar como verdadero. No es lógica clásica y tiene limitaciones con variables no instanciadas.</a:t>
            </a:r>
            <a:endParaRPr/>
          </a:p>
          <a:p>
            <a:pPr indent="0" lvl="0" marL="0" marR="0" rtl="0" algn="just">
              <a:lnSpc>
                <a:spcPct val="140000"/>
              </a:lnSpc>
              <a:spcBef>
                <a:spcPts val="0"/>
              </a:spcBef>
              <a:spcAft>
                <a:spcPts val="0"/>
              </a:spcAft>
              <a:buNone/>
            </a:pPr>
            <a:r>
              <a:t/>
            </a:r>
            <a:endParaRPr sz="3000">
              <a:solidFill>
                <a:srgbClr val="050A30"/>
              </a:solidFill>
              <a:latin typeface="Arial"/>
              <a:ea typeface="Arial"/>
              <a:cs typeface="Arial"/>
              <a:sym typeface="Arial"/>
            </a:endParaRPr>
          </a:p>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Recursión: </a:t>
            </a:r>
            <a:r>
              <a:rPr b="0" i="0" lang="en-US" sz="3000" u="none" cap="none" strike="noStrike">
                <a:solidFill>
                  <a:srgbClr val="050A30"/>
                </a:solidFill>
                <a:latin typeface="Arial"/>
                <a:ea typeface="Arial"/>
                <a:cs typeface="Arial"/>
                <a:sym typeface="Arial"/>
              </a:rPr>
              <a:t>Prolog utiliza recursión en lugar de bucles. La recursión directa es más simple, pero la de cola es más eficiente y evita problemas de memoria.</a:t>
            </a:r>
            <a:endParaRPr/>
          </a:p>
          <a:p>
            <a:pPr indent="0" lvl="0" marL="0" marR="0" rtl="0" algn="just">
              <a:lnSpc>
                <a:spcPct val="140000"/>
              </a:lnSpc>
              <a:spcBef>
                <a:spcPts val="0"/>
              </a:spcBef>
              <a:spcAft>
                <a:spcPts val="0"/>
              </a:spcAft>
              <a:buNone/>
            </a:pPr>
            <a:r>
              <a:t/>
            </a:r>
            <a:endParaRPr sz="3000">
              <a:solidFill>
                <a:srgbClr val="050A30"/>
              </a:solidFill>
              <a:latin typeface="Arial"/>
              <a:ea typeface="Arial"/>
              <a:cs typeface="Arial"/>
              <a:sym typeface="Arial"/>
            </a:endParaRPr>
          </a:p>
          <a:p>
            <a:pPr indent="-323856" lvl="1" marL="647711" marR="0" rtl="0" algn="just">
              <a:lnSpc>
                <a:spcPct val="140000"/>
              </a:lnSpc>
              <a:spcBef>
                <a:spcPts val="0"/>
              </a:spcBef>
              <a:spcAft>
                <a:spcPts val="0"/>
              </a:spcAft>
              <a:buClr>
                <a:srgbClr val="050A30"/>
              </a:buClr>
              <a:buSzPts val="3000"/>
              <a:buFont typeface="Arial"/>
              <a:buChar char="•"/>
            </a:pPr>
            <a:r>
              <a:rPr b="1" i="0" lang="en-US" sz="3000" u="none" cap="none" strike="noStrike">
                <a:solidFill>
                  <a:srgbClr val="050A30"/>
                </a:solidFill>
                <a:latin typeface="Arial"/>
                <a:ea typeface="Arial"/>
                <a:cs typeface="Arial"/>
                <a:sym typeface="Arial"/>
              </a:rPr>
              <a:t>Paradigma Declarativo y Simulación: </a:t>
            </a:r>
            <a:r>
              <a:rPr b="0" i="0" lang="en-US" sz="3000" u="none" cap="none" strike="noStrike">
                <a:solidFill>
                  <a:srgbClr val="050A30"/>
                </a:solidFill>
                <a:latin typeface="Arial"/>
                <a:ea typeface="Arial"/>
                <a:cs typeface="Arial"/>
                <a:sym typeface="Arial"/>
              </a:rPr>
              <a:t>Prolog describe lo que se quiere lograr, no cómo. Es útil en IA y simulaciones por su enfoque lógico y expresivo.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11" name="Google Shape;411;p16"/>
          <p:cNvGrpSpPr/>
          <p:nvPr/>
        </p:nvGrpSpPr>
        <p:grpSpPr>
          <a:xfrm rot="-5400000">
            <a:off x="6095749" y="2420783"/>
            <a:ext cx="6818207" cy="21127995"/>
            <a:chOff x="0" y="-47625"/>
            <a:chExt cx="1795742" cy="5564575"/>
          </a:xfrm>
        </p:grpSpPr>
        <p:sp>
          <p:nvSpPr>
            <p:cNvPr id="412" name="Google Shape;412;p16"/>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6"/>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4" name="Google Shape;414;p16"/>
          <p:cNvGrpSpPr/>
          <p:nvPr/>
        </p:nvGrpSpPr>
        <p:grpSpPr>
          <a:xfrm rot="-5400000">
            <a:off x="3906656" y="-11095415"/>
            <a:ext cx="2045233" cy="21127995"/>
            <a:chOff x="0" y="-47625"/>
            <a:chExt cx="538662" cy="5564575"/>
          </a:xfrm>
        </p:grpSpPr>
        <p:sp>
          <p:nvSpPr>
            <p:cNvPr id="415" name="Google Shape;415;p16"/>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6"/>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17" name="Google Shape;417;p16"/>
          <p:cNvGrpSpPr/>
          <p:nvPr/>
        </p:nvGrpSpPr>
        <p:grpSpPr>
          <a:xfrm rot="2700000">
            <a:off x="13798263" y="-60632"/>
            <a:ext cx="4685776" cy="1748082"/>
            <a:chOff x="0" y="-47625"/>
            <a:chExt cx="1234114" cy="460400"/>
          </a:xfrm>
        </p:grpSpPr>
        <p:sp>
          <p:nvSpPr>
            <p:cNvPr id="418" name="Google Shape;418;p16"/>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6"/>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0" name="Google Shape;420;p16"/>
          <p:cNvSpPr txBox="1"/>
          <p:nvPr/>
        </p:nvSpPr>
        <p:spPr>
          <a:xfrm>
            <a:off x="2392341" y="3628237"/>
            <a:ext cx="13503315" cy="101547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F4F6FC"/>
                </a:solidFill>
                <a:latin typeface="Arial"/>
                <a:ea typeface="Arial"/>
                <a:cs typeface="Arial"/>
                <a:sym typeface="Arial"/>
              </a:rPr>
              <a:t>Perseverancia</a:t>
            </a:r>
            <a:endParaRPr b="1" sz="6900">
              <a:solidFill>
                <a:srgbClr val="F4F6FC"/>
              </a:solidFill>
              <a:latin typeface="Arial"/>
              <a:ea typeface="Arial"/>
              <a:cs typeface="Arial"/>
              <a:sym typeface="Arial"/>
            </a:endParaRPr>
          </a:p>
        </p:txBody>
      </p:sp>
      <p:sp>
        <p:nvSpPr>
          <p:cNvPr id="421" name="Google Shape;421;p16"/>
          <p:cNvSpPr txBox="1"/>
          <p:nvPr/>
        </p:nvSpPr>
        <p:spPr>
          <a:xfrm>
            <a:off x="2027167" y="5400046"/>
            <a:ext cx="14233665" cy="1483035"/>
          </a:xfrm>
          <a:prstGeom prst="rect">
            <a:avLst/>
          </a:prstGeom>
          <a:noFill/>
          <a:ln>
            <a:noFill/>
          </a:ln>
        </p:spPr>
        <p:txBody>
          <a:bodyPr anchorCtr="0" anchor="t" bIns="0" lIns="0" spcFirstLastPara="1" rIns="0" wrap="square" tIns="0">
            <a:spAutoFit/>
          </a:bodyPr>
          <a:lstStyle/>
          <a:p>
            <a:pPr indent="0" lvl="1" marL="302266" marR="0" rtl="0" algn="just">
              <a:lnSpc>
                <a:spcPct val="140000"/>
              </a:lnSpc>
              <a:spcBef>
                <a:spcPts val="0"/>
              </a:spcBef>
              <a:spcAft>
                <a:spcPts val="0"/>
              </a:spcAft>
              <a:buNone/>
            </a:pPr>
            <a:r>
              <a:rPr b="1" i="0" lang="en-US" sz="2800" u="none" cap="none" strike="noStrike">
                <a:solidFill>
                  <a:srgbClr val="F4F6FC"/>
                </a:solidFill>
                <a:latin typeface="Arial"/>
                <a:ea typeface="Arial"/>
                <a:cs typeface="Arial"/>
                <a:sym typeface="Arial"/>
              </a:rPr>
              <a:t>La perseverancia implica mantener el esfuerzo constante frente a la dificultad, insistiendo en encontrar soluciones y no rendirse fácilmente ante los errores o la complejidad de un problema.</a:t>
            </a:r>
            <a:endParaRPr b="0" i="0" sz="2800" u="none" cap="none" strike="noStrike">
              <a:solidFill>
                <a:srgbClr val="F4F6FC"/>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27" name="Google Shape;427;p17"/>
          <p:cNvGrpSpPr/>
          <p:nvPr/>
        </p:nvGrpSpPr>
        <p:grpSpPr>
          <a:xfrm rot="-5400000">
            <a:off x="6095749" y="2420783"/>
            <a:ext cx="6818207" cy="21127995"/>
            <a:chOff x="0" y="-47625"/>
            <a:chExt cx="1795742" cy="5564575"/>
          </a:xfrm>
        </p:grpSpPr>
        <p:sp>
          <p:nvSpPr>
            <p:cNvPr id="428" name="Google Shape;428;p17"/>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7"/>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0" name="Google Shape;430;p17"/>
          <p:cNvGrpSpPr/>
          <p:nvPr/>
        </p:nvGrpSpPr>
        <p:grpSpPr>
          <a:xfrm rot="-5400000">
            <a:off x="3906656" y="-11095415"/>
            <a:ext cx="2045233" cy="21127995"/>
            <a:chOff x="0" y="-47625"/>
            <a:chExt cx="538662" cy="5564575"/>
          </a:xfrm>
        </p:grpSpPr>
        <p:sp>
          <p:nvSpPr>
            <p:cNvPr id="431" name="Google Shape;431;p17"/>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17"/>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3" name="Google Shape;433;p17"/>
          <p:cNvGrpSpPr/>
          <p:nvPr/>
        </p:nvGrpSpPr>
        <p:grpSpPr>
          <a:xfrm rot="2700000">
            <a:off x="13798263" y="-60632"/>
            <a:ext cx="4685776" cy="1748082"/>
            <a:chOff x="0" y="-47625"/>
            <a:chExt cx="1234114" cy="460400"/>
          </a:xfrm>
        </p:grpSpPr>
        <p:sp>
          <p:nvSpPr>
            <p:cNvPr id="434" name="Google Shape;434;p17"/>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17"/>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6" name="Google Shape;436;p17"/>
          <p:cNvSpPr txBox="1"/>
          <p:nvPr/>
        </p:nvSpPr>
        <p:spPr>
          <a:xfrm>
            <a:off x="2392343" y="1673265"/>
            <a:ext cx="13503315" cy="9947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latin typeface="Arial"/>
                <a:ea typeface="Arial"/>
                <a:cs typeface="Arial"/>
                <a:sym typeface="Arial"/>
              </a:rPr>
              <a:t>Referencias</a:t>
            </a:r>
            <a:endParaRPr/>
          </a:p>
        </p:txBody>
      </p:sp>
      <p:sp>
        <p:nvSpPr>
          <p:cNvPr id="437" name="Google Shape;437;p17"/>
          <p:cNvSpPr txBox="1"/>
          <p:nvPr/>
        </p:nvSpPr>
        <p:spPr>
          <a:xfrm>
            <a:off x="2027167" y="3745346"/>
            <a:ext cx="14233665" cy="2957829"/>
          </a:xfrm>
          <a:prstGeom prst="rect">
            <a:avLst/>
          </a:prstGeom>
          <a:noFill/>
          <a:ln>
            <a:noFill/>
          </a:ln>
        </p:spPr>
        <p:txBody>
          <a:bodyPr anchorCtr="0" anchor="t" bIns="0" lIns="0" spcFirstLastPara="1" rIns="0" wrap="square" tIns="0">
            <a:spAutoFit/>
          </a:bodyPr>
          <a:lstStyle/>
          <a:p>
            <a:pPr indent="-302266" lvl="1" marL="604532" marR="0" rtl="0" algn="just">
              <a:lnSpc>
                <a:spcPct val="140000"/>
              </a:lnSpc>
              <a:spcBef>
                <a:spcPts val="0"/>
              </a:spcBef>
              <a:spcAft>
                <a:spcPts val="0"/>
              </a:spcAft>
              <a:buClr>
                <a:srgbClr val="222222"/>
              </a:buClr>
              <a:buSzPts val="2800"/>
              <a:buFont typeface="Arial"/>
              <a:buChar char="•"/>
            </a:pPr>
            <a:r>
              <a:rPr b="1" i="0" lang="en-US" sz="2800" u="none" cap="none" strike="noStrike">
                <a:solidFill>
                  <a:srgbClr val="222222"/>
                </a:solidFill>
                <a:latin typeface="Arial"/>
                <a:ea typeface="Arial"/>
                <a:cs typeface="Arial"/>
                <a:sym typeface="Arial"/>
              </a:rPr>
              <a:t>Russell, S., &amp; Norvig, P. (2016). Artificial Intelligence: A Modern Approach (3rd ed.). Pearson.</a:t>
            </a:r>
            <a:endParaRPr/>
          </a:p>
          <a:p>
            <a:pPr indent="0" lvl="0" marL="0" marR="0" rtl="0" algn="just">
              <a:lnSpc>
                <a:spcPct val="140000"/>
              </a:lnSpc>
              <a:spcBef>
                <a:spcPts val="0"/>
              </a:spcBef>
              <a:spcAft>
                <a:spcPts val="0"/>
              </a:spcAft>
              <a:buNone/>
            </a:pPr>
            <a:r>
              <a:t/>
            </a:r>
            <a:endParaRPr b="1" sz="2800" u="none" strike="noStrike">
              <a:solidFill>
                <a:srgbClr val="222222"/>
              </a:solidFill>
              <a:latin typeface="Arial"/>
              <a:ea typeface="Arial"/>
              <a:cs typeface="Arial"/>
              <a:sym typeface="Arial"/>
            </a:endParaRPr>
          </a:p>
          <a:p>
            <a:pPr indent="-302266" lvl="1" marL="604532" marR="0" rtl="0" algn="just">
              <a:lnSpc>
                <a:spcPct val="140000"/>
              </a:lnSpc>
              <a:spcBef>
                <a:spcPts val="0"/>
              </a:spcBef>
              <a:spcAft>
                <a:spcPts val="0"/>
              </a:spcAft>
              <a:buClr>
                <a:srgbClr val="222222"/>
              </a:buClr>
              <a:buSzPts val="2800"/>
              <a:buFont typeface="Arial"/>
              <a:buChar char="•"/>
            </a:pPr>
            <a:r>
              <a:rPr b="1" i="0" lang="en-US" sz="2800" u="none" cap="none" strike="noStrike">
                <a:solidFill>
                  <a:srgbClr val="222222"/>
                </a:solidFill>
                <a:latin typeface="Arial"/>
                <a:ea typeface="Arial"/>
                <a:cs typeface="Arial"/>
                <a:sym typeface="Arial"/>
              </a:rPr>
              <a:t>Clocksin, W. F., &amp; Mellish, C. S. (2003). Programming in Prolog: Using the ISO Standard (5ª ed.). Springer-Verlag.</a:t>
            </a:r>
            <a:endParaRPr/>
          </a:p>
          <a:p>
            <a:pPr indent="0" lvl="0" marL="0" marR="0" rtl="0" algn="just">
              <a:lnSpc>
                <a:spcPct val="140000"/>
              </a:lnSpc>
              <a:spcBef>
                <a:spcPts val="0"/>
              </a:spcBef>
              <a:spcAft>
                <a:spcPts val="0"/>
              </a:spcAft>
              <a:buNone/>
            </a:pPr>
            <a:r>
              <a:t/>
            </a:r>
            <a:endParaRPr b="1" sz="2800" u="none" strike="noStrike">
              <a:solidFill>
                <a:srgbClr val="22222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3" name="Google Shape;443;p18"/>
          <p:cNvGrpSpPr/>
          <p:nvPr/>
        </p:nvGrpSpPr>
        <p:grpSpPr>
          <a:xfrm rot="-5400000">
            <a:off x="6095749" y="2420783"/>
            <a:ext cx="6818207" cy="21127995"/>
            <a:chOff x="0" y="-47625"/>
            <a:chExt cx="1795742" cy="5564575"/>
          </a:xfrm>
        </p:grpSpPr>
        <p:sp>
          <p:nvSpPr>
            <p:cNvPr id="444" name="Google Shape;444;p18"/>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18"/>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6" name="Google Shape;446;p18"/>
          <p:cNvGrpSpPr/>
          <p:nvPr/>
        </p:nvGrpSpPr>
        <p:grpSpPr>
          <a:xfrm rot="-5400000">
            <a:off x="3906656" y="-11095415"/>
            <a:ext cx="2045233" cy="21127995"/>
            <a:chOff x="0" y="-47625"/>
            <a:chExt cx="538662" cy="5564575"/>
          </a:xfrm>
        </p:grpSpPr>
        <p:sp>
          <p:nvSpPr>
            <p:cNvPr id="447" name="Google Shape;447;p18"/>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8"/>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49" name="Google Shape;449;p18"/>
          <p:cNvGrpSpPr/>
          <p:nvPr/>
        </p:nvGrpSpPr>
        <p:grpSpPr>
          <a:xfrm rot="2700000">
            <a:off x="13798263" y="-60632"/>
            <a:ext cx="4685776" cy="1748082"/>
            <a:chOff x="0" y="-47625"/>
            <a:chExt cx="1234114" cy="460400"/>
          </a:xfrm>
        </p:grpSpPr>
        <p:sp>
          <p:nvSpPr>
            <p:cNvPr id="450" name="Google Shape;450;p18"/>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18"/>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52" name="Google Shape;452;p18"/>
          <p:cNvSpPr txBox="1"/>
          <p:nvPr/>
        </p:nvSpPr>
        <p:spPr>
          <a:xfrm>
            <a:off x="2392342" y="4305300"/>
            <a:ext cx="13503315" cy="101547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F4F6FC"/>
                </a:solidFill>
                <a:latin typeface="Arial"/>
                <a:ea typeface="Arial"/>
                <a:cs typeface="Arial"/>
                <a:sym typeface="Arial"/>
              </a:rPr>
              <a:t>Ejemplo Práctico</a:t>
            </a:r>
            <a:endParaRPr b="1" sz="6900">
              <a:solidFill>
                <a:srgbClr val="F4F6FC"/>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2243" r="-22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58" name="Google Shape;458;p19"/>
          <p:cNvGrpSpPr/>
          <p:nvPr/>
        </p:nvGrpSpPr>
        <p:grpSpPr>
          <a:xfrm rot="-5400000">
            <a:off x="6095749" y="2420783"/>
            <a:ext cx="6818207" cy="21127995"/>
            <a:chOff x="0" y="-47625"/>
            <a:chExt cx="1795742" cy="5564575"/>
          </a:xfrm>
        </p:grpSpPr>
        <p:sp>
          <p:nvSpPr>
            <p:cNvPr id="459" name="Google Shape;459;p19"/>
            <p:cNvSpPr/>
            <p:nvPr/>
          </p:nvSpPr>
          <p:spPr>
            <a:xfrm>
              <a:off x="0" y="0"/>
              <a:ext cx="1795742" cy="5516950"/>
            </a:xfrm>
            <a:custGeom>
              <a:rect b="b" l="l" r="r" t="t"/>
              <a:pathLst>
                <a:path extrusionOk="0" h="5516950" w="1795742">
                  <a:moveTo>
                    <a:pt x="0" y="0"/>
                  </a:moveTo>
                  <a:lnTo>
                    <a:pt x="1795742" y="0"/>
                  </a:lnTo>
                  <a:lnTo>
                    <a:pt x="179574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9"/>
            <p:cNvSpPr txBox="1"/>
            <p:nvPr/>
          </p:nvSpPr>
          <p:spPr>
            <a:xfrm>
              <a:off x="0" y="-47625"/>
              <a:ext cx="179574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1" name="Google Shape;461;p19"/>
          <p:cNvGrpSpPr/>
          <p:nvPr/>
        </p:nvGrpSpPr>
        <p:grpSpPr>
          <a:xfrm rot="-5400000">
            <a:off x="3906656" y="-11095415"/>
            <a:ext cx="2045233" cy="21127995"/>
            <a:chOff x="0" y="-47625"/>
            <a:chExt cx="538662" cy="5564575"/>
          </a:xfrm>
        </p:grpSpPr>
        <p:sp>
          <p:nvSpPr>
            <p:cNvPr id="462" name="Google Shape;462;p19"/>
            <p:cNvSpPr/>
            <p:nvPr/>
          </p:nvSpPr>
          <p:spPr>
            <a:xfrm>
              <a:off x="0" y="0"/>
              <a:ext cx="538662" cy="5516950"/>
            </a:xfrm>
            <a:custGeom>
              <a:rect b="b" l="l" r="r" t="t"/>
              <a:pathLst>
                <a:path extrusionOk="0" h="5516950" w="538662">
                  <a:moveTo>
                    <a:pt x="0" y="0"/>
                  </a:moveTo>
                  <a:lnTo>
                    <a:pt x="538662" y="0"/>
                  </a:lnTo>
                  <a:lnTo>
                    <a:pt x="538662" y="5516950"/>
                  </a:lnTo>
                  <a:lnTo>
                    <a:pt x="0" y="5516950"/>
                  </a:lnTo>
                  <a:close/>
                </a:path>
              </a:pathLst>
            </a:custGeom>
            <a:solidFill>
              <a:srgbClr val="050A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19"/>
            <p:cNvSpPr txBox="1"/>
            <p:nvPr/>
          </p:nvSpPr>
          <p:spPr>
            <a:xfrm>
              <a:off x="0" y="-47625"/>
              <a:ext cx="538662" cy="5564575"/>
            </a:xfrm>
            <a:prstGeom prst="rect">
              <a:avLst/>
            </a:prstGeom>
            <a:noFill/>
            <a:ln>
              <a:noFill/>
            </a:ln>
          </p:spPr>
          <p:txBody>
            <a:bodyPr anchorCtr="0" anchor="ctr" bIns="50800" lIns="50800" spcFirstLastPara="1" rIns="50800" wrap="square" tIns="50800">
              <a:noAutofit/>
            </a:bodyPr>
            <a:lstStyle/>
            <a:p>
              <a:pPr indent="0" lvl="0" marL="0" marR="0" rtl="0" algn="ctr">
                <a:lnSpc>
                  <a:spcPct val="171055"/>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4" name="Google Shape;464;p19"/>
          <p:cNvGrpSpPr/>
          <p:nvPr/>
        </p:nvGrpSpPr>
        <p:grpSpPr>
          <a:xfrm rot="2700000">
            <a:off x="13798263" y="-60632"/>
            <a:ext cx="4685776" cy="1748082"/>
            <a:chOff x="0" y="-47625"/>
            <a:chExt cx="1234114" cy="460400"/>
          </a:xfrm>
        </p:grpSpPr>
        <p:sp>
          <p:nvSpPr>
            <p:cNvPr id="465" name="Google Shape;465;p19"/>
            <p:cNvSpPr/>
            <p:nvPr/>
          </p:nvSpPr>
          <p:spPr>
            <a:xfrm>
              <a:off x="0" y="0"/>
              <a:ext cx="1234114" cy="412775"/>
            </a:xfrm>
            <a:custGeom>
              <a:rect b="b" l="l" r="r" t="t"/>
              <a:pathLst>
                <a:path extrusionOk="0" h="412775" w="1234114">
                  <a:moveTo>
                    <a:pt x="0" y="0"/>
                  </a:moveTo>
                  <a:lnTo>
                    <a:pt x="1234114" y="0"/>
                  </a:lnTo>
                  <a:lnTo>
                    <a:pt x="1234114" y="412775"/>
                  </a:lnTo>
                  <a:lnTo>
                    <a:pt x="0" y="412775"/>
                  </a:lnTo>
                  <a:close/>
                </a:path>
              </a:pathLst>
            </a:custGeom>
            <a:solidFill>
              <a:srgbClr val="CAE8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6" name="Google Shape;466;p19"/>
            <p:cNvSpPr txBox="1"/>
            <p:nvPr/>
          </p:nvSpPr>
          <p:spPr>
            <a:xfrm>
              <a:off x="0" y="-47625"/>
              <a:ext cx="1234114" cy="460400"/>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7" name="Google Shape;467;p19"/>
          <p:cNvSpPr txBox="1"/>
          <p:nvPr/>
        </p:nvSpPr>
        <p:spPr>
          <a:xfrm>
            <a:off x="2392342" y="491209"/>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1" lang="en-US" sz="6900">
                <a:solidFill>
                  <a:srgbClr val="050A30"/>
                </a:solidFill>
              </a:rPr>
              <a:t>Tarea #2</a:t>
            </a:r>
            <a:endParaRPr b="1" sz="6900">
              <a:solidFill>
                <a:srgbClr val="050A30"/>
              </a:solidFill>
              <a:latin typeface="Arial"/>
              <a:ea typeface="Arial"/>
              <a:cs typeface="Arial"/>
              <a:sym typeface="Arial"/>
            </a:endParaRPr>
          </a:p>
        </p:txBody>
      </p:sp>
      <p:pic>
        <p:nvPicPr>
          <p:cNvPr id="468" name="Google Shape;468;p19"/>
          <p:cNvPicPr preferRelativeResize="0"/>
          <p:nvPr/>
        </p:nvPicPr>
        <p:blipFill>
          <a:blip r:embed="rId4">
            <a:alphaModFix/>
          </a:blip>
          <a:stretch>
            <a:fillRect/>
          </a:stretch>
        </p:blipFill>
        <p:spPr>
          <a:xfrm>
            <a:off x="770735" y="1548125"/>
            <a:ext cx="12465051" cy="3761750"/>
          </a:xfrm>
          <a:prstGeom prst="rect">
            <a:avLst/>
          </a:prstGeom>
          <a:noFill/>
          <a:ln>
            <a:noFill/>
          </a:ln>
        </p:spPr>
      </p:pic>
      <p:pic>
        <p:nvPicPr>
          <p:cNvPr id="469" name="Google Shape;469;p19"/>
          <p:cNvPicPr preferRelativeResize="0"/>
          <p:nvPr/>
        </p:nvPicPr>
        <p:blipFill>
          <a:blip r:embed="rId5">
            <a:alphaModFix/>
          </a:blip>
          <a:stretch>
            <a:fillRect/>
          </a:stretch>
        </p:blipFill>
        <p:spPr>
          <a:xfrm>
            <a:off x="6637325" y="5087150"/>
            <a:ext cx="6191250" cy="4267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A30"/>
        </a:solidFill>
      </p:bgPr>
    </p:bg>
    <p:spTree>
      <p:nvGrpSpPr>
        <p:cNvPr id="473" name="Shape 473"/>
        <p:cNvGrpSpPr/>
        <p:nvPr/>
      </p:nvGrpSpPr>
      <p:grpSpPr>
        <a:xfrm>
          <a:off x="0" y="0"/>
          <a:ext cx="0" cy="0"/>
          <a:chOff x="0" y="0"/>
          <a:chExt cx="0" cy="0"/>
        </a:xfrm>
      </p:grpSpPr>
      <p:sp>
        <p:nvSpPr>
          <p:cNvPr id="474" name="Google Shape;474;p21"/>
          <p:cNvSpPr txBox="1"/>
          <p:nvPr/>
        </p:nvSpPr>
        <p:spPr>
          <a:xfrm>
            <a:off x="4437795" y="3446254"/>
            <a:ext cx="8658828" cy="243852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1" lang="en-US" sz="6099">
                <a:solidFill>
                  <a:srgbClr val="F4F6FC"/>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1" sz="6099">
              <a:solidFill>
                <a:srgbClr val="F4F6FC"/>
              </a:solidFill>
              <a:latin typeface="Arial"/>
              <a:ea typeface="Arial"/>
              <a:cs typeface="Arial"/>
              <a:sym typeface="Arial"/>
            </a:endParaRPr>
          </a:p>
        </p:txBody>
      </p:sp>
      <p:sp>
        <p:nvSpPr>
          <p:cNvPr id="475" name="Google Shape;475;p21"/>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1" lang="en-US" sz="5000">
                <a:solidFill>
                  <a:srgbClr val="F4F6FC"/>
                </a:solidFill>
                <a:latin typeface="Arial"/>
                <a:ea typeface="Arial"/>
                <a:cs typeface="Arial"/>
                <a:sym typeface="Arial"/>
              </a:rPr>
              <a:t>DUDAS</a:t>
            </a:r>
            <a:endParaRPr/>
          </a:p>
        </p:txBody>
      </p:sp>
      <p:sp>
        <p:nvSpPr>
          <p:cNvPr id="476" name="Google Shape;476;p21"/>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21"/>
          <p:cNvSpPr txBox="1"/>
          <p:nvPr/>
        </p:nvSpPr>
        <p:spPr>
          <a:xfrm>
            <a:off x="2411098" y="7890210"/>
            <a:ext cx="13465804" cy="35750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1" lang="en-US" sz="2000">
                <a:solidFill>
                  <a:srgbClr val="F4F6FC"/>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