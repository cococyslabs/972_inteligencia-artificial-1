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Arim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juLz4pf0CH6WeK40IC3REw2Yqp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9A31D5-CDE2-4F06-BCA6-BC0E6D9160D9}">
  <a:tblStyle styleId="{EA9A31D5-CDE2-4F06-BCA6-BC0E6D9160D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im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italic.fntdata"/><Relationship Id="rId30" Type="http://schemas.openxmlformats.org/officeDocument/2006/relationships/font" Target="fonts/Arimo-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Arim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dk1"/>
              </a:buClr>
              <a:buSzPts val="5600"/>
              <a:buFont typeface="Calibri"/>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2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Clr>
                <a:schemeClr val="dk1"/>
              </a:buClr>
              <a:buSzPts val="3600"/>
              <a:buChar char="●"/>
              <a:defRPr/>
            </a:lvl1pPr>
            <a:lvl2pPr indent="-406400" lvl="1" marL="914400" algn="l">
              <a:lnSpc>
                <a:spcPct val="115000"/>
              </a:lnSpc>
              <a:spcBef>
                <a:spcPts val="0"/>
              </a:spcBef>
              <a:spcAft>
                <a:spcPts val="0"/>
              </a:spcAft>
              <a:buClr>
                <a:schemeClr val="dk1"/>
              </a:buClr>
              <a:buSzPts val="2800"/>
              <a:buChar char="○"/>
              <a:defRPr/>
            </a:lvl2pPr>
            <a:lvl3pPr indent="-406400" lvl="2" marL="1371600" algn="l">
              <a:lnSpc>
                <a:spcPct val="115000"/>
              </a:lnSpc>
              <a:spcBef>
                <a:spcPts val="0"/>
              </a:spcBef>
              <a:spcAft>
                <a:spcPts val="0"/>
              </a:spcAft>
              <a:buClr>
                <a:schemeClr val="dk1"/>
              </a:buClr>
              <a:buSzPts val="2800"/>
              <a:buChar char="■"/>
              <a:defRPr/>
            </a:lvl3pPr>
            <a:lvl4pPr indent="-406400" lvl="3" marL="1828800" algn="l">
              <a:lnSpc>
                <a:spcPct val="115000"/>
              </a:lnSpc>
              <a:spcBef>
                <a:spcPts val="0"/>
              </a:spcBef>
              <a:spcAft>
                <a:spcPts val="0"/>
              </a:spcAft>
              <a:buClr>
                <a:schemeClr val="dk1"/>
              </a:buClr>
              <a:buSzPts val="2800"/>
              <a:buChar char="●"/>
              <a:defRPr/>
            </a:lvl4pPr>
            <a:lvl5pPr indent="-406400" lvl="4" marL="2286000" algn="l">
              <a:lnSpc>
                <a:spcPct val="115000"/>
              </a:lnSpc>
              <a:spcBef>
                <a:spcPts val="0"/>
              </a:spcBef>
              <a:spcAft>
                <a:spcPts val="0"/>
              </a:spcAft>
              <a:buClr>
                <a:schemeClr val="dk1"/>
              </a:buClr>
              <a:buSzPts val="2800"/>
              <a:buChar char="○"/>
              <a:defRPr/>
            </a:lvl5pPr>
            <a:lvl6pPr indent="-406400" lvl="5" marL="2743200" algn="l">
              <a:lnSpc>
                <a:spcPct val="115000"/>
              </a:lnSpc>
              <a:spcBef>
                <a:spcPts val="0"/>
              </a:spcBef>
              <a:spcAft>
                <a:spcPts val="0"/>
              </a:spcAft>
              <a:buClr>
                <a:schemeClr val="dk1"/>
              </a:buClr>
              <a:buSzPts val="2800"/>
              <a:buChar char="■"/>
              <a:defRPr/>
            </a:lvl6pPr>
            <a:lvl7pPr indent="-406400" lvl="6" marL="3200400" algn="l">
              <a:lnSpc>
                <a:spcPct val="115000"/>
              </a:lnSpc>
              <a:spcBef>
                <a:spcPts val="0"/>
              </a:spcBef>
              <a:spcAft>
                <a:spcPts val="0"/>
              </a:spcAft>
              <a:buClr>
                <a:schemeClr val="dk1"/>
              </a:buClr>
              <a:buSzPts val="2800"/>
              <a:buChar char="●"/>
              <a:defRPr/>
            </a:lvl7pPr>
            <a:lvl8pPr indent="-406400" lvl="7" marL="3657600" algn="l">
              <a:lnSpc>
                <a:spcPct val="115000"/>
              </a:lnSpc>
              <a:spcBef>
                <a:spcPts val="0"/>
              </a:spcBef>
              <a:spcAft>
                <a:spcPts val="0"/>
              </a:spcAft>
              <a:buClr>
                <a:schemeClr val="dk1"/>
              </a:buClr>
              <a:buSzPts val="2800"/>
              <a:buChar char="○"/>
              <a:defRPr/>
            </a:lvl8pPr>
            <a:lvl9pPr indent="-406400" lvl="8" marL="4114800" algn="l">
              <a:lnSpc>
                <a:spcPct val="115000"/>
              </a:lnSpc>
              <a:spcBef>
                <a:spcPts val="0"/>
              </a:spcBef>
              <a:spcAft>
                <a:spcPts val="0"/>
              </a:spcAft>
              <a:buClr>
                <a:schemeClr val="dk1"/>
              </a:buClr>
              <a:buSzPts val="2800"/>
              <a:buChar char="■"/>
              <a:defRPr/>
            </a:lvl9pPr>
          </a:lstStyle>
          <a:p/>
        </p:txBody>
      </p:sp>
      <p:sp>
        <p:nvSpPr>
          <p:cNvPr id="22" name="Google Shape;22;p2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6" name="Google Shape;2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3"/>
          <p:cNvSpPr/>
          <p:nvPr>
            <p:ph idx="2" type="pic"/>
          </p:nvPr>
        </p:nvSpPr>
        <p:spPr>
          <a:xfrm>
            <a:off x="1792288" y="612775"/>
            <a:ext cx="5486400" cy="4114800"/>
          </a:xfrm>
          <a:prstGeom prst="rect">
            <a:avLst/>
          </a:prstGeom>
          <a:noFill/>
          <a:ln>
            <a:noFill/>
          </a:ln>
        </p:spPr>
      </p:sp>
      <p:sp>
        <p:nvSpPr>
          <p:cNvPr id="72" name="Google Shape;72;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5.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5.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5.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5.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mt="557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93" name="Google Shape;93;p1"/>
          <p:cNvGraphicFramePr/>
          <p:nvPr/>
        </p:nvGraphicFramePr>
        <p:xfrm>
          <a:off x="10656400" y="1940050"/>
          <a:ext cx="3000000" cy="3000000"/>
        </p:xfrm>
        <a:graphic>
          <a:graphicData uri="http://schemas.openxmlformats.org/drawingml/2006/table">
            <a:tbl>
              <a:tblPr>
                <a:noFill/>
                <a:tableStyleId>{EA9A31D5-CDE2-4F06-BCA6-BC0E6D9160D9}</a:tableStyleId>
              </a:tblPr>
              <a:tblGrid>
                <a:gridCol w="3030175"/>
                <a:gridCol w="4335825"/>
              </a:tblGrid>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Viernes, </a:t>
                      </a:r>
                      <a:r>
                        <a:rPr lang="en-US" sz="2840">
                          <a:latin typeface="Arimo"/>
                          <a:ea typeface="Arimo"/>
                          <a:cs typeface="Arimo"/>
                          <a:sym typeface="Arimo"/>
                        </a:rPr>
                        <a:t>06</a:t>
                      </a:r>
                      <a:r>
                        <a:rPr lang="en-US" sz="2840" u="none" cap="none" strike="noStrike">
                          <a:solidFill>
                            <a:srgbClr val="000000"/>
                          </a:solidFill>
                          <a:latin typeface="Arimo"/>
                          <a:ea typeface="Arimo"/>
                          <a:cs typeface="Arimo"/>
                          <a:sym typeface="Arimo"/>
                        </a:rPr>
                        <a:t>-</a:t>
                      </a:r>
                      <a:r>
                        <a:rPr lang="en-US" sz="2840">
                          <a:latin typeface="Arimo"/>
                          <a:ea typeface="Arimo"/>
                          <a:cs typeface="Arimo"/>
                          <a:sym typeface="Arimo"/>
                        </a:rPr>
                        <a:t>03</a:t>
                      </a:r>
                      <a:r>
                        <a:rPr lang="en-US" sz="2840" u="none" cap="none" strike="noStrike">
                          <a:solidFill>
                            <a:srgbClr val="000000"/>
                          </a:solidFill>
                          <a:latin typeface="Arimo"/>
                          <a:ea typeface="Arimo"/>
                          <a:cs typeface="Arimo"/>
                          <a:sym typeface="Arimo"/>
                        </a:rPr>
                        <a:t>-</a:t>
                      </a:r>
                      <a:r>
                        <a:rPr lang="en-US" sz="2840">
                          <a:latin typeface="Arimo"/>
                          <a:ea typeface="Arimo"/>
                          <a:cs typeface="Arimo"/>
                          <a:sym typeface="Arimo"/>
                        </a:rPr>
                        <a:t>2026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19:00</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4" name="Google Shape;94;p1"/>
          <p:cNvSpPr txBox="1"/>
          <p:nvPr/>
        </p:nvSpPr>
        <p:spPr>
          <a:xfrm>
            <a:off x="3864138" y="4529138"/>
            <a:ext cx="9513300" cy="9234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999">
                <a:solidFill>
                  <a:srgbClr val="000000"/>
                </a:solidFill>
                <a:latin typeface="Arial"/>
                <a:ea typeface="Arial"/>
                <a:cs typeface="Arial"/>
                <a:sym typeface="Arial"/>
              </a:rPr>
              <a:t>Inteligencia Artificial 1 [</a:t>
            </a:r>
            <a:r>
              <a:rPr b="1" lang="en-US" sz="5999"/>
              <a:t>B</a:t>
            </a:r>
            <a:r>
              <a:rPr b="1" lang="en-US" sz="5999">
                <a:solidFill>
                  <a:srgbClr val="000000"/>
                </a:solidFill>
                <a:latin typeface="Arial"/>
                <a:ea typeface="Arial"/>
                <a:cs typeface="Arial"/>
                <a:sym typeface="Arial"/>
              </a:rPr>
              <a:t>]</a:t>
            </a:r>
            <a:endParaRPr/>
          </a:p>
        </p:txBody>
      </p:sp>
      <p:sp>
        <p:nvSpPr>
          <p:cNvPr id="95" name="Google Shape;95;p1"/>
          <p:cNvSpPr txBox="1"/>
          <p:nvPr/>
        </p:nvSpPr>
        <p:spPr>
          <a:xfrm>
            <a:off x="3799950" y="5542200"/>
            <a:ext cx="96417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US" sz="4999"/>
              <a:t>Alberto Kanec Ixchop Ordoñez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4" r="-22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1028700" y="952267"/>
            <a:ext cx="16230600" cy="8382465"/>
            <a:chOff x="0" y="0"/>
            <a:chExt cx="6045684" cy="3122357"/>
          </a:xfrm>
        </p:grpSpPr>
        <p:sp>
          <p:nvSpPr>
            <p:cNvPr id="102" name="Google Shape;102;p2"/>
            <p:cNvSpPr/>
            <p:nvPr/>
          </p:nvSpPr>
          <p:spPr>
            <a:xfrm>
              <a:off x="0" y="0"/>
              <a:ext cx="6045684" cy="3122357"/>
            </a:xfrm>
            <a:custGeom>
              <a:rect b="b" l="l" r="r" t="t"/>
              <a:pathLst>
                <a:path extrusionOk="0" h="3122357" w="6045684">
                  <a:moveTo>
                    <a:pt x="0" y="0"/>
                  </a:moveTo>
                  <a:lnTo>
                    <a:pt x="6045684" y="0"/>
                  </a:lnTo>
                  <a:lnTo>
                    <a:pt x="6045684" y="3122357"/>
                  </a:lnTo>
                  <a:lnTo>
                    <a:pt x="0" y="3122357"/>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0"/>
              <a:ext cx="6045684" cy="312235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 name="Google Shape;104;p2"/>
          <p:cNvGrpSpPr/>
          <p:nvPr/>
        </p:nvGrpSpPr>
        <p:grpSpPr>
          <a:xfrm>
            <a:off x="12374539" y="8812325"/>
            <a:ext cx="4284389" cy="1748082"/>
            <a:chOff x="0" y="-47625"/>
            <a:chExt cx="1128399" cy="460400"/>
          </a:xfrm>
        </p:grpSpPr>
        <p:sp>
          <p:nvSpPr>
            <p:cNvPr id="105" name="Google Shape;105;p2"/>
            <p:cNvSpPr/>
            <p:nvPr/>
          </p:nvSpPr>
          <p:spPr>
            <a:xfrm>
              <a:off x="0" y="0"/>
              <a:ext cx="1128399" cy="412775"/>
            </a:xfrm>
            <a:custGeom>
              <a:rect b="b" l="l" r="r" t="t"/>
              <a:pathLst>
                <a:path extrusionOk="0" h="412775" w="1128399">
                  <a:moveTo>
                    <a:pt x="0" y="0"/>
                  </a:moveTo>
                  <a:lnTo>
                    <a:pt x="1128399" y="0"/>
                  </a:lnTo>
                  <a:lnTo>
                    <a:pt x="1128399"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0" y="-47625"/>
              <a:ext cx="1128399"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7" name="Google Shape;107;p2"/>
          <p:cNvGrpSpPr/>
          <p:nvPr/>
        </p:nvGrpSpPr>
        <p:grpSpPr>
          <a:xfrm rot="5400000">
            <a:off x="14103077" y="3146822"/>
            <a:ext cx="6983416" cy="1748082"/>
            <a:chOff x="0" y="-47625"/>
            <a:chExt cx="1839254" cy="460400"/>
          </a:xfrm>
        </p:grpSpPr>
        <p:sp>
          <p:nvSpPr>
            <p:cNvPr id="108" name="Google Shape;108;p2"/>
            <p:cNvSpPr/>
            <p:nvPr/>
          </p:nvSpPr>
          <p:spPr>
            <a:xfrm>
              <a:off x="0" y="0"/>
              <a:ext cx="1839254" cy="412775"/>
            </a:xfrm>
            <a:custGeom>
              <a:rect b="b" l="l" r="r" t="t"/>
              <a:pathLst>
                <a:path extrusionOk="0" h="412775" w="1839254">
                  <a:moveTo>
                    <a:pt x="0" y="0"/>
                  </a:moveTo>
                  <a:lnTo>
                    <a:pt x="1839254" y="0"/>
                  </a:lnTo>
                  <a:lnTo>
                    <a:pt x="183925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txBox="1"/>
            <p:nvPr/>
          </p:nvSpPr>
          <p:spPr>
            <a:xfrm>
              <a:off x="0" y="-47625"/>
              <a:ext cx="183925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 name="Google Shape;110;p2"/>
          <p:cNvSpPr/>
          <p:nvPr/>
        </p:nvSpPr>
        <p:spPr>
          <a:xfrm rot="-5400000">
            <a:off x="10540746" y="-52264"/>
            <a:ext cx="11547949" cy="9406329"/>
          </a:xfrm>
          <a:custGeom>
            <a:rect b="b" l="l" r="r" t="t"/>
            <a:pathLst>
              <a:path extrusionOk="0" h="9406329" w="11547949">
                <a:moveTo>
                  <a:pt x="11547949" y="9406329"/>
                </a:moveTo>
                <a:lnTo>
                  <a:pt x="0" y="9406329"/>
                </a:lnTo>
                <a:lnTo>
                  <a:pt x="0" y="0"/>
                </a:lnTo>
                <a:lnTo>
                  <a:pt x="11547949" y="0"/>
                </a:lnTo>
                <a:lnTo>
                  <a:pt x="11547949" y="9406329"/>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2118001" y="6620396"/>
            <a:ext cx="9224082" cy="17367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Escuela de Ingenieria de Ciencias Y Sistemas</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Facultad de Ingenieria</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Universidad de San Carlos de Guatemala</a:t>
            </a:r>
            <a:endParaRPr/>
          </a:p>
          <a:p>
            <a:pPr indent="0" lvl="0" marL="0" marR="0" rtl="0" algn="l">
              <a:lnSpc>
                <a:spcPct val="140016"/>
              </a:lnSpc>
              <a:spcBef>
                <a:spcPts val="0"/>
              </a:spcBef>
              <a:spcAft>
                <a:spcPts val="0"/>
              </a:spcAft>
              <a:buNone/>
            </a:pPr>
            <a:r>
              <a:t/>
            </a:r>
            <a:endParaRPr b="1" sz="2499">
              <a:solidFill>
                <a:srgbClr val="050A30"/>
              </a:solidFill>
              <a:latin typeface="Arial"/>
              <a:ea typeface="Arial"/>
              <a:cs typeface="Arial"/>
              <a:sym typeface="Arial"/>
            </a:endParaRPr>
          </a:p>
        </p:txBody>
      </p:sp>
      <p:sp>
        <p:nvSpPr>
          <p:cNvPr id="112" name="Google Shape;112;p2"/>
          <p:cNvSpPr txBox="1"/>
          <p:nvPr/>
        </p:nvSpPr>
        <p:spPr>
          <a:xfrm>
            <a:off x="2118001" y="3415707"/>
            <a:ext cx="11119114" cy="121031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8000">
                <a:solidFill>
                  <a:srgbClr val="050A30"/>
                </a:solidFill>
                <a:latin typeface="Arial"/>
                <a:ea typeface="Arial"/>
                <a:cs typeface="Arial"/>
                <a:sym typeface="Arial"/>
              </a:rPr>
              <a:t>Clase 5</a:t>
            </a:r>
            <a:endParaRPr/>
          </a:p>
        </p:txBody>
      </p:sp>
      <p:sp>
        <p:nvSpPr>
          <p:cNvPr id="113" name="Google Shape;113;p2"/>
          <p:cNvSpPr txBox="1"/>
          <p:nvPr/>
        </p:nvSpPr>
        <p:spPr>
          <a:xfrm>
            <a:off x="2184676" y="2365657"/>
            <a:ext cx="11052439" cy="83566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5500">
                <a:solidFill>
                  <a:srgbClr val="050A30"/>
                </a:solidFill>
                <a:latin typeface="Arial"/>
                <a:ea typeface="Arial"/>
                <a:cs typeface="Arial"/>
                <a:sym typeface="Arial"/>
              </a:rPr>
              <a:t>INTELIGENCIA ARTIFICIAL 1</a:t>
            </a:r>
            <a:endParaRPr/>
          </a:p>
        </p:txBody>
      </p:sp>
      <p:sp>
        <p:nvSpPr>
          <p:cNvPr id="114" name="Google Shape;114;p2"/>
          <p:cNvSpPr txBox="1"/>
          <p:nvPr/>
        </p:nvSpPr>
        <p:spPr>
          <a:xfrm>
            <a:off x="2118001" y="857436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cxnSp>
        <p:nvCxnSpPr>
          <p:cNvPr id="115" name="Google Shape;115;p2"/>
          <p:cNvCxnSpPr/>
          <p:nvPr/>
        </p:nvCxnSpPr>
        <p:spPr>
          <a:xfrm flipH="1" rot="10800000">
            <a:off x="13553005" y="935761"/>
            <a:ext cx="5036482" cy="5036482"/>
          </a:xfrm>
          <a:prstGeom prst="straightConnector1">
            <a:avLst/>
          </a:prstGeom>
          <a:noFill/>
          <a:ln cap="flat" cmpd="sng" w="114300">
            <a:solidFill>
              <a:srgbClr val="050A30"/>
            </a:solidFill>
            <a:prstDash val="solid"/>
            <a:round/>
            <a:headEnd len="sm" w="sm" type="none"/>
            <a:tailEnd len="sm" w="sm" type="none"/>
          </a:ln>
        </p:spPr>
      </p:cxnSp>
      <p:cxnSp>
        <p:nvCxnSpPr>
          <p:cNvPr id="116" name="Google Shape;116;p2"/>
          <p:cNvCxnSpPr/>
          <p:nvPr/>
        </p:nvCxnSpPr>
        <p:spPr>
          <a:xfrm flipH="1" rot="10800000">
            <a:off x="14602740" y="4540846"/>
            <a:ext cx="1216428" cy="1216428"/>
          </a:xfrm>
          <a:prstGeom prst="straightConnector1">
            <a:avLst/>
          </a:prstGeom>
          <a:noFill/>
          <a:ln cap="flat" cmpd="sng" w="114300">
            <a:solidFill>
              <a:srgbClr val="050A30"/>
            </a:solidFill>
            <a:prstDash val="solid"/>
            <a:round/>
            <a:headEnd len="sm" w="sm" type="none"/>
            <a:tailEnd len="sm" w="sm" type="none"/>
          </a:ln>
        </p:spPr>
      </p:cxnSp>
      <p:cxnSp>
        <p:nvCxnSpPr>
          <p:cNvPr id="117" name="Google Shape;117;p2"/>
          <p:cNvCxnSpPr/>
          <p:nvPr/>
        </p:nvCxnSpPr>
        <p:spPr>
          <a:xfrm flipH="1" rot="10800000">
            <a:off x="12944791" y="7512571"/>
            <a:ext cx="2942644" cy="2942644"/>
          </a:xfrm>
          <a:prstGeom prst="straightConnector1">
            <a:avLst/>
          </a:prstGeom>
          <a:noFill/>
          <a:ln cap="flat" cmpd="sng" w="114300">
            <a:solidFill>
              <a:srgbClr val="050A30"/>
            </a:solidFill>
            <a:prstDash val="solid"/>
            <a:round/>
            <a:headEnd len="sm" w="sm" type="none"/>
            <a:tailEnd len="sm" w="sm" type="none"/>
          </a:ln>
        </p:spPr>
      </p:cxnSp>
      <p:cxnSp>
        <p:nvCxnSpPr>
          <p:cNvPr id="118" name="Google Shape;118;p2"/>
          <p:cNvCxnSpPr/>
          <p:nvPr/>
        </p:nvCxnSpPr>
        <p:spPr>
          <a:xfrm flipH="1" rot="10800000">
            <a:off x="11473469" y="9776779"/>
            <a:ext cx="2942644" cy="2942644"/>
          </a:xfrm>
          <a:prstGeom prst="straightConnector1">
            <a:avLst/>
          </a:prstGeom>
          <a:noFill/>
          <a:ln cap="flat" cmpd="sng" w="114300">
            <a:solidFill>
              <a:srgbClr val="050A30"/>
            </a:solidFill>
            <a:prstDash val="solid"/>
            <a:round/>
            <a:headEnd len="sm" w="sm" type="none"/>
            <a:tailEnd len="sm" w="sm" type="none"/>
          </a:ln>
        </p:spPr>
      </p:cxnSp>
      <p:sp>
        <p:nvSpPr>
          <p:cNvPr id="119" name="Google Shape;119;p2"/>
          <p:cNvSpPr txBox="1"/>
          <p:nvPr/>
        </p:nvSpPr>
        <p:spPr>
          <a:xfrm>
            <a:off x="2118001" y="4721267"/>
            <a:ext cx="8015102" cy="1038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050A30"/>
                </a:solidFill>
                <a:latin typeface="Arial"/>
                <a:ea typeface="Arial"/>
                <a:cs typeface="Arial"/>
                <a:sym typeface="Arial"/>
              </a:rPr>
              <a:t>Realidad Aumentada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5" name="Google Shape;125;p3"/>
          <p:cNvGrpSpPr/>
          <p:nvPr/>
        </p:nvGrpSpPr>
        <p:grpSpPr>
          <a:xfrm>
            <a:off x="1279725" y="1111550"/>
            <a:ext cx="15563088" cy="8180085"/>
            <a:chOff x="0" y="0"/>
            <a:chExt cx="5796956" cy="3046927"/>
          </a:xfrm>
        </p:grpSpPr>
        <p:sp>
          <p:nvSpPr>
            <p:cNvPr id="126" name="Google Shape;126;p3"/>
            <p:cNvSpPr/>
            <p:nvPr/>
          </p:nvSpPr>
          <p:spPr>
            <a:xfrm>
              <a:off x="0" y="0"/>
              <a:ext cx="5796955" cy="3046927"/>
            </a:xfrm>
            <a:custGeom>
              <a:rect b="b" l="l" r="r" t="t"/>
              <a:pathLst>
                <a:path extrusionOk="0" h="3046927" w="5796955">
                  <a:moveTo>
                    <a:pt x="0" y="0"/>
                  </a:moveTo>
                  <a:lnTo>
                    <a:pt x="5796955" y="0"/>
                  </a:lnTo>
                  <a:lnTo>
                    <a:pt x="5796955" y="3046927"/>
                  </a:lnTo>
                  <a:lnTo>
                    <a:pt x="0" y="3046927"/>
                  </a:lnTo>
                  <a:close/>
                </a:path>
              </a:pathLst>
            </a:custGeom>
            <a:solidFill>
              <a:srgbClr val="000000">
                <a:alpha val="0"/>
              </a:srgbClr>
            </a:solidFill>
            <a:ln cap="sq" cmpd="sng" w="66675">
              <a:solidFill>
                <a:srgbClr val="570F6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0" y="0"/>
              <a:ext cx="5796956" cy="304692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 name="Google Shape;128;p3"/>
          <p:cNvGrpSpPr/>
          <p:nvPr/>
        </p:nvGrpSpPr>
        <p:grpSpPr>
          <a:xfrm rot="2700000">
            <a:off x="121003" y="7895899"/>
            <a:ext cx="3393988" cy="1748082"/>
            <a:chOff x="0" y="-47625"/>
            <a:chExt cx="893890" cy="460400"/>
          </a:xfrm>
        </p:grpSpPr>
        <p:sp>
          <p:nvSpPr>
            <p:cNvPr id="129" name="Google Shape;129;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 name="Google Shape;131;p3"/>
          <p:cNvGrpSpPr/>
          <p:nvPr/>
        </p:nvGrpSpPr>
        <p:grpSpPr>
          <a:xfrm rot="2700000">
            <a:off x="14900874" y="396084"/>
            <a:ext cx="3393988" cy="1748082"/>
            <a:chOff x="0" y="-47625"/>
            <a:chExt cx="893890" cy="460400"/>
          </a:xfrm>
        </p:grpSpPr>
        <p:sp>
          <p:nvSpPr>
            <p:cNvPr id="132" name="Google Shape;132;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3"/>
          <p:cNvSpPr/>
          <p:nvPr/>
        </p:nvSpPr>
        <p:spPr>
          <a:xfrm>
            <a:off x="-515035" y="5489862"/>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rot="10800000">
            <a:off x="13871465" y="-189523"/>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txBox="1"/>
          <p:nvPr/>
        </p:nvSpPr>
        <p:spPr>
          <a:xfrm>
            <a:off x="1889083"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Agenda</a:t>
            </a:r>
            <a:endParaRPr/>
          </a:p>
        </p:txBody>
      </p:sp>
      <p:sp>
        <p:nvSpPr>
          <p:cNvPr id="137" name="Google Shape;137;p3"/>
          <p:cNvSpPr txBox="1"/>
          <p:nvPr/>
        </p:nvSpPr>
        <p:spPr>
          <a:xfrm>
            <a:off x="12006974" y="8506847"/>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FFFFF"/>
                </a:solidFill>
                <a:latin typeface="Arial"/>
                <a:ea typeface="Arial"/>
                <a:cs typeface="Arial"/>
                <a:sym typeface="Arial"/>
              </a:rPr>
              <a:t>Elaborado por: Robin Omar Buezo Díaz</a:t>
            </a:r>
            <a:endParaRPr/>
          </a:p>
        </p:txBody>
      </p:sp>
      <p:sp>
        <p:nvSpPr>
          <p:cNvPr id="138" name="Google Shape;138;p3"/>
          <p:cNvSpPr txBox="1"/>
          <p:nvPr/>
        </p:nvSpPr>
        <p:spPr>
          <a:xfrm>
            <a:off x="2034003" y="3078596"/>
            <a:ext cx="6464400" cy="4842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Recordatorios</a:t>
            </a:r>
            <a:endParaRPr b="1" sz="3500">
              <a:solidFill>
                <a:srgbClr val="F4F6FC"/>
              </a:solidFill>
              <a:latin typeface="Arial"/>
              <a:ea typeface="Arial"/>
              <a:cs typeface="Arial"/>
              <a:sym typeface="Arial"/>
            </a:endParaRPr>
          </a:p>
          <a:p>
            <a:pPr indent="-431800" lvl="0" marL="457200" marR="0" rtl="0" algn="l">
              <a:lnSpc>
                <a:spcPct val="120000"/>
              </a:lnSpc>
              <a:spcBef>
                <a:spcPts val="0"/>
              </a:spcBef>
              <a:spcAft>
                <a:spcPts val="0"/>
              </a:spcAft>
              <a:buClr>
                <a:srgbClr val="F4F6FC"/>
              </a:buClr>
              <a:buSzPts val="3200"/>
              <a:buChar char="●"/>
            </a:pPr>
            <a:r>
              <a:rPr lang="en-US" sz="3200">
                <a:solidFill>
                  <a:srgbClr val="F4F6FC"/>
                </a:solidFill>
              </a:rPr>
              <a:t>Corto #1</a:t>
            </a:r>
            <a:endParaRPr sz="3200">
              <a:solidFill>
                <a:srgbClr val="F4F6FC"/>
              </a:solidFill>
            </a:endParaRPr>
          </a:p>
          <a:p>
            <a:pPr indent="-431800" lvl="0" marL="457200" marR="0" rtl="0" algn="l">
              <a:lnSpc>
                <a:spcPct val="120000"/>
              </a:lnSpc>
              <a:spcBef>
                <a:spcPts val="0"/>
              </a:spcBef>
              <a:spcAft>
                <a:spcPts val="0"/>
              </a:spcAft>
              <a:buClr>
                <a:srgbClr val="F4F6FC"/>
              </a:buClr>
              <a:buSzPts val="3200"/>
              <a:buChar char="●"/>
            </a:pPr>
            <a:r>
              <a:rPr lang="en-US" sz="3200">
                <a:solidFill>
                  <a:srgbClr val="F4F6FC"/>
                </a:solidFill>
              </a:rPr>
              <a:t>Tarea #2</a:t>
            </a:r>
            <a:endParaRPr sz="3200">
              <a:solidFill>
                <a:srgbClr val="F4F6FC"/>
              </a:solidFill>
            </a:endParaRPr>
          </a:p>
          <a:p>
            <a:pPr indent="-431800" lvl="0" marL="457200" marR="0" rtl="0" algn="l">
              <a:lnSpc>
                <a:spcPct val="120000"/>
              </a:lnSpc>
              <a:spcBef>
                <a:spcPts val="0"/>
              </a:spcBef>
              <a:spcAft>
                <a:spcPts val="0"/>
              </a:spcAft>
              <a:buClr>
                <a:srgbClr val="F4F6FC"/>
              </a:buClr>
              <a:buSzPts val="3200"/>
              <a:buChar char="●"/>
            </a:pPr>
            <a:r>
              <a:rPr lang="en-US" sz="3200">
                <a:solidFill>
                  <a:srgbClr val="F4F6FC"/>
                </a:solidFill>
              </a:rPr>
              <a:t>Evaluación tutor</a:t>
            </a:r>
            <a:endParaRPr sz="3200">
              <a:solidFill>
                <a:srgbClr val="F4F6FC"/>
              </a:solidFill>
            </a:endParaRPr>
          </a:p>
          <a:p>
            <a:pPr indent="0" lvl="0" marL="0" marR="0" rtl="0" algn="l">
              <a:lnSpc>
                <a:spcPct val="120000"/>
              </a:lnSpc>
              <a:spcBef>
                <a:spcPts val="0"/>
              </a:spcBef>
              <a:spcAft>
                <a:spcPts val="0"/>
              </a:spcAft>
              <a:buNone/>
            </a:pPr>
            <a:r>
              <a:t/>
            </a:r>
            <a:endParaRPr sz="3200">
              <a:solidFill>
                <a:srgbClr val="F4F6FC"/>
              </a:solidFil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Tema</a:t>
            </a:r>
            <a:r>
              <a:rPr b="1" lang="en-US" sz="3500">
                <a:solidFill>
                  <a:srgbClr val="F4F6FC"/>
                </a:solidFill>
              </a:rPr>
              <a:t>s</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Introducción a la Realidad Aumentada</a:t>
            </a:r>
            <a:endParaRPr b="0" i="0" sz="3500" u="none" cap="none" strike="noStrike">
              <a:solidFill>
                <a:srgbClr val="F4F6FC"/>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4" name="Google Shape;144;p4"/>
          <p:cNvGrpSpPr/>
          <p:nvPr/>
        </p:nvGrpSpPr>
        <p:grpSpPr>
          <a:xfrm rot="-5400000">
            <a:off x="6095749" y="2420783"/>
            <a:ext cx="6818207" cy="21127995"/>
            <a:chOff x="0" y="-47625"/>
            <a:chExt cx="1795742" cy="5564575"/>
          </a:xfrm>
        </p:grpSpPr>
        <p:sp>
          <p:nvSpPr>
            <p:cNvPr id="145" name="Google Shape;145;p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 name="Google Shape;147;p4"/>
          <p:cNvGrpSpPr/>
          <p:nvPr/>
        </p:nvGrpSpPr>
        <p:grpSpPr>
          <a:xfrm rot="-5400000">
            <a:off x="3906656" y="-11095415"/>
            <a:ext cx="2045233" cy="21127995"/>
            <a:chOff x="0" y="-47625"/>
            <a:chExt cx="538662" cy="5564575"/>
          </a:xfrm>
        </p:grpSpPr>
        <p:sp>
          <p:nvSpPr>
            <p:cNvPr id="148" name="Google Shape;148;p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 name="Google Shape;150;p4"/>
          <p:cNvGrpSpPr/>
          <p:nvPr/>
        </p:nvGrpSpPr>
        <p:grpSpPr>
          <a:xfrm rot="2700000">
            <a:off x="13798263" y="-60632"/>
            <a:ext cx="4685776" cy="1748082"/>
            <a:chOff x="0" y="-47625"/>
            <a:chExt cx="1234114" cy="460400"/>
          </a:xfrm>
        </p:grpSpPr>
        <p:sp>
          <p:nvSpPr>
            <p:cNvPr id="151" name="Google Shape;151;p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7AC3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3" name="Google Shape;153;p4"/>
          <p:cNvSpPr txBox="1"/>
          <p:nvPr/>
        </p:nvSpPr>
        <p:spPr>
          <a:xfrm>
            <a:off x="1153950" y="1409225"/>
            <a:ext cx="14610300" cy="19992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None/>
            </a:pPr>
            <a:r>
              <a:rPr b="1" lang="en-US" sz="6098">
                <a:solidFill>
                  <a:srgbClr val="050A30"/>
                </a:solidFill>
                <a:latin typeface="Arial"/>
                <a:ea typeface="Arial"/>
                <a:cs typeface="Arial"/>
                <a:sym typeface="Arial"/>
              </a:rPr>
              <a:t>COMPETENCIA(S) Que desarrollaremos</a:t>
            </a:r>
            <a:endParaRPr/>
          </a:p>
        </p:txBody>
      </p:sp>
      <p:sp>
        <p:nvSpPr>
          <p:cNvPr id="154" name="Google Shape;154;p4"/>
          <p:cNvSpPr txBox="1"/>
          <p:nvPr/>
        </p:nvSpPr>
        <p:spPr>
          <a:xfrm>
            <a:off x="2557550" y="3698875"/>
            <a:ext cx="12569700" cy="406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000">
                <a:solidFill>
                  <a:srgbClr val="050A30"/>
                </a:solidFill>
                <a:latin typeface="Arial"/>
                <a:ea typeface="Arial"/>
                <a:cs typeface="Arial"/>
                <a:sym typeface="Arial"/>
              </a:rPr>
              <a:t>Crea aplicaciones de realidad aumentada con contenido digital interactivo mediante el uso de bibliotecas y técnicas de diseño de experiencias para integrar información virtual en el mundo real de forma efectiva y funcional.</a:t>
            </a:r>
            <a:endParaRPr b="1" sz="4000">
              <a:solidFill>
                <a:srgbClr val="050A3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5"/>
          <p:cNvSpPr txBox="1"/>
          <p:nvPr/>
        </p:nvSpPr>
        <p:spPr>
          <a:xfrm>
            <a:off x="-158578" y="1128079"/>
            <a:ext cx="11607900" cy="2866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¿Qué es la Realidad Aumentada?</a:t>
            </a:r>
            <a:endParaRPr/>
          </a:p>
        </p:txBody>
      </p:sp>
      <p:grpSp>
        <p:nvGrpSpPr>
          <p:cNvPr id="161" name="Google Shape;161;p5"/>
          <p:cNvGrpSpPr/>
          <p:nvPr/>
        </p:nvGrpSpPr>
        <p:grpSpPr>
          <a:xfrm rot="-5400000">
            <a:off x="6095749" y="2420783"/>
            <a:ext cx="6818207" cy="21127995"/>
            <a:chOff x="0" y="-47625"/>
            <a:chExt cx="1795742" cy="5564575"/>
          </a:xfrm>
        </p:grpSpPr>
        <p:sp>
          <p:nvSpPr>
            <p:cNvPr id="162" name="Google Shape;162;p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4" name="Google Shape;164;p5"/>
          <p:cNvGrpSpPr/>
          <p:nvPr/>
        </p:nvGrpSpPr>
        <p:grpSpPr>
          <a:xfrm rot="-5400000">
            <a:off x="3906656" y="-11095415"/>
            <a:ext cx="2045233" cy="21127995"/>
            <a:chOff x="0" y="-47625"/>
            <a:chExt cx="538662" cy="5564575"/>
          </a:xfrm>
        </p:grpSpPr>
        <p:sp>
          <p:nvSpPr>
            <p:cNvPr id="165" name="Google Shape;165;p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7" name="Google Shape;167;p5"/>
          <p:cNvGrpSpPr/>
          <p:nvPr/>
        </p:nvGrpSpPr>
        <p:grpSpPr>
          <a:xfrm rot="2700000">
            <a:off x="13798263" y="-60632"/>
            <a:ext cx="4685776" cy="1748082"/>
            <a:chOff x="0" y="-47625"/>
            <a:chExt cx="1234114" cy="460400"/>
          </a:xfrm>
        </p:grpSpPr>
        <p:sp>
          <p:nvSpPr>
            <p:cNvPr id="168" name="Google Shape;168;p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0" name="Google Shape;170;p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5"/>
          <p:cNvSpPr/>
          <p:nvPr/>
        </p:nvSpPr>
        <p:spPr>
          <a:xfrm>
            <a:off x="11449325" y="1231405"/>
            <a:ext cx="4834228" cy="2719253"/>
          </a:xfrm>
          <a:custGeom>
            <a:rect b="b" l="l" r="r" t="t"/>
            <a:pathLst>
              <a:path extrusionOk="0" h="2719253" w="4834228">
                <a:moveTo>
                  <a:pt x="0" y="0"/>
                </a:moveTo>
                <a:lnTo>
                  <a:pt x="4834228" y="0"/>
                </a:lnTo>
                <a:lnTo>
                  <a:pt x="4834228" y="2719253"/>
                </a:lnTo>
                <a:lnTo>
                  <a:pt x="0" y="271925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5"/>
          <p:cNvSpPr txBox="1"/>
          <p:nvPr/>
        </p:nvSpPr>
        <p:spPr>
          <a:xfrm>
            <a:off x="1477475" y="4326725"/>
            <a:ext cx="15333000" cy="30468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La Realidad Aumentada (AR) es una tecnología que superpone elementos digitales sobre el mundo físico en tiempo real.</a:t>
            </a:r>
            <a:endParaRPr/>
          </a:p>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A diferencia de la Realidad Virtual (RV), que crea un entorno completamente digital y reemplaza el mundo real, AR enriquece la realidad existente, añadiendo capas de información o interactividad al entorno físico.</a:t>
            </a:r>
            <a:endParaRPr/>
          </a:p>
        </p:txBody>
      </p:sp>
      <p:sp>
        <p:nvSpPr>
          <p:cNvPr id="173" name="Google Shape;173;p5"/>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txBox="1"/>
          <p:nvPr/>
        </p:nvSpPr>
        <p:spPr>
          <a:xfrm>
            <a:off x="3583638" y="859488"/>
            <a:ext cx="12023400" cy="203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F4F6FC"/>
                </a:solidFill>
                <a:latin typeface="Arial"/>
                <a:ea typeface="Arial"/>
                <a:cs typeface="Arial"/>
                <a:sym typeface="Arial"/>
              </a:rPr>
              <a:t>Diferencias Clave Entre Realidad Aumentada y Realidad Virtual</a:t>
            </a:r>
            <a:endParaRPr/>
          </a:p>
        </p:txBody>
      </p:sp>
      <p:grpSp>
        <p:nvGrpSpPr>
          <p:cNvPr id="180" name="Google Shape;180;p6"/>
          <p:cNvGrpSpPr/>
          <p:nvPr/>
        </p:nvGrpSpPr>
        <p:grpSpPr>
          <a:xfrm rot="-5400000">
            <a:off x="6095749" y="2420783"/>
            <a:ext cx="6818207" cy="21127995"/>
            <a:chOff x="0" y="-47625"/>
            <a:chExt cx="1795742" cy="5564575"/>
          </a:xfrm>
        </p:grpSpPr>
        <p:sp>
          <p:nvSpPr>
            <p:cNvPr id="181" name="Google Shape;181;p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3" name="Google Shape;183;p6"/>
          <p:cNvGrpSpPr/>
          <p:nvPr/>
        </p:nvGrpSpPr>
        <p:grpSpPr>
          <a:xfrm rot="-5400000">
            <a:off x="3906656" y="-11095415"/>
            <a:ext cx="2045233" cy="21127995"/>
            <a:chOff x="0" y="-47625"/>
            <a:chExt cx="538662" cy="5564575"/>
          </a:xfrm>
        </p:grpSpPr>
        <p:sp>
          <p:nvSpPr>
            <p:cNvPr id="184" name="Google Shape;184;p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6" name="Google Shape;186;p6"/>
          <p:cNvGrpSpPr/>
          <p:nvPr/>
        </p:nvGrpSpPr>
        <p:grpSpPr>
          <a:xfrm rot="2700000">
            <a:off x="13798263" y="-60632"/>
            <a:ext cx="4685776" cy="1748082"/>
            <a:chOff x="0" y="-47625"/>
            <a:chExt cx="1234114" cy="460400"/>
          </a:xfrm>
        </p:grpSpPr>
        <p:sp>
          <p:nvSpPr>
            <p:cNvPr id="187" name="Google Shape;187;p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9" name="Google Shape;189;p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p:nvPr/>
        </p:nvSpPr>
        <p:spPr>
          <a:xfrm>
            <a:off x="6600843" y="4887147"/>
            <a:ext cx="5988845" cy="3319720"/>
          </a:xfrm>
          <a:custGeom>
            <a:rect b="b" l="l" r="r" t="t"/>
            <a:pathLst>
              <a:path extrusionOk="0" h="3319720" w="5988845">
                <a:moveTo>
                  <a:pt x="0" y="0"/>
                </a:moveTo>
                <a:lnTo>
                  <a:pt x="5988845" y="0"/>
                </a:lnTo>
                <a:lnTo>
                  <a:pt x="5988845" y="3319719"/>
                </a:lnTo>
                <a:lnTo>
                  <a:pt x="0" y="3319719"/>
                </a:lnTo>
                <a:lnTo>
                  <a:pt x="0" y="0"/>
                </a:lnTo>
                <a:close/>
              </a:path>
            </a:pathLst>
          </a:custGeom>
          <a:blipFill rotWithShape="1">
            <a:blip r:embed="rId5">
              <a:alphaModFix/>
            </a:blip>
            <a:stretch>
              <a:fillRect b="0" l="0" r="0" t="-188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6"/>
          <p:cNvSpPr txBox="1"/>
          <p:nvPr/>
        </p:nvSpPr>
        <p:spPr>
          <a:xfrm>
            <a:off x="1477486" y="3066106"/>
            <a:ext cx="15333028" cy="1057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3000">
                <a:solidFill>
                  <a:srgbClr val="F4F6FC"/>
                </a:solidFill>
                <a:latin typeface="Arial"/>
                <a:ea typeface="Arial"/>
                <a:cs typeface="Arial"/>
                <a:sym typeface="Arial"/>
              </a:rPr>
              <a:t>Realidad Aumentada (AR) </a:t>
            </a:r>
            <a:r>
              <a:rPr lang="en-US" sz="3000">
                <a:solidFill>
                  <a:srgbClr val="F4F6FC"/>
                </a:solidFill>
                <a:latin typeface="Arial"/>
                <a:ea typeface="Arial"/>
                <a:cs typeface="Arial"/>
                <a:sym typeface="Arial"/>
              </a:rPr>
              <a:t>no reemplaza el mundo real, lo complementa. Es decir, AR utiliza los objetos físicos y los modifica con información digital.</a:t>
            </a:r>
            <a:endParaRPr/>
          </a:p>
        </p:txBody>
      </p:sp>
      <p:sp>
        <p:nvSpPr>
          <p:cNvPr id="192" name="Google Shape;192;p6"/>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8" name="Google Shape;198;p7"/>
          <p:cNvGrpSpPr/>
          <p:nvPr/>
        </p:nvGrpSpPr>
        <p:grpSpPr>
          <a:xfrm rot="-5400000">
            <a:off x="6095749" y="2420783"/>
            <a:ext cx="6818207" cy="21127995"/>
            <a:chOff x="0" y="-47625"/>
            <a:chExt cx="1795742" cy="5564575"/>
          </a:xfrm>
        </p:grpSpPr>
        <p:sp>
          <p:nvSpPr>
            <p:cNvPr id="199" name="Google Shape;199;p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1" name="Google Shape;201;p7"/>
          <p:cNvGrpSpPr/>
          <p:nvPr/>
        </p:nvGrpSpPr>
        <p:grpSpPr>
          <a:xfrm rot="-5400000">
            <a:off x="3906656" y="-11095415"/>
            <a:ext cx="2045233" cy="21127995"/>
            <a:chOff x="0" y="-47625"/>
            <a:chExt cx="538662" cy="5564575"/>
          </a:xfrm>
        </p:grpSpPr>
        <p:sp>
          <p:nvSpPr>
            <p:cNvPr id="202" name="Google Shape;202;p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4" name="Google Shape;204;p7"/>
          <p:cNvGrpSpPr/>
          <p:nvPr/>
        </p:nvGrpSpPr>
        <p:grpSpPr>
          <a:xfrm rot="2700000">
            <a:off x="13798263" y="-60632"/>
            <a:ext cx="4685776" cy="1748082"/>
            <a:chOff x="0" y="-47625"/>
            <a:chExt cx="1234114" cy="460400"/>
          </a:xfrm>
        </p:grpSpPr>
        <p:sp>
          <p:nvSpPr>
            <p:cNvPr id="205" name="Google Shape;205;p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7" name="Google Shape;207;p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7"/>
          <p:cNvSpPr/>
          <p:nvPr/>
        </p:nvSpPr>
        <p:spPr>
          <a:xfrm>
            <a:off x="5403836" y="4752166"/>
            <a:ext cx="7480327" cy="4207684"/>
          </a:xfrm>
          <a:custGeom>
            <a:rect b="b" l="l" r="r" t="t"/>
            <a:pathLst>
              <a:path extrusionOk="0" h="4207684" w="7480327">
                <a:moveTo>
                  <a:pt x="0" y="0"/>
                </a:moveTo>
                <a:lnTo>
                  <a:pt x="7480328" y="0"/>
                </a:lnTo>
                <a:lnTo>
                  <a:pt x="7480328" y="4207684"/>
                </a:lnTo>
                <a:lnTo>
                  <a:pt x="0" y="4207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10" name="Google Shape;210;p7"/>
          <p:cNvSpPr txBox="1"/>
          <p:nvPr/>
        </p:nvSpPr>
        <p:spPr>
          <a:xfrm>
            <a:off x="1691038" y="2759262"/>
            <a:ext cx="14905924" cy="15906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3000">
                <a:solidFill>
                  <a:srgbClr val="050A30"/>
                </a:solidFill>
                <a:latin typeface="Arial"/>
                <a:ea typeface="Arial"/>
                <a:cs typeface="Arial"/>
                <a:sym typeface="Arial"/>
              </a:rPr>
              <a:t>Realidad Virtual (RV) </a:t>
            </a:r>
            <a:r>
              <a:rPr lang="en-US" sz="3000">
                <a:solidFill>
                  <a:srgbClr val="050A30"/>
                </a:solidFill>
                <a:latin typeface="Arial"/>
                <a:ea typeface="Arial"/>
                <a:cs typeface="Arial"/>
                <a:sym typeface="Arial"/>
              </a:rPr>
              <a:t>por otro lado, crea un entorno completamente virtual que reemplaza el mundo real, sumergiendo al usuario en un entorno generado por computadora.</a:t>
            </a:r>
            <a:endParaRPr/>
          </a:p>
        </p:txBody>
      </p:sp>
      <p:sp>
        <p:nvSpPr>
          <p:cNvPr id="211" name="Google Shape;211;p7"/>
          <p:cNvSpPr txBox="1"/>
          <p:nvPr/>
        </p:nvSpPr>
        <p:spPr>
          <a:xfrm>
            <a:off x="2181152" y="609275"/>
            <a:ext cx="13925700" cy="203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050A30"/>
                </a:solidFill>
                <a:latin typeface="Arial"/>
                <a:ea typeface="Arial"/>
                <a:cs typeface="Arial"/>
                <a:sym typeface="Arial"/>
              </a:rPr>
              <a:t>Diferencias Clave Entre Realidad Aumentada y Realidad Virtual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7" name="Google Shape;217;p8"/>
          <p:cNvGrpSpPr/>
          <p:nvPr/>
        </p:nvGrpSpPr>
        <p:grpSpPr>
          <a:xfrm rot="-5400000">
            <a:off x="6095749" y="2420783"/>
            <a:ext cx="6818207" cy="21127995"/>
            <a:chOff x="0" y="-47625"/>
            <a:chExt cx="1795742" cy="5564575"/>
          </a:xfrm>
        </p:grpSpPr>
        <p:sp>
          <p:nvSpPr>
            <p:cNvPr id="218" name="Google Shape;218;p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0" name="Google Shape;220;p8"/>
          <p:cNvGrpSpPr/>
          <p:nvPr/>
        </p:nvGrpSpPr>
        <p:grpSpPr>
          <a:xfrm rot="-5400000">
            <a:off x="3906656" y="-11095415"/>
            <a:ext cx="2045233" cy="21127995"/>
            <a:chOff x="0" y="-47625"/>
            <a:chExt cx="538662" cy="5564575"/>
          </a:xfrm>
        </p:grpSpPr>
        <p:sp>
          <p:nvSpPr>
            <p:cNvPr id="221" name="Google Shape;221;p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3" name="Google Shape;223;p8"/>
          <p:cNvGrpSpPr/>
          <p:nvPr/>
        </p:nvGrpSpPr>
        <p:grpSpPr>
          <a:xfrm rot="2700000">
            <a:off x="13798263" y="-60632"/>
            <a:ext cx="4685776" cy="1748082"/>
            <a:chOff x="0" y="-47625"/>
            <a:chExt cx="1234114" cy="460400"/>
          </a:xfrm>
        </p:grpSpPr>
        <p:sp>
          <p:nvSpPr>
            <p:cNvPr id="224" name="Google Shape;224;p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 name="Google Shape;226;p8"/>
          <p:cNvSpPr txBox="1"/>
          <p:nvPr/>
        </p:nvSpPr>
        <p:spPr>
          <a:xfrm>
            <a:off x="1028700" y="9085681"/>
            <a:ext cx="4756800" cy="3078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27" name="Google Shape;227;p8"/>
          <p:cNvSpPr txBox="1"/>
          <p:nvPr/>
        </p:nvSpPr>
        <p:spPr>
          <a:xfrm>
            <a:off x="1477486" y="1028700"/>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Tecnologías involucradas</a:t>
            </a:r>
            <a:endParaRPr/>
          </a:p>
        </p:txBody>
      </p:sp>
      <p:sp>
        <p:nvSpPr>
          <p:cNvPr id="228" name="Google Shape;228;p8"/>
          <p:cNvSpPr txBox="1"/>
          <p:nvPr/>
        </p:nvSpPr>
        <p:spPr>
          <a:xfrm>
            <a:off x="2095667" y="3855282"/>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8"/>
          <p:cNvSpPr txBox="1"/>
          <p:nvPr/>
        </p:nvSpPr>
        <p:spPr>
          <a:xfrm>
            <a:off x="1477486" y="2487066"/>
            <a:ext cx="15333000" cy="56322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4F6FC"/>
                </a:solidFill>
                <a:latin typeface="Arial"/>
                <a:ea typeface="Arial"/>
                <a:cs typeface="Arial"/>
                <a:sym typeface="Arial"/>
              </a:rPr>
              <a:t>Para que funcione la AR, se necesitan diferentes tecnologías que faciliten la integración entre lo real y lo digital. Algunas de las tecnologías clave incluyen:</a:t>
            </a:r>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Dispositivos móviles:</a:t>
            </a:r>
            <a:r>
              <a:rPr b="0" i="0" lang="en-US" sz="2999" u="none" cap="none" strike="noStrike">
                <a:solidFill>
                  <a:srgbClr val="F4F6FC"/>
                </a:solidFill>
                <a:latin typeface="Arial"/>
                <a:ea typeface="Arial"/>
                <a:cs typeface="Arial"/>
                <a:sym typeface="Arial"/>
              </a:rPr>
              <a:t> Smartphones y tabletas que cuentan con cámaras y sensores.</a:t>
            </a:r>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Cámaras y sensores:</a:t>
            </a:r>
            <a:r>
              <a:rPr b="0" i="0" lang="en-US" sz="2999" u="none" cap="none" strike="noStrike">
                <a:solidFill>
                  <a:srgbClr val="F4F6FC"/>
                </a:solidFill>
                <a:latin typeface="Arial"/>
                <a:ea typeface="Arial"/>
                <a:cs typeface="Arial"/>
                <a:sym typeface="Arial"/>
              </a:rPr>
              <a:t> Se utilizan para captar el entorno físico y objetos del mundo real.</a:t>
            </a:r>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Procesadores y software: </a:t>
            </a:r>
            <a:r>
              <a:rPr b="0" i="0" lang="en-US" sz="2999" u="none" cap="none" strike="noStrike">
                <a:solidFill>
                  <a:srgbClr val="F4F6FC"/>
                </a:solidFill>
                <a:latin typeface="Arial"/>
                <a:ea typeface="Arial"/>
                <a:cs typeface="Arial"/>
                <a:sym typeface="Arial"/>
              </a:rPr>
              <a:t>Los dispositivos necesitan potencia de procesamiento para superponer los elementos digitales en tiempo real y para reconocer el entorno.</a:t>
            </a:r>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Pantallas: </a:t>
            </a:r>
            <a:r>
              <a:rPr b="0" i="0" lang="en-US" sz="2999" u="none" cap="none" strike="noStrike">
                <a:solidFill>
                  <a:srgbClr val="F4F6FC"/>
                </a:solidFill>
                <a:latin typeface="Arial"/>
                <a:ea typeface="Arial"/>
                <a:cs typeface="Arial"/>
                <a:sym typeface="Arial"/>
              </a:rPr>
              <a:t>Pantallas interactivas, gafas inteligentes u otras interfaces de visualización.</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p:txBody>
      </p:sp>
      <p:sp>
        <p:nvSpPr>
          <p:cNvPr id="230" name="Google Shape;230;p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9"/>
          <p:cNvSpPr txBox="1"/>
          <p:nvPr/>
        </p:nvSpPr>
        <p:spPr>
          <a:xfrm>
            <a:off x="3522950" y="585375"/>
            <a:ext cx="11242200" cy="2709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000">
                <a:solidFill>
                  <a:srgbClr val="050A30"/>
                </a:solidFill>
                <a:latin typeface="Arial"/>
                <a:ea typeface="Arial"/>
                <a:cs typeface="Arial"/>
                <a:sym typeface="Arial"/>
              </a:rPr>
              <a:t>Ejemplos de Realidad Aumentada</a:t>
            </a:r>
            <a:endParaRPr b="1" sz="8000">
              <a:solidFill>
                <a:srgbClr val="050A30"/>
              </a:solidFill>
              <a:latin typeface="Arial"/>
              <a:ea typeface="Arial"/>
              <a:cs typeface="Arial"/>
              <a:sym typeface="Arial"/>
            </a:endParaRPr>
          </a:p>
        </p:txBody>
      </p:sp>
      <p:grpSp>
        <p:nvGrpSpPr>
          <p:cNvPr id="237" name="Google Shape;237;p9"/>
          <p:cNvGrpSpPr/>
          <p:nvPr/>
        </p:nvGrpSpPr>
        <p:grpSpPr>
          <a:xfrm rot="-5400000">
            <a:off x="6095749" y="2420783"/>
            <a:ext cx="6818207" cy="21127995"/>
            <a:chOff x="0" y="-47625"/>
            <a:chExt cx="1795742" cy="5564575"/>
          </a:xfrm>
        </p:grpSpPr>
        <p:sp>
          <p:nvSpPr>
            <p:cNvPr id="238" name="Google Shape;238;p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0" name="Google Shape;240;p9"/>
          <p:cNvGrpSpPr/>
          <p:nvPr/>
        </p:nvGrpSpPr>
        <p:grpSpPr>
          <a:xfrm rot="-5400000">
            <a:off x="3906656" y="-11095415"/>
            <a:ext cx="2045233" cy="21127995"/>
            <a:chOff x="0" y="-47625"/>
            <a:chExt cx="538662" cy="5564575"/>
          </a:xfrm>
        </p:grpSpPr>
        <p:sp>
          <p:nvSpPr>
            <p:cNvPr id="241" name="Google Shape;241;p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3" name="Google Shape;243;p9"/>
          <p:cNvGrpSpPr/>
          <p:nvPr/>
        </p:nvGrpSpPr>
        <p:grpSpPr>
          <a:xfrm rot="2700000">
            <a:off x="13798263" y="-60632"/>
            <a:ext cx="4685776" cy="1748082"/>
            <a:chOff x="0" y="-47625"/>
            <a:chExt cx="1234114" cy="460400"/>
          </a:xfrm>
        </p:grpSpPr>
        <p:sp>
          <p:nvSpPr>
            <p:cNvPr id="244" name="Google Shape;244;p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9"/>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48" name="Google Shape;248;p9"/>
          <p:cNvSpPr txBox="1"/>
          <p:nvPr/>
        </p:nvSpPr>
        <p:spPr>
          <a:xfrm>
            <a:off x="4725153" y="3673088"/>
            <a:ext cx="8837700" cy="2720700"/>
          </a:xfrm>
          <a:prstGeom prst="rect">
            <a:avLst/>
          </a:prstGeom>
          <a:noFill/>
          <a:ln>
            <a:noFill/>
          </a:ln>
        </p:spPr>
        <p:txBody>
          <a:bodyPr anchorCtr="0" anchor="t" bIns="0" lIns="0" spcFirstLastPara="1" rIns="0" wrap="square" tIns="0">
            <a:spAutoFit/>
          </a:bodyPr>
          <a:lstStyle/>
          <a:p>
            <a:pPr indent="-367026" lvl="1" marL="734053" marR="0" rtl="0" algn="just">
              <a:lnSpc>
                <a:spcPct val="140011"/>
              </a:lnSpc>
              <a:spcBef>
                <a:spcPts val="0"/>
              </a:spcBef>
              <a:spcAft>
                <a:spcPts val="0"/>
              </a:spcAft>
              <a:buClr>
                <a:srgbClr val="050A30"/>
              </a:buClr>
              <a:buSzPts val="3399"/>
              <a:buFont typeface="Arial"/>
              <a:buChar char="•"/>
            </a:pPr>
            <a:r>
              <a:rPr b="1" i="0" lang="en-US" sz="3399" u="none" cap="none" strike="noStrike">
                <a:solidFill>
                  <a:srgbClr val="050A30"/>
                </a:solidFill>
                <a:latin typeface="Arial"/>
                <a:ea typeface="Arial"/>
                <a:cs typeface="Arial"/>
                <a:sym typeface="Arial"/>
              </a:rPr>
              <a:t>Pokémon Go</a:t>
            </a:r>
            <a:endParaRPr/>
          </a:p>
          <a:p>
            <a:pPr indent="-367026" lvl="1" marL="734053" marR="0" rtl="0" algn="just">
              <a:lnSpc>
                <a:spcPct val="140011"/>
              </a:lnSpc>
              <a:spcBef>
                <a:spcPts val="0"/>
              </a:spcBef>
              <a:spcAft>
                <a:spcPts val="0"/>
              </a:spcAft>
              <a:buClr>
                <a:srgbClr val="050A30"/>
              </a:buClr>
              <a:buSzPts val="3399"/>
              <a:buFont typeface="Arial"/>
              <a:buChar char="•"/>
            </a:pPr>
            <a:r>
              <a:rPr b="1" i="0" lang="en-US" sz="3399" u="none" cap="none" strike="noStrike">
                <a:solidFill>
                  <a:srgbClr val="050A30"/>
                </a:solidFill>
                <a:latin typeface="Arial"/>
                <a:ea typeface="Arial"/>
                <a:cs typeface="Arial"/>
                <a:sym typeface="Arial"/>
              </a:rPr>
              <a:t>Aplicaciones de navegación</a:t>
            </a:r>
            <a:endParaRPr b="1" sz="3399">
              <a:solidFill>
                <a:srgbClr val="050A30"/>
              </a:solidFill>
              <a:latin typeface="Arial"/>
              <a:ea typeface="Arial"/>
              <a:cs typeface="Arial"/>
              <a:sym typeface="Arial"/>
            </a:endParaRPr>
          </a:p>
          <a:p>
            <a:pPr indent="-367026" lvl="1" marL="734053" marR="0" rtl="0" algn="just">
              <a:lnSpc>
                <a:spcPct val="140011"/>
              </a:lnSpc>
              <a:spcBef>
                <a:spcPts val="0"/>
              </a:spcBef>
              <a:spcAft>
                <a:spcPts val="0"/>
              </a:spcAft>
              <a:buClr>
                <a:srgbClr val="050A30"/>
              </a:buClr>
              <a:buSzPts val="3399"/>
              <a:buFont typeface="Arial"/>
              <a:buChar char="•"/>
            </a:pPr>
            <a:r>
              <a:rPr b="1" i="0" lang="en-US" sz="3399" u="none" cap="none" strike="noStrike">
                <a:solidFill>
                  <a:srgbClr val="050A30"/>
                </a:solidFill>
                <a:latin typeface="Arial"/>
                <a:ea typeface="Arial"/>
                <a:cs typeface="Arial"/>
                <a:sym typeface="Arial"/>
              </a:rPr>
              <a:t>Filtros en redes sociales</a:t>
            </a:r>
            <a:endParaRPr b="1" sz="3399">
              <a:solidFill>
                <a:srgbClr val="050A30"/>
              </a:solidFill>
              <a:latin typeface="Arial"/>
              <a:ea typeface="Arial"/>
              <a:cs typeface="Arial"/>
              <a:sym typeface="Arial"/>
            </a:endParaRPr>
          </a:p>
          <a:p>
            <a:pPr indent="-367026" lvl="1" marL="734053" marR="0" rtl="0" algn="just">
              <a:lnSpc>
                <a:spcPct val="140011"/>
              </a:lnSpc>
              <a:spcBef>
                <a:spcPts val="0"/>
              </a:spcBef>
              <a:spcAft>
                <a:spcPts val="0"/>
              </a:spcAft>
              <a:buClr>
                <a:srgbClr val="050A30"/>
              </a:buClr>
              <a:buSzPts val="3399"/>
              <a:buFont typeface="Arial"/>
              <a:buChar char="•"/>
            </a:pPr>
            <a:r>
              <a:rPr b="1" i="0" lang="en-US" sz="3399" u="none" cap="none" strike="noStrike">
                <a:solidFill>
                  <a:srgbClr val="050A30"/>
                </a:solidFill>
                <a:latin typeface="Arial"/>
                <a:ea typeface="Arial"/>
                <a:cs typeface="Arial"/>
                <a:sym typeface="Arial"/>
              </a:rPr>
              <a:t>Visualización de productos en 3D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0"/>
          <p:cNvSpPr txBox="1"/>
          <p:nvPr/>
        </p:nvSpPr>
        <p:spPr>
          <a:xfrm>
            <a:off x="1744488" y="1019175"/>
            <a:ext cx="14799023" cy="2447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000">
                <a:solidFill>
                  <a:srgbClr val="F4F6FC"/>
                </a:solidFill>
                <a:latin typeface="Arial"/>
                <a:ea typeface="Arial"/>
                <a:cs typeface="Arial"/>
                <a:sym typeface="Arial"/>
              </a:rPr>
              <a:t>Ejemplos de Realidad Aumentada</a:t>
            </a:r>
            <a:endParaRPr/>
          </a:p>
        </p:txBody>
      </p:sp>
      <p:grpSp>
        <p:nvGrpSpPr>
          <p:cNvPr id="255" name="Google Shape;255;p10"/>
          <p:cNvGrpSpPr/>
          <p:nvPr/>
        </p:nvGrpSpPr>
        <p:grpSpPr>
          <a:xfrm rot="-5400000">
            <a:off x="6095749" y="2420783"/>
            <a:ext cx="6818207" cy="21127995"/>
            <a:chOff x="0" y="-47625"/>
            <a:chExt cx="1795742" cy="5564575"/>
          </a:xfrm>
        </p:grpSpPr>
        <p:sp>
          <p:nvSpPr>
            <p:cNvPr id="256" name="Google Shape;256;p1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8" name="Google Shape;258;p10"/>
          <p:cNvGrpSpPr/>
          <p:nvPr/>
        </p:nvGrpSpPr>
        <p:grpSpPr>
          <a:xfrm rot="-5400000">
            <a:off x="3906656" y="-11095415"/>
            <a:ext cx="2045233" cy="21127995"/>
            <a:chOff x="0" y="-47625"/>
            <a:chExt cx="538662" cy="5564575"/>
          </a:xfrm>
        </p:grpSpPr>
        <p:sp>
          <p:nvSpPr>
            <p:cNvPr id="259" name="Google Shape;259;p1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1" name="Google Shape;261;p10"/>
          <p:cNvGrpSpPr/>
          <p:nvPr/>
        </p:nvGrpSpPr>
        <p:grpSpPr>
          <a:xfrm rot="2700000">
            <a:off x="13798263" y="-60632"/>
            <a:ext cx="4685776" cy="1748082"/>
            <a:chOff x="0" y="-47625"/>
            <a:chExt cx="1234114" cy="460400"/>
          </a:xfrm>
        </p:grpSpPr>
        <p:sp>
          <p:nvSpPr>
            <p:cNvPr id="262" name="Google Shape;262;p1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4" name="Google Shape;264;p1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0"/>
          <p:cNvSpPr/>
          <p:nvPr/>
        </p:nvSpPr>
        <p:spPr>
          <a:xfrm>
            <a:off x="1477486" y="4133850"/>
            <a:ext cx="3175130" cy="3242788"/>
          </a:xfrm>
          <a:custGeom>
            <a:rect b="b" l="l" r="r" t="t"/>
            <a:pathLst>
              <a:path extrusionOk="0" h="3242788" w="3175130">
                <a:moveTo>
                  <a:pt x="0" y="0"/>
                </a:moveTo>
                <a:lnTo>
                  <a:pt x="3175130" y="0"/>
                </a:lnTo>
                <a:lnTo>
                  <a:pt x="3175130" y="3242788"/>
                </a:lnTo>
                <a:lnTo>
                  <a:pt x="0" y="3242788"/>
                </a:lnTo>
                <a:lnTo>
                  <a:pt x="0" y="0"/>
                </a:lnTo>
                <a:close/>
              </a:path>
            </a:pathLst>
          </a:custGeom>
          <a:blipFill rotWithShape="1">
            <a:blip r:embed="rId5">
              <a:alphaModFix/>
            </a:blip>
            <a:stretch>
              <a:fillRect b="0" l="-104261"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0"/>
          <p:cNvSpPr/>
          <p:nvPr/>
        </p:nvSpPr>
        <p:spPr>
          <a:xfrm>
            <a:off x="6911148" y="4133850"/>
            <a:ext cx="4465704" cy="3242788"/>
          </a:xfrm>
          <a:custGeom>
            <a:rect b="b" l="l" r="r" t="t"/>
            <a:pathLst>
              <a:path extrusionOk="0" h="3242788" w="4465704">
                <a:moveTo>
                  <a:pt x="0" y="0"/>
                </a:moveTo>
                <a:lnTo>
                  <a:pt x="4465704" y="0"/>
                </a:lnTo>
                <a:lnTo>
                  <a:pt x="4465704" y="3242788"/>
                </a:lnTo>
                <a:lnTo>
                  <a:pt x="0" y="324278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0"/>
          <p:cNvSpPr/>
          <p:nvPr/>
        </p:nvSpPr>
        <p:spPr>
          <a:xfrm>
            <a:off x="13349298" y="4207497"/>
            <a:ext cx="3779909" cy="3113086"/>
          </a:xfrm>
          <a:custGeom>
            <a:rect b="b" l="l" r="r" t="t"/>
            <a:pathLst>
              <a:path extrusionOk="0" h="3113086" w="3779909">
                <a:moveTo>
                  <a:pt x="0" y="0"/>
                </a:moveTo>
                <a:lnTo>
                  <a:pt x="3779909" y="0"/>
                </a:lnTo>
                <a:lnTo>
                  <a:pt x="3779909" y="3113086"/>
                </a:lnTo>
                <a:lnTo>
                  <a:pt x="0" y="3113086"/>
                </a:lnTo>
                <a:lnTo>
                  <a:pt x="0" y="0"/>
                </a:lnTo>
                <a:close/>
              </a:path>
            </a:pathLst>
          </a:custGeom>
          <a:blipFill rotWithShape="1">
            <a:blip r:embed="rId7">
              <a:alphaModFix/>
            </a:blip>
            <a:stretch>
              <a:fillRect b="-1800" l="-17721" r="-811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0"/>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1"/>
          <p:cNvSpPr txBox="1"/>
          <p:nvPr/>
        </p:nvSpPr>
        <p:spPr>
          <a:xfrm>
            <a:off x="3367191" y="585383"/>
            <a:ext cx="11397866" cy="1990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500">
                <a:solidFill>
                  <a:srgbClr val="050A30"/>
                </a:solidFill>
                <a:latin typeface="Arial"/>
                <a:ea typeface="Arial"/>
                <a:cs typeface="Arial"/>
                <a:sym typeface="Arial"/>
              </a:rPr>
              <a:t>Historia de la Realidad Aumentada</a:t>
            </a:r>
            <a:endParaRPr/>
          </a:p>
        </p:txBody>
      </p:sp>
      <p:grpSp>
        <p:nvGrpSpPr>
          <p:cNvPr id="275" name="Google Shape;275;p11"/>
          <p:cNvGrpSpPr/>
          <p:nvPr/>
        </p:nvGrpSpPr>
        <p:grpSpPr>
          <a:xfrm rot="-5400000">
            <a:off x="6095749" y="2420783"/>
            <a:ext cx="6818207" cy="21127995"/>
            <a:chOff x="0" y="-47625"/>
            <a:chExt cx="1795742" cy="5564575"/>
          </a:xfrm>
        </p:grpSpPr>
        <p:sp>
          <p:nvSpPr>
            <p:cNvPr id="276" name="Google Shape;276;p1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8" name="Google Shape;278;p11"/>
          <p:cNvGrpSpPr/>
          <p:nvPr/>
        </p:nvGrpSpPr>
        <p:grpSpPr>
          <a:xfrm rot="-5400000">
            <a:off x="3906656" y="-11095415"/>
            <a:ext cx="2045233" cy="21127995"/>
            <a:chOff x="0" y="-47625"/>
            <a:chExt cx="538662" cy="5564575"/>
          </a:xfrm>
        </p:grpSpPr>
        <p:sp>
          <p:nvSpPr>
            <p:cNvPr id="279" name="Google Shape;279;p1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1" name="Google Shape;281;p11"/>
          <p:cNvGrpSpPr/>
          <p:nvPr/>
        </p:nvGrpSpPr>
        <p:grpSpPr>
          <a:xfrm rot="2700000">
            <a:off x="13798263" y="-60632"/>
            <a:ext cx="4685776" cy="1748082"/>
            <a:chOff x="0" y="-47625"/>
            <a:chExt cx="1234114" cy="460400"/>
          </a:xfrm>
        </p:grpSpPr>
        <p:sp>
          <p:nvSpPr>
            <p:cNvPr id="282" name="Google Shape;282;p1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4" name="Google Shape;284;p11"/>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1"/>
          <p:cNvSpPr/>
          <p:nvPr/>
        </p:nvSpPr>
        <p:spPr>
          <a:xfrm>
            <a:off x="1440737" y="6950827"/>
            <a:ext cx="15406525" cy="1585195"/>
          </a:xfrm>
          <a:custGeom>
            <a:rect b="b" l="l" r="r" t="t"/>
            <a:pathLst>
              <a:path extrusionOk="0" h="1585195" w="15406525">
                <a:moveTo>
                  <a:pt x="0" y="0"/>
                </a:moveTo>
                <a:lnTo>
                  <a:pt x="15406526" y="0"/>
                </a:lnTo>
                <a:lnTo>
                  <a:pt x="15406526" y="1585196"/>
                </a:lnTo>
                <a:lnTo>
                  <a:pt x="0" y="158519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1"/>
          <p:cNvSpPr/>
          <p:nvPr/>
        </p:nvSpPr>
        <p:spPr>
          <a:xfrm>
            <a:off x="1440737" y="3088121"/>
            <a:ext cx="2724075" cy="3168480"/>
          </a:xfrm>
          <a:custGeom>
            <a:rect b="b" l="l" r="r" t="t"/>
            <a:pathLst>
              <a:path extrusionOk="0" h="864326" w="743097">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BA302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7" name="Google Shape;287;p11"/>
          <p:cNvGrpSpPr/>
          <p:nvPr/>
        </p:nvGrpSpPr>
        <p:grpSpPr>
          <a:xfrm>
            <a:off x="2026373" y="5933563"/>
            <a:ext cx="1543050" cy="1350169"/>
            <a:chOff x="0" y="0"/>
            <a:chExt cx="812800" cy="711200"/>
          </a:xfrm>
        </p:grpSpPr>
        <p:sp>
          <p:nvSpPr>
            <p:cNvPr id="288" name="Google Shape;288;p11"/>
            <p:cNvSpPr/>
            <p:nvPr/>
          </p:nvSpPr>
          <p:spPr>
            <a:xfrm>
              <a:off x="0" y="0"/>
              <a:ext cx="812800" cy="711200"/>
            </a:xfrm>
            <a:custGeom>
              <a:rect b="b" l="l" r="r" t="t"/>
              <a:pathLst>
                <a:path extrusionOk="0" h="711200" w="812800">
                  <a:moveTo>
                    <a:pt x="406400" y="711200"/>
                  </a:moveTo>
                  <a:lnTo>
                    <a:pt x="812800" y="0"/>
                  </a:lnTo>
                  <a:lnTo>
                    <a:pt x="0" y="0"/>
                  </a:lnTo>
                  <a:lnTo>
                    <a:pt x="406400" y="711200"/>
                  </a:lnTo>
                  <a:close/>
                </a:path>
              </a:pathLst>
            </a:custGeom>
            <a:solidFill>
              <a:srgbClr val="BA30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1"/>
            <p:cNvSpPr txBox="1"/>
            <p:nvPr/>
          </p:nvSpPr>
          <p:spPr>
            <a:xfrm>
              <a:off x="127000" y="3175"/>
              <a:ext cx="558800" cy="3778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0" name="Google Shape;290;p11"/>
          <p:cNvSpPr txBox="1"/>
          <p:nvPr/>
        </p:nvSpPr>
        <p:spPr>
          <a:xfrm>
            <a:off x="13114928" y="9076571"/>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91" name="Google Shape;291;p11"/>
          <p:cNvSpPr txBox="1"/>
          <p:nvPr/>
        </p:nvSpPr>
        <p:spPr>
          <a:xfrm>
            <a:off x="2215153" y="7287812"/>
            <a:ext cx="1949659" cy="854077"/>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lang="en-US" sz="4999">
                <a:solidFill>
                  <a:srgbClr val="FFFFFF"/>
                </a:solidFill>
                <a:latin typeface="Arial"/>
                <a:ea typeface="Arial"/>
                <a:cs typeface="Arial"/>
                <a:sym typeface="Arial"/>
              </a:rPr>
              <a:t>1960s</a:t>
            </a:r>
            <a:endParaRPr/>
          </a:p>
        </p:txBody>
      </p:sp>
      <p:sp>
        <p:nvSpPr>
          <p:cNvPr id="292" name="Google Shape;292;p11"/>
          <p:cNvSpPr txBox="1"/>
          <p:nvPr/>
        </p:nvSpPr>
        <p:spPr>
          <a:xfrm>
            <a:off x="5281356" y="7287812"/>
            <a:ext cx="1949659" cy="854077"/>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lang="en-US" sz="4999">
                <a:solidFill>
                  <a:srgbClr val="FFFFFF"/>
                </a:solidFill>
                <a:latin typeface="Arial"/>
                <a:ea typeface="Arial"/>
                <a:cs typeface="Arial"/>
                <a:sym typeface="Arial"/>
              </a:rPr>
              <a:t>1990s</a:t>
            </a:r>
            <a:endParaRPr/>
          </a:p>
        </p:txBody>
      </p:sp>
      <p:sp>
        <p:nvSpPr>
          <p:cNvPr id="293" name="Google Shape;293;p11"/>
          <p:cNvSpPr txBox="1"/>
          <p:nvPr/>
        </p:nvSpPr>
        <p:spPr>
          <a:xfrm>
            <a:off x="8345441" y="7306862"/>
            <a:ext cx="1949659" cy="854077"/>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lang="en-US" sz="4999">
                <a:solidFill>
                  <a:srgbClr val="FFFFFF"/>
                </a:solidFill>
                <a:latin typeface="Arial"/>
                <a:ea typeface="Arial"/>
                <a:cs typeface="Arial"/>
                <a:sym typeface="Arial"/>
              </a:rPr>
              <a:t>2000s</a:t>
            </a:r>
            <a:endParaRPr/>
          </a:p>
        </p:txBody>
      </p:sp>
      <p:sp>
        <p:nvSpPr>
          <p:cNvPr id="294" name="Google Shape;294;p11"/>
          <p:cNvSpPr txBox="1"/>
          <p:nvPr/>
        </p:nvSpPr>
        <p:spPr>
          <a:xfrm>
            <a:off x="11371425" y="7297337"/>
            <a:ext cx="1949659" cy="854077"/>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lang="en-US" sz="4999">
                <a:solidFill>
                  <a:srgbClr val="FFFFFF"/>
                </a:solidFill>
                <a:latin typeface="Arial"/>
                <a:ea typeface="Arial"/>
                <a:cs typeface="Arial"/>
                <a:sym typeface="Arial"/>
              </a:rPr>
              <a:t>2010s</a:t>
            </a:r>
            <a:endParaRPr/>
          </a:p>
        </p:txBody>
      </p:sp>
      <p:sp>
        <p:nvSpPr>
          <p:cNvPr id="295" name="Google Shape;295;p11"/>
          <p:cNvSpPr txBox="1"/>
          <p:nvPr/>
        </p:nvSpPr>
        <p:spPr>
          <a:xfrm>
            <a:off x="14353020" y="7287812"/>
            <a:ext cx="1949659" cy="854077"/>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lang="en-US" sz="4999">
                <a:solidFill>
                  <a:srgbClr val="FFFFFF"/>
                </a:solidFill>
                <a:latin typeface="Arial"/>
                <a:ea typeface="Arial"/>
                <a:cs typeface="Arial"/>
                <a:sym typeface="Arial"/>
              </a:rPr>
              <a:t>2020s</a:t>
            </a:r>
            <a:endParaRPr/>
          </a:p>
        </p:txBody>
      </p:sp>
      <p:sp>
        <p:nvSpPr>
          <p:cNvPr id="296" name="Google Shape;296;p11"/>
          <p:cNvSpPr/>
          <p:nvPr/>
        </p:nvSpPr>
        <p:spPr>
          <a:xfrm>
            <a:off x="4448887" y="3088121"/>
            <a:ext cx="2947829" cy="3168480"/>
          </a:xfrm>
          <a:custGeom>
            <a:rect b="b" l="l" r="r" t="t"/>
            <a:pathLst>
              <a:path extrusionOk="0" h="864326" w="804135">
                <a:moveTo>
                  <a:pt x="94547" y="0"/>
                </a:moveTo>
                <a:lnTo>
                  <a:pt x="709588" y="0"/>
                </a:lnTo>
                <a:cubicBezTo>
                  <a:pt x="734663" y="0"/>
                  <a:pt x="758711" y="9961"/>
                  <a:pt x="776442" y="27692"/>
                </a:cubicBezTo>
                <a:cubicBezTo>
                  <a:pt x="794174" y="45423"/>
                  <a:pt x="804135" y="69472"/>
                  <a:pt x="804135" y="94547"/>
                </a:cubicBezTo>
                <a:lnTo>
                  <a:pt x="804135" y="769778"/>
                </a:lnTo>
                <a:cubicBezTo>
                  <a:pt x="804135" y="794854"/>
                  <a:pt x="794174" y="818902"/>
                  <a:pt x="776442" y="836634"/>
                </a:cubicBezTo>
                <a:cubicBezTo>
                  <a:pt x="758711" y="854365"/>
                  <a:pt x="734663" y="864326"/>
                  <a:pt x="709588" y="864326"/>
                </a:cubicBezTo>
                <a:lnTo>
                  <a:pt x="94547" y="864326"/>
                </a:lnTo>
                <a:cubicBezTo>
                  <a:pt x="69472" y="864326"/>
                  <a:pt x="45423" y="854365"/>
                  <a:pt x="27692" y="836634"/>
                </a:cubicBezTo>
                <a:cubicBezTo>
                  <a:pt x="9961" y="818902"/>
                  <a:pt x="0" y="794854"/>
                  <a:pt x="0" y="769778"/>
                </a:cubicBezTo>
                <a:lnTo>
                  <a:pt x="0" y="94547"/>
                </a:lnTo>
                <a:cubicBezTo>
                  <a:pt x="0" y="69472"/>
                  <a:pt x="9961" y="45423"/>
                  <a:pt x="27692" y="27692"/>
                </a:cubicBezTo>
                <a:cubicBezTo>
                  <a:pt x="45423" y="9961"/>
                  <a:pt x="69472" y="0"/>
                  <a:pt x="94547" y="0"/>
                </a:cubicBezTo>
                <a:close/>
              </a:path>
            </a:pathLst>
          </a:custGeom>
          <a:solidFill>
            <a:srgbClr val="008CC2"/>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7" name="Google Shape;297;p11"/>
          <p:cNvGrpSpPr/>
          <p:nvPr/>
        </p:nvGrpSpPr>
        <p:grpSpPr>
          <a:xfrm>
            <a:off x="5198161" y="5933563"/>
            <a:ext cx="1543050" cy="1350169"/>
            <a:chOff x="0" y="0"/>
            <a:chExt cx="812800" cy="711200"/>
          </a:xfrm>
        </p:grpSpPr>
        <p:sp>
          <p:nvSpPr>
            <p:cNvPr id="298" name="Google Shape;298;p11"/>
            <p:cNvSpPr/>
            <p:nvPr/>
          </p:nvSpPr>
          <p:spPr>
            <a:xfrm>
              <a:off x="0" y="0"/>
              <a:ext cx="812800" cy="711200"/>
            </a:xfrm>
            <a:custGeom>
              <a:rect b="b" l="l" r="r" t="t"/>
              <a:pathLst>
                <a:path extrusionOk="0" h="711200" w="812800">
                  <a:moveTo>
                    <a:pt x="406400" y="711200"/>
                  </a:moveTo>
                  <a:lnTo>
                    <a:pt x="812800" y="0"/>
                  </a:lnTo>
                  <a:lnTo>
                    <a:pt x="0" y="0"/>
                  </a:lnTo>
                  <a:lnTo>
                    <a:pt x="406400" y="711200"/>
                  </a:lnTo>
                  <a:close/>
                </a:path>
              </a:pathLst>
            </a:custGeom>
            <a:solidFill>
              <a:srgbClr val="008C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1"/>
            <p:cNvSpPr txBox="1"/>
            <p:nvPr/>
          </p:nvSpPr>
          <p:spPr>
            <a:xfrm>
              <a:off x="127000" y="3175"/>
              <a:ext cx="558800" cy="3778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0" name="Google Shape;300;p11"/>
          <p:cNvSpPr/>
          <p:nvPr/>
        </p:nvSpPr>
        <p:spPr>
          <a:xfrm>
            <a:off x="7596741" y="3088121"/>
            <a:ext cx="3083883" cy="3168480"/>
          </a:xfrm>
          <a:custGeom>
            <a:rect b="b" l="l" r="r" t="t"/>
            <a:pathLst>
              <a:path extrusionOk="0" h="864326" w="841249">
                <a:moveTo>
                  <a:pt x="87866" y="0"/>
                </a:moveTo>
                <a:lnTo>
                  <a:pt x="753383" y="0"/>
                </a:lnTo>
                <a:cubicBezTo>
                  <a:pt x="801910" y="0"/>
                  <a:pt x="841249" y="39339"/>
                  <a:pt x="841249" y="87866"/>
                </a:cubicBezTo>
                <a:lnTo>
                  <a:pt x="841249" y="776460"/>
                </a:lnTo>
                <a:cubicBezTo>
                  <a:pt x="841249" y="799764"/>
                  <a:pt x="831991" y="822113"/>
                  <a:pt x="815513" y="838590"/>
                </a:cubicBezTo>
                <a:cubicBezTo>
                  <a:pt x="799035" y="855068"/>
                  <a:pt x="776686" y="864326"/>
                  <a:pt x="753383" y="864326"/>
                </a:cubicBezTo>
                <a:lnTo>
                  <a:pt x="87866" y="864326"/>
                </a:lnTo>
                <a:cubicBezTo>
                  <a:pt x="39339" y="864326"/>
                  <a:pt x="0" y="824987"/>
                  <a:pt x="0" y="776460"/>
                </a:cubicBezTo>
                <a:lnTo>
                  <a:pt x="0" y="87866"/>
                </a:lnTo>
                <a:cubicBezTo>
                  <a:pt x="0" y="39339"/>
                  <a:pt x="39339" y="0"/>
                  <a:pt x="87866" y="0"/>
                </a:cubicBezTo>
                <a:close/>
              </a:path>
            </a:pathLst>
          </a:custGeom>
          <a:solidFill>
            <a:srgbClr val="FBB62A"/>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1" name="Google Shape;301;p11"/>
          <p:cNvGrpSpPr/>
          <p:nvPr/>
        </p:nvGrpSpPr>
        <p:grpSpPr>
          <a:xfrm>
            <a:off x="8287777" y="5933563"/>
            <a:ext cx="1543050" cy="1350169"/>
            <a:chOff x="0" y="0"/>
            <a:chExt cx="812800" cy="711200"/>
          </a:xfrm>
        </p:grpSpPr>
        <p:sp>
          <p:nvSpPr>
            <p:cNvPr id="302" name="Google Shape;302;p11"/>
            <p:cNvSpPr/>
            <p:nvPr/>
          </p:nvSpPr>
          <p:spPr>
            <a:xfrm>
              <a:off x="0" y="0"/>
              <a:ext cx="812800" cy="711200"/>
            </a:xfrm>
            <a:custGeom>
              <a:rect b="b" l="l" r="r" t="t"/>
              <a:pathLst>
                <a:path extrusionOk="0" h="711200" w="812800">
                  <a:moveTo>
                    <a:pt x="406400" y="711200"/>
                  </a:moveTo>
                  <a:lnTo>
                    <a:pt x="812800" y="0"/>
                  </a:lnTo>
                  <a:lnTo>
                    <a:pt x="0" y="0"/>
                  </a:lnTo>
                  <a:lnTo>
                    <a:pt x="406400" y="711200"/>
                  </a:lnTo>
                  <a:close/>
                </a:path>
              </a:pathLst>
            </a:custGeom>
            <a:solidFill>
              <a:srgbClr val="FBB62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txBox="1"/>
            <p:nvPr/>
          </p:nvSpPr>
          <p:spPr>
            <a:xfrm>
              <a:off x="127000" y="3175"/>
              <a:ext cx="558800" cy="3778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4" name="Google Shape;304;p11"/>
          <p:cNvSpPr/>
          <p:nvPr/>
        </p:nvSpPr>
        <p:spPr>
          <a:xfrm>
            <a:off x="10883813" y="3088121"/>
            <a:ext cx="2724075" cy="3168480"/>
          </a:xfrm>
          <a:custGeom>
            <a:rect b="b" l="l" r="r" t="t"/>
            <a:pathLst>
              <a:path extrusionOk="0" h="864326" w="743097">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9FC2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5" name="Google Shape;305;p11"/>
          <p:cNvGrpSpPr/>
          <p:nvPr/>
        </p:nvGrpSpPr>
        <p:grpSpPr>
          <a:xfrm>
            <a:off x="11474325" y="5933563"/>
            <a:ext cx="1543050" cy="1350169"/>
            <a:chOff x="0" y="0"/>
            <a:chExt cx="812800" cy="711200"/>
          </a:xfrm>
        </p:grpSpPr>
        <p:sp>
          <p:nvSpPr>
            <p:cNvPr id="306" name="Google Shape;306;p11"/>
            <p:cNvSpPr/>
            <p:nvPr/>
          </p:nvSpPr>
          <p:spPr>
            <a:xfrm>
              <a:off x="0" y="0"/>
              <a:ext cx="812800" cy="711200"/>
            </a:xfrm>
            <a:custGeom>
              <a:rect b="b" l="l" r="r" t="t"/>
              <a:pathLst>
                <a:path extrusionOk="0" h="711200" w="812800">
                  <a:moveTo>
                    <a:pt x="406400" y="711200"/>
                  </a:moveTo>
                  <a:lnTo>
                    <a:pt x="812800" y="0"/>
                  </a:lnTo>
                  <a:lnTo>
                    <a:pt x="0" y="0"/>
                  </a:lnTo>
                  <a:lnTo>
                    <a:pt x="406400" y="711200"/>
                  </a:lnTo>
                  <a:close/>
                </a:path>
              </a:pathLst>
            </a:custGeom>
            <a:solidFill>
              <a:srgbClr val="9FC2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1"/>
            <p:cNvSpPr txBox="1"/>
            <p:nvPr/>
          </p:nvSpPr>
          <p:spPr>
            <a:xfrm>
              <a:off x="127000" y="3175"/>
              <a:ext cx="558800" cy="3778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8" name="Google Shape;308;p11"/>
          <p:cNvSpPr/>
          <p:nvPr/>
        </p:nvSpPr>
        <p:spPr>
          <a:xfrm>
            <a:off x="13965812" y="3088121"/>
            <a:ext cx="2724075" cy="3168480"/>
          </a:xfrm>
          <a:custGeom>
            <a:rect b="b" l="l" r="r" t="t"/>
            <a:pathLst>
              <a:path extrusionOk="0" h="864326" w="743097">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B567B2"/>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9" name="Google Shape;309;p11"/>
          <p:cNvGrpSpPr/>
          <p:nvPr/>
        </p:nvGrpSpPr>
        <p:grpSpPr>
          <a:xfrm>
            <a:off x="14613875" y="5933563"/>
            <a:ext cx="1543050" cy="1350169"/>
            <a:chOff x="0" y="0"/>
            <a:chExt cx="812800" cy="711200"/>
          </a:xfrm>
        </p:grpSpPr>
        <p:sp>
          <p:nvSpPr>
            <p:cNvPr id="310" name="Google Shape;310;p11"/>
            <p:cNvSpPr/>
            <p:nvPr/>
          </p:nvSpPr>
          <p:spPr>
            <a:xfrm>
              <a:off x="0" y="0"/>
              <a:ext cx="812800" cy="711200"/>
            </a:xfrm>
            <a:custGeom>
              <a:rect b="b" l="l" r="r" t="t"/>
              <a:pathLst>
                <a:path extrusionOk="0" h="711200" w="812800">
                  <a:moveTo>
                    <a:pt x="406400" y="711200"/>
                  </a:moveTo>
                  <a:lnTo>
                    <a:pt x="812800" y="0"/>
                  </a:lnTo>
                  <a:lnTo>
                    <a:pt x="0" y="0"/>
                  </a:lnTo>
                  <a:lnTo>
                    <a:pt x="406400" y="711200"/>
                  </a:lnTo>
                  <a:close/>
                </a:path>
              </a:pathLst>
            </a:custGeom>
            <a:solidFill>
              <a:srgbClr val="B567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1"/>
            <p:cNvSpPr txBox="1"/>
            <p:nvPr/>
          </p:nvSpPr>
          <p:spPr>
            <a:xfrm>
              <a:off x="127000" y="3175"/>
              <a:ext cx="558800" cy="37782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2" name="Google Shape;312;p11"/>
          <p:cNvSpPr txBox="1"/>
          <p:nvPr/>
        </p:nvSpPr>
        <p:spPr>
          <a:xfrm>
            <a:off x="1440737" y="3293975"/>
            <a:ext cx="2719200" cy="20310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Ivan Sutherland</a:t>
            </a:r>
            <a:endParaRPr b="1" sz="1999">
              <a:solidFill>
                <a:srgbClr val="FFFFFF"/>
              </a:solidFill>
              <a:latin typeface="Arial"/>
              <a:ea typeface="Arial"/>
              <a:cs typeface="Arial"/>
              <a:sym typeface="Arial"/>
            </a:endParaRPr>
          </a:p>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 </a:t>
            </a:r>
            <a:r>
              <a:rPr lang="en-US" sz="1999">
                <a:solidFill>
                  <a:srgbClr val="FFFFFF"/>
                </a:solidFill>
                <a:latin typeface="Arial"/>
                <a:ea typeface="Arial"/>
                <a:cs typeface="Arial"/>
                <a:sym typeface="Arial"/>
              </a:rPr>
              <a:t>Primeros experimentos con sistemas de visualización aumentada.</a:t>
            </a:r>
            <a:endParaRPr/>
          </a:p>
        </p:txBody>
      </p:sp>
      <p:sp>
        <p:nvSpPr>
          <p:cNvPr id="313" name="Google Shape;313;p11"/>
          <p:cNvSpPr txBox="1"/>
          <p:nvPr/>
        </p:nvSpPr>
        <p:spPr>
          <a:xfrm>
            <a:off x="4504107" y="3157582"/>
            <a:ext cx="2833500" cy="28926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Tom Caudell, Louis Rosenberg </a:t>
            </a:r>
            <a:endParaRPr b="1" sz="1999">
              <a:solidFill>
                <a:srgbClr val="FFFFFF"/>
              </a:solidFill>
              <a:latin typeface="Arial"/>
              <a:ea typeface="Arial"/>
              <a:cs typeface="Arial"/>
              <a:sym typeface="Arial"/>
            </a:endParaRPr>
          </a:p>
          <a:p>
            <a:pPr indent="0" lvl="0" marL="0" marR="0" rtl="0" algn="ctr">
              <a:lnSpc>
                <a:spcPct val="140020"/>
              </a:lnSpc>
              <a:spcBef>
                <a:spcPts val="0"/>
              </a:spcBef>
              <a:spcAft>
                <a:spcPts val="0"/>
              </a:spcAft>
              <a:buNone/>
            </a:pPr>
            <a:r>
              <a:rPr lang="en-US" sz="1999">
                <a:solidFill>
                  <a:srgbClr val="FFFFFF"/>
                </a:solidFill>
                <a:latin typeface="Arial"/>
                <a:ea typeface="Arial"/>
                <a:cs typeface="Arial"/>
                <a:sym typeface="Arial"/>
              </a:rPr>
              <a:t>Desarrollo de aplicaciones industriales y militares, primeros usos comerciales y académicos.</a:t>
            </a:r>
            <a:endParaRPr/>
          </a:p>
        </p:txBody>
      </p:sp>
      <p:sp>
        <p:nvSpPr>
          <p:cNvPr id="314" name="Google Shape;314;p11"/>
          <p:cNvSpPr txBox="1"/>
          <p:nvPr/>
        </p:nvSpPr>
        <p:spPr>
          <a:xfrm>
            <a:off x="7779398" y="3293975"/>
            <a:ext cx="2719200" cy="28926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Layar, ARKit, ARCore </a:t>
            </a:r>
            <a:endParaRPr b="1" sz="1999">
              <a:solidFill>
                <a:srgbClr val="FFFFFF"/>
              </a:solidFill>
              <a:latin typeface="Arial"/>
              <a:ea typeface="Arial"/>
              <a:cs typeface="Arial"/>
              <a:sym typeface="Arial"/>
            </a:endParaRPr>
          </a:p>
          <a:p>
            <a:pPr indent="0" lvl="0" marL="0" marR="0" rtl="0" algn="ctr">
              <a:lnSpc>
                <a:spcPct val="140020"/>
              </a:lnSpc>
              <a:spcBef>
                <a:spcPts val="0"/>
              </a:spcBef>
              <a:spcAft>
                <a:spcPts val="0"/>
              </a:spcAft>
              <a:buNone/>
            </a:pPr>
            <a:r>
              <a:rPr lang="en-US" sz="1999">
                <a:solidFill>
                  <a:srgbClr val="FFFFFF"/>
                </a:solidFill>
                <a:latin typeface="Arial"/>
                <a:ea typeface="Arial"/>
                <a:cs typeface="Arial"/>
                <a:sym typeface="Arial"/>
              </a:rPr>
              <a:t>Emergen las primeras aplicaciones móviles de AR, y los smartphones comienzan a ser capaces de soportar aplicaciones de AR.</a:t>
            </a:r>
            <a:endParaRPr/>
          </a:p>
        </p:txBody>
      </p:sp>
      <p:sp>
        <p:nvSpPr>
          <p:cNvPr id="315" name="Google Shape;315;p11"/>
          <p:cNvSpPr txBox="1"/>
          <p:nvPr/>
        </p:nvSpPr>
        <p:spPr>
          <a:xfrm>
            <a:off x="10872600" y="3331551"/>
            <a:ext cx="2719200" cy="20310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Pokémon Go, AR en consumo masivo</a:t>
            </a:r>
            <a:endParaRPr b="1" sz="1999">
              <a:solidFill>
                <a:srgbClr val="FFFFFF"/>
              </a:solidFill>
              <a:latin typeface="Arial"/>
              <a:ea typeface="Arial"/>
              <a:cs typeface="Arial"/>
              <a:sym typeface="Arial"/>
            </a:endParaRPr>
          </a:p>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 </a:t>
            </a:r>
            <a:r>
              <a:rPr lang="en-US" sz="1999">
                <a:solidFill>
                  <a:srgbClr val="FFFFFF"/>
                </a:solidFill>
                <a:latin typeface="Arial"/>
                <a:ea typeface="Arial"/>
                <a:cs typeface="Arial"/>
                <a:sym typeface="Arial"/>
              </a:rPr>
              <a:t>Explosión de AR en el entretenimiento y en el público en general.</a:t>
            </a:r>
            <a:endParaRPr/>
          </a:p>
        </p:txBody>
      </p:sp>
      <p:sp>
        <p:nvSpPr>
          <p:cNvPr id="316" name="Google Shape;316;p11"/>
          <p:cNvSpPr txBox="1"/>
          <p:nvPr/>
        </p:nvSpPr>
        <p:spPr>
          <a:xfrm>
            <a:off x="13965812" y="3331543"/>
            <a:ext cx="2719200" cy="16002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Arial"/>
                <a:ea typeface="Arial"/>
                <a:cs typeface="Arial"/>
                <a:sym typeface="Arial"/>
              </a:rPr>
              <a:t>Gafas AR, 5G, AI </a:t>
            </a:r>
            <a:endParaRPr b="1" sz="1999">
              <a:solidFill>
                <a:srgbClr val="FFFFFF"/>
              </a:solidFill>
              <a:latin typeface="Arial"/>
              <a:ea typeface="Arial"/>
              <a:cs typeface="Arial"/>
              <a:sym typeface="Arial"/>
            </a:endParaRPr>
          </a:p>
          <a:p>
            <a:pPr indent="0" lvl="0" marL="0" marR="0" rtl="0" algn="ctr">
              <a:lnSpc>
                <a:spcPct val="140020"/>
              </a:lnSpc>
              <a:spcBef>
                <a:spcPts val="0"/>
              </a:spcBef>
              <a:spcAft>
                <a:spcPts val="0"/>
              </a:spcAft>
              <a:buNone/>
            </a:pPr>
            <a:r>
              <a:rPr lang="en-US" sz="1999">
                <a:solidFill>
                  <a:srgbClr val="FFFFFF"/>
                </a:solidFill>
                <a:latin typeface="Arial"/>
                <a:ea typeface="Arial"/>
                <a:cs typeface="Arial"/>
                <a:sym typeface="Arial"/>
              </a:rPr>
              <a:t>AR en dispositivos más sofisticados y en el uso cotidiano.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2" name="Google Shape;322;p12"/>
          <p:cNvGrpSpPr/>
          <p:nvPr/>
        </p:nvGrpSpPr>
        <p:grpSpPr>
          <a:xfrm rot="-5400000">
            <a:off x="6095749" y="2420783"/>
            <a:ext cx="6818207" cy="21127995"/>
            <a:chOff x="0" y="-47625"/>
            <a:chExt cx="1795742" cy="5564575"/>
          </a:xfrm>
        </p:grpSpPr>
        <p:sp>
          <p:nvSpPr>
            <p:cNvPr id="323" name="Google Shape;323;p1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5" name="Google Shape;325;p12"/>
          <p:cNvGrpSpPr/>
          <p:nvPr/>
        </p:nvGrpSpPr>
        <p:grpSpPr>
          <a:xfrm rot="-5400000">
            <a:off x="3906656" y="-11095415"/>
            <a:ext cx="2045233" cy="21127995"/>
            <a:chOff x="0" y="-47625"/>
            <a:chExt cx="538662" cy="5564575"/>
          </a:xfrm>
        </p:grpSpPr>
        <p:sp>
          <p:nvSpPr>
            <p:cNvPr id="326" name="Google Shape;326;p1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8" name="Google Shape;328;p12"/>
          <p:cNvGrpSpPr/>
          <p:nvPr/>
        </p:nvGrpSpPr>
        <p:grpSpPr>
          <a:xfrm rot="2700000">
            <a:off x="13798263" y="-60632"/>
            <a:ext cx="4685776" cy="1748082"/>
            <a:chOff x="0" y="-47625"/>
            <a:chExt cx="1234114" cy="460400"/>
          </a:xfrm>
        </p:grpSpPr>
        <p:sp>
          <p:nvSpPr>
            <p:cNvPr id="329" name="Google Shape;329;p1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1" name="Google Shape;331;p12"/>
          <p:cNvSpPr txBox="1"/>
          <p:nvPr/>
        </p:nvSpPr>
        <p:spPr>
          <a:xfrm>
            <a:off x="12672011" y="8848281"/>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32" name="Google Shape;332;p12"/>
          <p:cNvSpPr txBox="1"/>
          <p:nvPr/>
        </p:nvSpPr>
        <p:spPr>
          <a:xfrm>
            <a:off x="1477486" y="542406"/>
            <a:ext cx="15333000" cy="23700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F4F6FC"/>
                </a:solidFill>
                <a:latin typeface="Arial"/>
                <a:ea typeface="Arial"/>
                <a:cs typeface="Arial"/>
                <a:sym typeface="Arial"/>
              </a:rPr>
              <a:t>¿Dónde se usa la Realidad Aumentada?</a:t>
            </a:r>
            <a:endParaRPr/>
          </a:p>
        </p:txBody>
      </p:sp>
      <p:sp>
        <p:nvSpPr>
          <p:cNvPr id="333" name="Google Shape;333;p12"/>
          <p:cNvSpPr txBox="1"/>
          <p:nvPr/>
        </p:nvSpPr>
        <p:spPr>
          <a:xfrm>
            <a:off x="2095667" y="3855282"/>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2"/>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2"/>
          <p:cNvSpPr txBox="1"/>
          <p:nvPr/>
        </p:nvSpPr>
        <p:spPr>
          <a:xfrm>
            <a:off x="718033" y="2912396"/>
            <a:ext cx="4308000" cy="554100"/>
          </a:xfrm>
          <a:prstGeom prst="rect">
            <a:avLst/>
          </a:prstGeom>
          <a:noFill/>
          <a:ln>
            <a:noFill/>
          </a:ln>
        </p:spPr>
        <p:txBody>
          <a:bodyPr anchorCtr="0" anchor="t" bIns="0" lIns="0" spcFirstLastPara="1" rIns="0" wrap="square" tIns="0">
            <a:spAutoFit/>
          </a:bodyPr>
          <a:lstStyle/>
          <a:p>
            <a:pPr indent="-388615" lvl="1" marL="777232" marR="0" rtl="0" algn="just">
              <a:lnSpc>
                <a:spcPct val="140011"/>
              </a:lnSpc>
              <a:spcBef>
                <a:spcPts val="0"/>
              </a:spcBef>
              <a:spcAft>
                <a:spcPts val="0"/>
              </a:spcAft>
              <a:buClr>
                <a:srgbClr val="F4F6FC"/>
              </a:buClr>
              <a:buSzPts val="3599"/>
              <a:buFont typeface="Arial"/>
              <a:buChar char="•"/>
            </a:pPr>
            <a:r>
              <a:rPr b="1" i="0" lang="en-US" sz="3599" u="none" cap="none" strike="noStrike">
                <a:solidFill>
                  <a:srgbClr val="F4F6FC"/>
                </a:solidFill>
                <a:latin typeface="Arial"/>
                <a:ea typeface="Arial"/>
                <a:cs typeface="Arial"/>
                <a:sym typeface="Arial"/>
              </a:rPr>
              <a:t>Entretenimiento</a:t>
            </a:r>
            <a:endParaRPr/>
          </a:p>
        </p:txBody>
      </p:sp>
      <p:sp>
        <p:nvSpPr>
          <p:cNvPr id="336" name="Google Shape;336;p12"/>
          <p:cNvSpPr txBox="1"/>
          <p:nvPr/>
        </p:nvSpPr>
        <p:spPr>
          <a:xfrm>
            <a:off x="1477475" y="3629425"/>
            <a:ext cx="15882300" cy="6278700"/>
          </a:xfrm>
          <a:prstGeom prst="rect">
            <a:avLst/>
          </a:prstGeom>
          <a:noFill/>
          <a:ln>
            <a:noFill/>
          </a:ln>
        </p:spPr>
        <p:txBody>
          <a:bodyPr anchorCtr="0" anchor="t" bIns="0" lIns="0" spcFirstLastPara="1" rIns="0" wrap="square" tIns="0">
            <a:spAutoFit/>
          </a:bodyPr>
          <a:lstStyle/>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Juegos como Pokémon Go:</a:t>
            </a:r>
            <a:r>
              <a:rPr b="0" i="0" lang="en-US" sz="2999" u="none" cap="none" strike="noStrike">
                <a:solidFill>
                  <a:srgbClr val="F4F6FC"/>
                </a:solidFill>
                <a:latin typeface="Arial"/>
                <a:ea typeface="Arial"/>
                <a:cs typeface="Arial"/>
                <a:sym typeface="Arial"/>
              </a:rPr>
              <a:t> Pokémon Go es uno de los ejemplos más populares de cómo AR puede transformar la experiencia de juego. Los jugadores exploran el mundo real mientras interactúan con criaturas virtuales que parecen estar ubicadas en el mundo físico, utilizando la cámara y los sensores de los teléfonos móviles.</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Aplicaciones de AR para visualización de objetos en 3D:</a:t>
            </a:r>
            <a:r>
              <a:rPr b="0" i="0" lang="en-US" sz="2999" u="none" cap="none" strike="noStrike">
                <a:solidFill>
                  <a:srgbClr val="F4F6FC"/>
                </a:solidFill>
                <a:latin typeface="Arial"/>
                <a:ea typeface="Arial"/>
                <a:cs typeface="Arial"/>
                <a:sym typeface="Arial"/>
              </a:rPr>
              <a:t> Además de juegos, AR se usa para ver objetos 3D sobrepuestos a la realidad, como en aplicaciones de muebles (ej. IKEA Place), donde los usuarios pueden ver cómo un mueble quedaría en su hogar antes de comprarlo.</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2" name="Google Shape;342;p13"/>
          <p:cNvGrpSpPr/>
          <p:nvPr/>
        </p:nvGrpSpPr>
        <p:grpSpPr>
          <a:xfrm rot="-5400000">
            <a:off x="6095749" y="2420783"/>
            <a:ext cx="6818207" cy="21127995"/>
            <a:chOff x="0" y="-47625"/>
            <a:chExt cx="1795742" cy="5564575"/>
          </a:xfrm>
        </p:grpSpPr>
        <p:sp>
          <p:nvSpPr>
            <p:cNvPr id="343" name="Google Shape;343;p1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5" name="Google Shape;345;p13"/>
          <p:cNvGrpSpPr/>
          <p:nvPr/>
        </p:nvGrpSpPr>
        <p:grpSpPr>
          <a:xfrm rot="-5400000">
            <a:off x="3906656" y="-11095415"/>
            <a:ext cx="2045233" cy="21127995"/>
            <a:chOff x="0" y="-47625"/>
            <a:chExt cx="538662" cy="5564575"/>
          </a:xfrm>
        </p:grpSpPr>
        <p:sp>
          <p:nvSpPr>
            <p:cNvPr id="346" name="Google Shape;346;p1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8" name="Google Shape;348;p13"/>
          <p:cNvGrpSpPr/>
          <p:nvPr/>
        </p:nvGrpSpPr>
        <p:grpSpPr>
          <a:xfrm rot="2700000">
            <a:off x="13798263" y="-60632"/>
            <a:ext cx="4685776" cy="1748082"/>
            <a:chOff x="0" y="-47625"/>
            <a:chExt cx="1234114" cy="460400"/>
          </a:xfrm>
        </p:grpSpPr>
        <p:sp>
          <p:nvSpPr>
            <p:cNvPr id="349" name="Google Shape;349;p1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1" name="Google Shape;351;p13"/>
          <p:cNvSpPr txBox="1"/>
          <p:nvPr/>
        </p:nvSpPr>
        <p:spPr>
          <a:xfrm>
            <a:off x="12672011" y="8848281"/>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52" name="Google Shape;352;p13"/>
          <p:cNvSpPr txBox="1"/>
          <p:nvPr/>
        </p:nvSpPr>
        <p:spPr>
          <a:xfrm>
            <a:off x="1477486" y="659676"/>
            <a:ext cx="15333000" cy="23700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050A30"/>
                </a:solidFill>
                <a:latin typeface="Arial"/>
                <a:ea typeface="Arial"/>
                <a:cs typeface="Arial"/>
                <a:sym typeface="Arial"/>
              </a:rPr>
              <a:t>¿Dónde se usa la Realidad Aumentada?</a:t>
            </a:r>
            <a:endParaRPr/>
          </a:p>
        </p:txBody>
      </p:sp>
      <p:sp>
        <p:nvSpPr>
          <p:cNvPr id="353" name="Google Shape;353;p13"/>
          <p:cNvSpPr txBox="1"/>
          <p:nvPr/>
        </p:nvSpPr>
        <p:spPr>
          <a:xfrm>
            <a:off x="2095667" y="3855282"/>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3"/>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3"/>
          <p:cNvSpPr txBox="1"/>
          <p:nvPr/>
        </p:nvSpPr>
        <p:spPr>
          <a:xfrm>
            <a:off x="1477486" y="3011921"/>
            <a:ext cx="4307899" cy="622936"/>
          </a:xfrm>
          <a:prstGeom prst="rect">
            <a:avLst/>
          </a:prstGeom>
          <a:noFill/>
          <a:ln>
            <a:noFill/>
          </a:ln>
        </p:spPr>
        <p:txBody>
          <a:bodyPr anchorCtr="0" anchor="t" bIns="0" lIns="0" spcFirstLastPara="1" rIns="0" wrap="square" tIns="0">
            <a:spAutoFit/>
          </a:bodyPr>
          <a:lstStyle/>
          <a:p>
            <a:pPr indent="-388615" lvl="1" marL="777232" marR="0" rtl="0" algn="just">
              <a:lnSpc>
                <a:spcPct val="140011"/>
              </a:lnSpc>
              <a:spcBef>
                <a:spcPts val="0"/>
              </a:spcBef>
              <a:spcAft>
                <a:spcPts val="0"/>
              </a:spcAft>
              <a:buClr>
                <a:srgbClr val="050A30"/>
              </a:buClr>
              <a:buSzPts val="3599"/>
              <a:buFont typeface="Arial"/>
              <a:buChar char="•"/>
            </a:pPr>
            <a:r>
              <a:rPr b="1" i="0" lang="en-US" sz="3599" u="none" cap="none" strike="noStrike">
                <a:solidFill>
                  <a:srgbClr val="050A30"/>
                </a:solidFill>
                <a:latin typeface="Arial"/>
                <a:ea typeface="Arial"/>
                <a:cs typeface="Arial"/>
                <a:sym typeface="Arial"/>
              </a:rPr>
              <a:t>Educación</a:t>
            </a:r>
            <a:endParaRPr/>
          </a:p>
        </p:txBody>
      </p:sp>
      <p:sp>
        <p:nvSpPr>
          <p:cNvPr id="356" name="Google Shape;356;p13"/>
          <p:cNvSpPr txBox="1"/>
          <p:nvPr/>
        </p:nvSpPr>
        <p:spPr>
          <a:xfrm>
            <a:off x="2095667" y="3796855"/>
            <a:ext cx="15333028" cy="4705351"/>
          </a:xfrm>
          <a:prstGeom prst="rect">
            <a:avLst/>
          </a:prstGeom>
          <a:noFill/>
          <a:ln>
            <a:noFill/>
          </a:ln>
        </p:spPr>
        <p:txBody>
          <a:bodyPr anchorCtr="0" anchor="t" bIns="0" lIns="0" spcFirstLastPara="1" rIns="0" wrap="square" tIns="0">
            <a:spAutoFit/>
          </a:bodyPr>
          <a:lstStyle/>
          <a:p>
            <a:pPr indent="-323848" lvl="1" marL="647695" marR="0" rtl="0" algn="just">
              <a:lnSpc>
                <a:spcPct val="140013"/>
              </a:lnSpc>
              <a:spcBef>
                <a:spcPts val="0"/>
              </a:spcBef>
              <a:spcAft>
                <a:spcPts val="0"/>
              </a:spcAft>
              <a:buClr>
                <a:srgbClr val="050A30"/>
              </a:buClr>
              <a:buSzPts val="2999"/>
              <a:buFont typeface="Arial"/>
              <a:buChar char="•"/>
            </a:pPr>
            <a:r>
              <a:rPr b="1" i="0" lang="en-US" sz="2999" u="none" cap="none" strike="noStrike">
                <a:solidFill>
                  <a:srgbClr val="050A30"/>
                </a:solidFill>
                <a:latin typeface="Arial"/>
                <a:ea typeface="Arial"/>
                <a:cs typeface="Arial"/>
                <a:sym typeface="Arial"/>
              </a:rPr>
              <a:t>Aplicaciones educativas interactivas: </a:t>
            </a:r>
            <a:r>
              <a:rPr b="0" i="0" lang="en-US" sz="2999" u="none" cap="none" strike="noStrike">
                <a:solidFill>
                  <a:srgbClr val="050A30"/>
                </a:solidFill>
                <a:latin typeface="Arial"/>
                <a:ea typeface="Arial"/>
                <a:cs typeface="Arial"/>
                <a:sym typeface="Arial"/>
              </a:rPr>
              <a:t>La AR ofrece herramientas poderosas para facilitar el aprendizaje. Las aplicaciones educativas pueden mostrar modelos 3D de conceptos abstractos o complejos, como el sistema solar, las células, o los mecanismos de una máquina.</a:t>
            </a:r>
            <a:endParaRPr/>
          </a:p>
          <a:p>
            <a:pPr indent="0" lvl="0" marL="0" marR="0" rtl="0" algn="just">
              <a:lnSpc>
                <a:spcPct val="140013"/>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40013"/>
              </a:lnSpc>
              <a:spcBef>
                <a:spcPts val="0"/>
              </a:spcBef>
              <a:spcAft>
                <a:spcPts val="0"/>
              </a:spcAft>
              <a:buClr>
                <a:srgbClr val="050A30"/>
              </a:buClr>
              <a:buSzPts val="2999"/>
              <a:buFont typeface="Arial"/>
              <a:buChar char="•"/>
            </a:pPr>
            <a:r>
              <a:rPr b="1" i="0" lang="en-US" sz="2999" u="none" cap="none" strike="noStrike">
                <a:solidFill>
                  <a:srgbClr val="050A30"/>
                </a:solidFill>
                <a:latin typeface="Arial"/>
                <a:ea typeface="Arial"/>
                <a:cs typeface="Arial"/>
                <a:sym typeface="Arial"/>
              </a:rPr>
              <a:t>Ejemplo: </a:t>
            </a:r>
            <a:r>
              <a:rPr b="0" i="0" lang="en-US" sz="2999" u="none" cap="none" strike="noStrike">
                <a:solidFill>
                  <a:srgbClr val="050A30"/>
                </a:solidFill>
                <a:latin typeface="Arial"/>
                <a:ea typeface="Arial"/>
                <a:cs typeface="Arial"/>
                <a:sym typeface="Arial"/>
              </a:rPr>
              <a:t>Las aplicaciones como Google Expeditions permiten a los estudiantes hacer recorridos virtuales por lugares históricos, explorar el cuerpo humano en 3D, o visualizar conceptos de física y química en un entorno interactivo.</a:t>
            </a:r>
            <a:endParaRPr/>
          </a:p>
          <a:p>
            <a:pPr indent="0" lvl="0" marL="0" marR="0" rtl="0" algn="just">
              <a:lnSpc>
                <a:spcPct val="140013"/>
              </a:lnSpc>
              <a:spcBef>
                <a:spcPts val="0"/>
              </a:spcBef>
              <a:spcAft>
                <a:spcPts val="0"/>
              </a:spcAft>
              <a:buNone/>
            </a:pPr>
            <a:r>
              <a:t/>
            </a:r>
            <a:endParaRPr sz="2999">
              <a:solidFill>
                <a:srgbClr val="050A3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2" name="Google Shape;362;p14"/>
          <p:cNvGrpSpPr/>
          <p:nvPr/>
        </p:nvGrpSpPr>
        <p:grpSpPr>
          <a:xfrm rot="-5400000">
            <a:off x="6095749" y="2420783"/>
            <a:ext cx="6818207" cy="21127995"/>
            <a:chOff x="0" y="-47625"/>
            <a:chExt cx="1795742" cy="5564575"/>
          </a:xfrm>
        </p:grpSpPr>
        <p:sp>
          <p:nvSpPr>
            <p:cNvPr id="363" name="Google Shape;363;p1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5" name="Google Shape;365;p14"/>
          <p:cNvGrpSpPr/>
          <p:nvPr/>
        </p:nvGrpSpPr>
        <p:grpSpPr>
          <a:xfrm rot="-5400000">
            <a:off x="3906656" y="-11095415"/>
            <a:ext cx="2045233" cy="21127995"/>
            <a:chOff x="0" y="-47625"/>
            <a:chExt cx="538662" cy="5564575"/>
          </a:xfrm>
        </p:grpSpPr>
        <p:sp>
          <p:nvSpPr>
            <p:cNvPr id="366" name="Google Shape;366;p1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8" name="Google Shape;368;p14"/>
          <p:cNvGrpSpPr/>
          <p:nvPr/>
        </p:nvGrpSpPr>
        <p:grpSpPr>
          <a:xfrm rot="2700000">
            <a:off x="13798263" y="-60632"/>
            <a:ext cx="4685776" cy="1748082"/>
            <a:chOff x="0" y="-47625"/>
            <a:chExt cx="1234114" cy="460400"/>
          </a:xfrm>
        </p:grpSpPr>
        <p:sp>
          <p:nvSpPr>
            <p:cNvPr id="369" name="Google Shape;369;p1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1" name="Google Shape;371;p14"/>
          <p:cNvSpPr txBox="1"/>
          <p:nvPr/>
        </p:nvSpPr>
        <p:spPr>
          <a:xfrm>
            <a:off x="12672011" y="8848281"/>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72" name="Google Shape;372;p14"/>
          <p:cNvSpPr txBox="1"/>
          <p:nvPr/>
        </p:nvSpPr>
        <p:spPr>
          <a:xfrm>
            <a:off x="1477486" y="797757"/>
            <a:ext cx="15333028" cy="211455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F4F6FC"/>
                </a:solidFill>
                <a:latin typeface="Arial"/>
                <a:ea typeface="Arial"/>
                <a:cs typeface="Arial"/>
                <a:sym typeface="Arial"/>
              </a:rPr>
              <a:t>¿Dónde se usa la Realidad Aumentada?</a:t>
            </a:r>
            <a:endParaRPr/>
          </a:p>
        </p:txBody>
      </p:sp>
      <p:sp>
        <p:nvSpPr>
          <p:cNvPr id="373" name="Google Shape;373;p14"/>
          <p:cNvSpPr txBox="1"/>
          <p:nvPr/>
        </p:nvSpPr>
        <p:spPr>
          <a:xfrm>
            <a:off x="2095667" y="3855282"/>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4"/>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4"/>
          <p:cNvSpPr txBox="1"/>
          <p:nvPr/>
        </p:nvSpPr>
        <p:spPr>
          <a:xfrm>
            <a:off x="345226" y="2998113"/>
            <a:ext cx="4308000" cy="554100"/>
          </a:xfrm>
          <a:prstGeom prst="rect">
            <a:avLst/>
          </a:prstGeom>
          <a:noFill/>
          <a:ln>
            <a:noFill/>
          </a:ln>
        </p:spPr>
        <p:txBody>
          <a:bodyPr anchorCtr="0" anchor="t" bIns="0" lIns="0" spcFirstLastPara="1" rIns="0" wrap="square" tIns="0">
            <a:spAutoFit/>
          </a:bodyPr>
          <a:lstStyle/>
          <a:p>
            <a:pPr indent="-388615" lvl="1" marL="777232" marR="0" rtl="0" algn="just">
              <a:lnSpc>
                <a:spcPct val="140011"/>
              </a:lnSpc>
              <a:spcBef>
                <a:spcPts val="0"/>
              </a:spcBef>
              <a:spcAft>
                <a:spcPts val="0"/>
              </a:spcAft>
              <a:buClr>
                <a:srgbClr val="F4F6FC"/>
              </a:buClr>
              <a:buSzPts val="3599"/>
              <a:buFont typeface="Arial"/>
              <a:buChar char="•"/>
            </a:pPr>
            <a:r>
              <a:rPr b="1" i="0" lang="en-US" sz="3599" u="none" cap="none" strike="noStrike">
                <a:solidFill>
                  <a:srgbClr val="F4F6FC"/>
                </a:solidFill>
                <a:latin typeface="Arial"/>
                <a:ea typeface="Arial"/>
                <a:cs typeface="Arial"/>
                <a:sym typeface="Arial"/>
              </a:rPr>
              <a:t>Marketing</a:t>
            </a:r>
            <a:endParaRPr/>
          </a:p>
        </p:txBody>
      </p:sp>
      <p:sp>
        <p:nvSpPr>
          <p:cNvPr id="376" name="Google Shape;376;p14"/>
          <p:cNvSpPr txBox="1"/>
          <p:nvPr/>
        </p:nvSpPr>
        <p:spPr>
          <a:xfrm>
            <a:off x="1100050" y="3769790"/>
            <a:ext cx="16328700" cy="5632200"/>
          </a:xfrm>
          <a:prstGeom prst="rect">
            <a:avLst/>
          </a:prstGeom>
          <a:noFill/>
          <a:ln>
            <a:noFill/>
          </a:ln>
        </p:spPr>
        <p:txBody>
          <a:bodyPr anchorCtr="0" anchor="t" bIns="0" lIns="0" spcFirstLastPara="1" rIns="0" wrap="square" tIns="0">
            <a:spAutoFit/>
          </a:bodyPr>
          <a:lstStyle/>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Publicidad interactiva con AR: </a:t>
            </a:r>
            <a:r>
              <a:rPr b="0" i="0" lang="en-US" sz="2999" u="none" cap="none" strike="noStrike">
                <a:solidFill>
                  <a:srgbClr val="F4F6FC"/>
                </a:solidFill>
                <a:latin typeface="Arial"/>
                <a:ea typeface="Arial"/>
                <a:cs typeface="Arial"/>
                <a:sym typeface="Arial"/>
              </a:rPr>
              <a:t>Las marcas están utilizando AR para crear experiencias publicitarias innovadoras. Los anuncios de AR permiten a los consumidores interactuar con productos o servicios de manera virtual antes de comprarlos.</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a:p>
            <a:pPr indent="-323848" lvl="1" marL="647695" marR="0" rtl="0" algn="just">
              <a:lnSpc>
                <a:spcPct val="140013"/>
              </a:lnSpc>
              <a:spcBef>
                <a:spcPts val="0"/>
              </a:spcBef>
              <a:spcAft>
                <a:spcPts val="0"/>
              </a:spcAft>
              <a:buClr>
                <a:srgbClr val="F4F6FC"/>
              </a:buClr>
              <a:buSzPts val="2999"/>
              <a:buFont typeface="Arial"/>
              <a:buChar char="•"/>
            </a:pPr>
            <a:r>
              <a:rPr b="1" i="0" lang="en-US" sz="2999" u="none" cap="none" strike="noStrike">
                <a:solidFill>
                  <a:srgbClr val="F4F6FC"/>
                </a:solidFill>
                <a:latin typeface="Arial"/>
                <a:ea typeface="Arial"/>
                <a:cs typeface="Arial"/>
                <a:sym typeface="Arial"/>
              </a:rPr>
              <a:t>Ejemplo: </a:t>
            </a:r>
            <a:r>
              <a:rPr b="0" i="0" lang="en-US" sz="2999" u="none" cap="none" strike="noStrike">
                <a:solidFill>
                  <a:srgbClr val="F4F6FC"/>
                </a:solidFill>
                <a:latin typeface="Arial"/>
                <a:ea typeface="Arial"/>
                <a:cs typeface="Arial"/>
                <a:sym typeface="Arial"/>
              </a:rPr>
              <a:t>Marcas como L’Oreal o Sephora ofrecen experiencias de AR donde los usuarios pueden probarse productos de belleza (como maquillaje) de forma virtual. Otras marcas permiten que los usuarios vean productos en 3D o personalicen productos en tiempo real a través de sus dispositivos móviles.</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5"/>
          <p:cNvSpPr/>
          <p:nvPr/>
        </p:nvSpPr>
        <p:spPr>
          <a:xfrm>
            <a:off x="0" y="0"/>
            <a:ext cx="18288000" cy="92583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2" name="Google Shape;382;p15"/>
          <p:cNvGrpSpPr/>
          <p:nvPr/>
        </p:nvGrpSpPr>
        <p:grpSpPr>
          <a:xfrm rot="-5400000">
            <a:off x="6095749" y="2420783"/>
            <a:ext cx="6818207" cy="21127995"/>
            <a:chOff x="0" y="-47625"/>
            <a:chExt cx="1795742" cy="5564575"/>
          </a:xfrm>
        </p:grpSpPr>
        <p:sp>
          <p:nvSpPr>
            <p:cNvPr id="383" name="Google Shape;383;p1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5" name="Google Shape;385;p15"/>
          <p:cNvGrpSpPr/>
          <p:nvPr/>
        </p:nvGrpSpPr>
        <p:grpSpPr>
          <a:xfrm rot="-5400000">
            <a:off x="3906656" y="-11095415"/>
            <a:ext cx="2045233" cy="21127995"/>
            <a:chOff x="0" y="-47625"/>
            <a:chExt cx="538662" cy="5564575"/>
          </a:xfrm>
        </p:grpSpPr>
        <p:sp>
          <p:nvSpPr>
            <p:cNvPr id="386" name="Google Shape;386;p1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8" name="Google Shape;388;p15"/>
          <p:cNvGrpSpPr/>
          <p:nvPr/>
        </p:nvGrpSpPr>
        <p:grpSpPr>
          <a:xfrm rot="2700000">
            <a:off x="13798263" y="-60632"/>
            <a:ext cx="4685776" cy="1748082"/>
            <a:chOff x="0" y="-47625"/>
            <a:chExt cx="1234114" cy="460400"/>
          </a:xfrm>
        </p:grpSpPr>
        <p:sp>
          <p:nvSpPr>
            <p:cNvPr id="389" name="Google Shape;389;p1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1" name="Google Shape;391;p15"/>
          <p:cNvSpPr txBox="1"/>
          <p:nvPr/>
        </p:nvSpPr>
        <p:spPr>
          <a:xfrm>
            <a:off x="12672011" y="9123079"/>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92" name="Google Shape;392;p15"/>
          <p:cNvSpPr txBox="1"/>
          <p:nvPr/>
        </p:nvSpPr>
        <p:spPr>
          <a:xfrm>
            <a:off x="1477486" y="451933"/>
            <a:ext cx="15333000" cy="23700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050A30"/>
                </a:solidFill>
                <a:latin typeface="Arial"/>
                <a:ea typeface="Arial"/>
                <a:cs typeface="Arial"/>
                <a:sym typeface="Arial"/>
              </a:rPr>
              <a:t>¿Dónde se usa la Realidad Aumentada?</a:t>
            </a:r>
            <a:endParaRPr/>
          </a:p>
        </p:txBody>
      </p:sp>
      <p:sp>
        <p:nvSpPr>
          <p:cNvPr id="393" name="Google Shape;393;p15"/>
          <p:cNvSpPr txBox="1"/>
          <p:nvPr/>
        </p:nvSpPr>
        <p:spPr>
          <a:xfrm>
            <a:off x="2095667" y="4087501"/>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5"/>
          <p:cNvSpPr txBox="1"/>
          <p:nvPr/>
        </p:nvSpPr>
        <p:spPr>
          <a:xfrm>
            <a:off x="510922" y="2435051"/>
            <a:ext cx="4308000" cy="554100"/>
          </a:xfrm>
          <a:prstGeom prst="rect">
            <a:avLst/>
          </a:prstGeom>
          <a:noFill/>
          <a:ln>
            <a:noFill/>
          </a:ln>
        </p:spPr>
        <p:txBody>
          <a:bodyPr anchorCtr="0" anchor="t" bIns="0" lIns="0" spcFirstLastPara="1" rIns="0" wrap="square" tIns="0">
            <a:spAutoFit/>
          </a:bodyPr>
          <a:lstStyle/>
          <a:p>
            <a:pPr indent="-388615" lvl="1" marL="777232" marR="0" rtl="0" algn="just">
              <a:lnSpc>
                <a:spcPct val="140011"/>
              </a:lnSpc>
              <a:spcBef>
                <a:spcPts val="0"/>
              </a:spcBef>
              <a:spcAft>
                <a:spcPts val="0"/>
              </a:spcAft>
              <a:buClr>
                <a:srgbClr val="050A30"/>
              </a:buClr>
              <a:buSzPts val="3599"/>
              <a:buFont typeface="Arial"/>
              <a:buChar char="•"/>
            </a:pPr>
            <a:r>
              <a:rPr b="1" i="0" lang="en-US" sz="3599" u="none" cap="none" strike="noStrike">
                <a:solidFill>
                  <a:srgbClr val="050A30"/>
                </a:solidFill>
                <a:latin typeface="Arial"/>
                <a:ea typeface="Arial"/>
                <a:cs typeface="Arial"/>
                <a:sym typeface="Arial"/>
              </a:rPr>
              <a:t>Industria</a:t>
            </a:r>
            <a:endParaRPr/>
          </a:p>
        </p:txBody>
      </p:sp>
      <p:sp>
        <p:nvSpPr>
          <p:cNvPr id="396" name="Google Shape;396;p15"/>
          <p:cNvSpPr txBox="1"/>
          <p:nvPr/>
        </p:nvSpPr>
        <p:spPr>
          <a:xfrm>
            <a:off x="790180" y="3056188"/>
            <a:ext cx="16707600" cy="6555300"/>
          </a:xfrm>
          <a:prstGeom prst="rect">
            <a:avLst/>
          </a:prstGeom>
          <a:noFill/>
          <a:ln>
            <a:noFill/>
          </a:ln>
        </p:spPr>
        <p:txBody>
          <a:bodyPr anchorCtr="0" anchor="t" bIns="0" lIns="0" spcFirstLastPara="1" rIns="0" wrap="square" tIns="0">
            <a:spAutoFit/>
          </a:bodyPr>
          <a:lstStyle/>
          <a:p>
            <a:pPr indent="-323848" lvl="1" marL="647695" marR="0" rtl="0" algn="just">
              <a:lnSpc>
                <a:spcPct val="120006"/>
              </a:lnSpc>
              <a:spcBef>
                <a:spcPts val="0"/>
              </a:spcBef>
              <a:spcAft>
                <a:spcPts val="0"/>
              </a:spcAft>
              <a:buClr>
                <a:srgbClr val="050A30"/>
              </a:buClr>
              <a:buSzPts val="2999"/>
              <a:buFont typeface="Arial"/>
              <a:buChar char="•"/>
            </a:pPr>
            <a:r>
              <a:rPr b="1" i="0" lang="en-US" sz="2999" u="none" cap="none" strike="noStrike">
                <a:solidFill>
                  <a:srgbClr val="050A30"/>
                </a:solidFill>
                <a:latin typeface="Arial"/>
                <a:ea typeface="Arial"/>
                <a:cs typeface="Arial"/>
                <a:sym typeface="Arial"/>
              </a:rPr>
              <a:t>Diseño industrial: </a:t>
            </a:r>
            <a:r>
              <a:rPr b="0" i="0" lang="en-US" sz="2999" u="none" cap="none" strike="noStrike">
                <a:solidFill>
                  <a:srgbClr val="050A30"/>
                </a:solidFill>
                <a:latin typeface="Arial"/>
                <a:ea typeface="Arial"/>
                <a:cs typeface="Arial"/>
                <a:sym typeface="Arial"/>
              </a:rPr>
              <a:t>Los diseñadores utilizan AR para visualizar modelos 3D de productos o piezas antes de fabricarlas, permitiendo ajustar diseños en tiempo real y mejorar el proceso de prototipado.</a:t>
            </a:r>
            <a:endParaRPr/>
          </a:p>
          <a:p>
            <a:pPr indent="0" lvl="0" marL="0" marR="0" rtl="0" algn="just">
              <a:lnSpc>
                <a:spcPct val="120006"/>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20006"/>
              </a:lnSpc>
              <a:spcBef>
                <a:spcPts val="0"/>
              </a:spcBef>
              <a:spcAft>
                <a:spcPts val="0"/>
              </a:spcAft>
              <a:buClr>
                <a:srgbClr val="050A30"/>
              </a:buClr>
              <a:buSzPts val="2999"/>
              <a:buFont typeface="Arial"/>
              <a:buChar char="•"/>
            </a:pPr>
            <a:r>
              <a:rPr b="1" i="0" lang="en-US" sz="2999" u="none" cap="none" strike="noStrike">
                <a:solidFill>
                  <a:srgbClr val="050A30"/>
                </a:solidFill>
                <a:latin typeface="Arial"/>
                <a:ea typeface="Arial"/>
                <a:cs typeface="Arial"/>
                <a:sym typeface="Arial"/>
              </a:rPr>
              <a:t>Mantenimiento de equipos: </a:t>
            </a:r>
            <a:r>
              <a:rPr b="0" i="0" lang="en-US" sz="2999" u="none" cap="none" strike="noStrike">
                <a:solidFill>
                  <a:srgbClr val="050A30"/>
                </a:solidFill>
                <a:latin typeface="Arial"/>
                <a:ea typeface="Arial"/>
                <a:cs typeface="Arial"/>
                <a:sym typeface="Arial"/>
              </a:rPr>
              <a:t>La AR facilita la reparación y mantenimiento de maquinaria, proporcionando a los técnicos superposiciones de información sobre el equipo (como manuales o instrucciones paso a paso) a través de lentes inteligentes o dispositivos móviles.</a:t>
            </a:r>
            <a:endParaRPr/>
          </a:p>
          <a:p>
            <a:pPr indent="0" lvl="0" marL="0" marR="0" rtl="0" algn="just">
              <a:lnSpc>
                <a:spcPct val="120006"/>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20006"/>
              </a:lnSpc>
              <a:spcBef>
                <a:spcPts val="0"/>
              </a:spcBef>
              <a:spcAft>
                <a:spcPts val="0"/>
              </a:spcAft>
              <a:buClr>
                <a:srgbClr val="050A30"/>
              </a:buClr>
              <a:buSzPts val="2999"/>
              <a:buFont typeface="Arial"/>
              <a:buChar char="•"/>
            </a:pPr>
            <a:r>
              <a:rPr b="1" i="0" lang="en-US" sz="2999" u="none" cap="none" strike="noStrike">
                <a:solidFill>
                  <a:srgbClr val="050A30"/>
                </a:solidFill>
                <a:latin typeface="Arial"/>
                <a:ea typeface="Arial"/>
                <a:cs typeface="Arial"/>
                <a:sym typeface="Arial"/>
              </a:rPr>
              <a:t>Visualización arquitectónica: </a:t>
            </a:r>
            <a:r>
              <a:rPr b="0" i="0" lang="en-US" sz="2999" u="none" cap="none" strike="noStrike">
                <a:solidFill>
                  <a:srgbClr val="050A30"/>
                </a:solidFill>
                <a:latin typeface="Arial"/>
                <a:ea typeface="Arial"/>
                <a:cs typeface="Arial"/>
                <a:sym typeface="Arial"/>
              </a:rPr>
              <a:t>Los arquitectos y diseñadores pueden utilizar AR para mostrar a los clientes cómo se verá un edificio o una estructura en un entorno real. Esto les ayuda a tomar decisiones más informadas sobre diseño y planificación.</a:t>
            </a:r>
            <a:endParaRPr/>
          </a:p>
          <a:p>
            <a:pPr indent="0" lvl="0" marL="0" marR="0" rtl="0" algn="just">
              <a:lnSpc>
                <a:spcPct val="120006"/>
              </a:lnSpc>
              <a:spcBef>
                <a:spcPts val="0"/>
              </a:spcBef>
              <a:spcAft>
                <a:spcPts val="0"/>
              </a:spcAft>
              <a:buNone/>
            </a:pPr>
            <a:r>
              <a:t/>
            </a:r>
            <a:endParaRPr sz="2999">
              <a:solidFill>
                <a:srgbClr val="050A3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2" name="Google Shape;402;p16"/>
          <p:cNvGrpSpPr/>
          <p:nvPr/>
        </p:nvGrpSpPr>
        <p:grpSpPr>
          <a:xfrm rot="-5400000">
            <a:off x="6095749" y="2420783"/>
            <a:ext cx="6818207" cy="21127995"/>
            <a:chOff x="0" y="-47625"/>
            <a:chExt cx="1795742" cy="5564575"/>
          </a:xfrm>
        </p:grpSpPr>
        <p:sp>
          <p:nvSpPr>
            <p:cNvPr id="403" name="Google Shape;403;p1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5" name="Google Shape;405;p16"/>
          <p:cNvGrpSpPr/>
          <p:nvPr/>
        </p:nvGrpSpPr>
        <p:grpSpPr>
          <a:xfrm rot="-5400000">
            <a:off x="3906656" y="-11095415"/>
            <a:ext cx="2045233" cy="21127995"/>
            <a:chOff x="0" y="-47625"/>
            <a:chExt cx="538662" cy="5564575"/>
          </a:xfrm>
        </p:grpSpPr>
        <p:sp>
          <p:nvSpPr>
            <p:cNvPr id="406" name="Google Shape;406;p1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8" name="Google Shape;408;p16"/>
          <p:cNvGrpSpPr/>
          <p:nvPr/>
        </p:nvGrpSpPr>
        <p:grpSpPr>
          <a:xfrm rot="2700000">
            <a:off x="13798263" y="-60632"/>
            <a:ext cx="4685776" cy="1748082"/>
            <a:chOff x="0" y="-47625"/>
            <a:chExt cx="1234114" cy="460400"/>
          </a:xfrm>
        </p:grpSpPr>
        <p:sp>
          <p:nvSpPr>
            <p:cNvPr id="409" name="Google Shape;409;p1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 name="Google Shape;411;p16"/>
          <p:cNvSpPr txBox="1"/>
          <p:nvPr/>
        </p:nvSpPr>
        <p:spPr>
          <a:xfrm>
            <a:off x="2392343" y="484538"/>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Conceptos Clave Aprendidos </a:t>
            </a:r>
            <a:endParaRPr/>
          </a:p>
        </p:txBody>
      </p:sp>
      <p:sp>
        <p:nvSpPr>
          <p:cNvPr id="412" name="Google Shape;412;p16"/>
          <p:cNvSpPr txBox="1"/>
          <p:nvPr/>
        </p:nvSpPr>
        <p:spPr>
          <a:xfrm>
            <a:off x="624375" y="1635174"/>
            <a:ext cx="17039400" cy="8003400"/>
          </a:xfrm>
          <a:prstGeom prst="rect">
            <a:avLst/>
          </a:prstGeom>
          <a:noFill/>
          <a:ln>
            <a:noFill/>
          </a:ln>
        </p:spPr>
        <p:txBody>
          <a:bodyPr anchorCtr="0" anchor="t" bIns="0" lIns="0" spcFirstLastPara="1" rIns="0" wrap="square" tIns="0">
            <a:spAutoFit/>
          </a:bodyPr>
          <a:lstStyle/>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Realidad Aumentada (AR): </a:t>
            </a:r>
            <a:r>
              <a:rPr b="0" i="0" lang="en-US" sz="3000" u="none" cap="none" strike="noStrike">
                <a:solidFill>
                  <a:srgbClr val="050A30"/>
                </a:solidFill>
                <a:latin typeface="Arial"/>
                <a:ea typeface="Arial"/>
                <a:cs typeface="Arial"/>
                <a:sym typeface="Arial"/>
              </a:rPr>
              <a:t>Tecnología que añade información digital al entorno físico en tiempo real, sin reemplazarlo.</a:t>
            </a:r>
            <a:endParaRPr/>
          </a:p>
          <a:p>
            <a:pPr indent="0" lvl="0" marL="0" marR="0" rtl="0" algn="just">
              <a:lnSpc>
                <a:spcPct val="46633"/>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AR vs. Realidad Virtual (RV): </a:t>
            </a:r>
            <a:r>
              <a:rPr b="0" i="0" lang="en-US" sz="3000" u="none" cap="none" strike="noStrike">
                <a:solidFill>
                  <a:srgbClr val="050A30"/>
                </a:solidFill>
                <a:latin typeface="Arial"/>
                <a:ea typeface="Arial"/>
                <a:cs typeface="Arial"/>
                <a:sym typeface="Arial"/>
              </a:rPr>
              <a:t>AR complementa el mundo real; RV lo sustituye por completo.</a:t>
            </a:r>
            <a:endParaRPr/>
          </a:p>
          <a:p>
            <a:pPr indent="0" lvl="0" marL="0" marR="0" rtl="0" algn="just">
              <a:lnSpc>
                <a:spcPct val="46633"/>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Tecnologías de AR: </a:t>
            </a:r>
            <a:r>
              <a:rPr b="0" i="0" lang="en-US" sz="3000" u="none" cap="none" strike="noStrike">
                <a:solidFill>
                  <a:srgbClr val="050A30"/>
                </a:solidFill>
                <a:latin typeface="Arial"/>
                <a:ea typeface="Arial"/>
                <a:cs typeface="Arial"/>
                <a:sym typeface="Arial"/>
              </a:rPr>
              <a:t>Uso de cámaras, sensores, software, procesadores y pantallas para fusionar lo digital con lo físico.</a:t>
            </a:r>
            <a:endParaRPr/>
          </a:p>
          <a:p>
            <a:pPr indent="0" lvl="0" marL="0" marR="0" rtl="0" algn="just">
              <a:lnSpc>
                <a:spcPct val="46633"/>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Aplicaciones de AR: </a:t>
            </a:r>
            <a:r>
              <a:rPr b="0" i="0" lang="en-US" sz="3000" u="none" cap="none" strike="noStrike">
                <a:solidFill>
                  <a:srgbClr val="050A30"/>
                </a:solidFill>
                <a:latin typeface="Arial"/>
                <a:ea typeface="Arial"/>
                <a:cs typeface="Arial"/>
                <a:sym typeface="Arial"/>
              </a:rPr>
              <a:t>Utilizada en juegos, educación, marketing, industria y visualización arquitectónica.</a:t>
            </a:r>
            <a:endParaRPr/>
          </a:p>
          <a:p>
            <a:pPr indent="0" lvl="0" marL="0" marR="0" rtl="0" algn="just">
              <a:lnSpc>
                <a:spcPct val="46633"/>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Historia y evolución: </a:t>
            </a:r>
            <a:r>
              <a:rPr b="0" i="0" lang="en-US" sz="3000" u="none" cap="none" strike="noStrike">
                <a:solidFill>
                  <a:srgbClr val="050A30"/>
                </a:solidFill>
                <a:latin typeface="Arial"/>
                <a:ea typeface="Arial"/>
                <a:cs typeface="Arial"/>
                <a:sym typeface="Arial"/>
              </a:rPr>
              <a:t>Desde los primeros experimentos en los años 60 hasta su expansión masiva en móviles y el entretenimiento actual.</a:t>
            </a:r>
            <a:endParaRPr/>
          </a:p>
          <a:p>
            <a:pPr indent="0" lvl="0" marL="0" marR="0" rtl="0" algn="just">
              <a:lnSpc>
                <a:spcPct val="46633"/>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Integración con IA y simulación: </a:t>
            </a:r>
            <a:r>
              <a:rPr b="0" i="0" lang="en-US" sz="3000" u="none" cap="none" strike="noStrike">
                <a:solidFill>
                  <a:srgbClr val="050A30"/>
                </a:solidFill>
                <a:latin typeface="Arial"/>
                <a:ea typeface="Arial"/>
                <a:cs typeface="Arial"/>
                <a:sym typeface="Arial"/>
              </a:rPr>
              <a:t>Permite probar comportamientos lógicos y sistemas inteligentes en entornos visuales interactivos.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8" name="Google Shape;418;p17"/>
          <p:cNvGrpSpPr/>
          <p:nvPr/>
        </p:nvGrpSpPr>
        <p:grpSpPr>
          <a:xfrm rot="-5400000">
            <a:off x="6095749" y="2420783"/>
            <a:ext cx="6818207" cy="21127995"/>
            <a:chOff x="0" y="-47625"/>
            <a:chExt cx="1795742" cy="5564575"/>
          </a:xfrm>
        </p:grpSpPr>
        <p:sp>
          <p:nvSpPr>
            <p:cNvPr id="419" name="Google Shape;419;p1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1" name="Google Shape;421;p17"/>
          <p:cNvGrpSpPr/>
          <p:nvPr/>
        </p:nvGrpSpPr>
        <p:grpSpPr>
          <a:xfrm rot="-5400000">
            <a:off x="3906656" y="-11095415"/>
            <a:ext cx="2045233" cy="21127995"/>
            <a:chOff x="0" y="-47625"/>
            <a:chExt cx="538662" cy="5564575"/>
          </a:xfrm>
        </p:grpSpPr>
        <p:sp>
          <p:nvSpPr>
            <p:cNvPr id="422" name="Google Shape;422;p1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4" name="Google Shape;424;p17"/>
          <p:cNvGrpSpPr/>
          <p:nvPr/>
        </p:nvGrpSpPr>
        <p:grpSpPr>
          <a:xfrm rot="2700000">
            <a:off x="13798263" y="-60632"/>
            <a:ext cx="4685776" cy="1748082"/>
            <a:chOff x="0" y="-47625"/>
            <a:chExt cx="1234114" cy="460400"/>
          </a:xfrm>
        </p:grpSpPr>
        <p:sp>
          <p:nvSpPr>
            <p:cNvPr id="425" name="Google Shape;425;p1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7" name="Google Shape;427;p17"/>
          <p:cNvSpPr txBox="1"/>
          <p:nvPr/>
        </p:nvSpPr>
        <p:spPr>
          <a:xfrm>
            <a:off x="2392341" y="2070342"/>
            <a:ext cx="13503300" cy="22623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Evaluación crítica, adaptabilidad</a:t>
            </a:r>
            <a:endParaRPr b="1" sz="6900">
              <a:solidFill>
                <a:srgbClr val="F4F6FC"/>
              </a:solidFill>
              <a:latin typeface="Arial"/>
              <a:ea typeface="Arial"/>
              <a:cs typeface="Arial"/>
              <a:sym typeface="Arial"/>
            </a:endParaRPr>
          </a:p>
        </p:txBody>
      </p:sp>
      <p:sp>
        <p:nvSpPr>
          <p:cNvPr id="428" name="Google Shape;428;p17"/>
          <p:cNvSpPr txBox="1"/>
          <p:nvPr/>
        </p:nvSpPr>
        <p:spPr>
          <a:xfrm>
            <a:off x="2027175" y="4660400"/>
            <a:ext cx="14233500" cy="2241000"/>
          </a:xfrm>
          <a:prstGeom prst="rect">
            <a:avLst/>
          </a:prstGeom>
          <a:noFill/>
          <a:ln>
            <a:noFill/>
          </a:ln>
        </p:spPr>
        <p:txBody>
          <a:bodyPr anchorCtr="0" anchor="t" bIns="0" lIns="0" spcFirstLastPara="1" rIns="0" wrap="square" tIns="0">
            <a:spAutoFit/>
          </a:bodyPr>
          <a:lstStyle/>
          <a:p>
            <a:pPr indent="0" lvl="1" marL="302266" marR="0" rtl="0" algn="just">
              <a:lnSpc>
                <a:spcPct val="140000"/>
              </a:lnSpc>
              <a:spcBef>
                <a:spcPts val="0"/>
              </a:spcBef>
              <a:spcAft>
                <a:spcPts val="0"/>
              </a:spcAft>
              <a:buNone/>
            </a:pPr>
            <a:r>
              <a:rPr b="1" i="0" lang="en-US" sz="2800" u="none" cap="none" strike="noStrike">
                <a:solidFill>
                  <a:srgbClr val="F4F6FC"/>
                </a:solidFill>
                <a:latin typeface="Arial"/>
                <a:ea typeface="Arial"/>
                <a:cs typeface="Arial"/>
                <a:sym typeface="Arial"/>
              </a:rPr>
              <a:t>La evaluación crítica consiste en analizar de manera reflexiva las soluciones y resultados, identificando fortalezas, debilidades y posibles mejoras.La adaptabilidad implica ajustarse a nuevas circunstancias, herramientas o formas de resolver un problema sin perder el objetivo final.</a:t>
            </a:r>
            <a:endParaRPr b="0" i="0" sz="2800" u="none" cap="none" strike="noStrike">
              <a:solidFill>
                <a:srgbClr val="F4F6FC"/>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4" name="Google Shape;434;p18"/>
          <p:cNvGrpSpPr/>
          <p:nvPr/>
        </p:nvGrpSpPr>
        <p:grpSpPr>
          <a:xfrm rot="-5400000">
            <a:off x="6095749" y="2420783"/>
            <a:ext cx="6818207" cy="21127995"/>
            <a:chOff x="0" y="-47625"/>
            <a:chExt cx="1795742" cy="5564575"/>
          </a:xfrm>
        </p:grpSpPr>
        <p:sp>
          <p:nvSpPr>
            <p:cNvPr id="435" name="Google Shape;435;p1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7" name="Google Shape;437;p18"/>
          <p:cNvGrpSpPr/>
          <p:nvPr/>
        </p:nvGrpSpPr>
        <p:grpSpPr>
          <a:xfrm rot="-5400000">
            <a:off x="3906656" y="-11095415"/>
            <a:ext cx="2045233" cy="21127995"/>
            <a:chOff x="0" y="-47625"/>
            <a:chExt cx="538662" cy="5564575"/>
          </a:xfrm>
        </p:grpSpPr>
        <p:sp>
          <p:nvSpPr>
            <p:cNvPr id="438" name="Google Shape;438;p1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0" name="Google Shape;440;p18"/>
          <p:cNvGrpSpPr/>
          <p:nvPr/>
        </p:nvGrpSpPr>
        <p:grpSpPr>
          <a:xfrm rot="2700000">
            <a:off x="13798263" y="-60632"/>
            <a:ext cx="4685776" cy="1748082"/>
            <a:chOff x="0" y="-47625"/>
            <a:chExt cx="1234114" cy="460400"/>
          </a:xfrm>
        </p:grpSpPr>
        <p:sp>
          <p:nvSpPr>
            <p:cNvPr id="441" name="Google Shape;441;p1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3" name="Google Shape;443;p18"/>
          <p:cNvSpPr txBox="1"/>
          <p:nvPr/>
        </p:nvSpPr>
        <p:spPr>
          <a:xfrm>
            <a:off x="2392343" y="1673265"/>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Referencias</a:t>
            </a:r>
            <a:endParaRPr/>
          </a:p>
        </p:txBody>
      </p:sp>
      <p:sp>
        <p:nvSpPr>
          <p:cNvPr id="444" name="Google Shape;444;p18"/>
          <p:cNvSpPr txBox="1"/>
          <p:nvPr/>
        </p:nvSpPr>
        <p:spPr>
          <a:xfrm>
            <a:off x="2027167" y="4268899"/>
            <a:ext cx="14233665" cy="1471929"/>
          </a:xfrm>
          <a:prstGeom prst="rect">
            <a:avLst/>
          </a:prstGeom>
          <a:noFill/>
          <a:ln>
            <a:noFill/>
          </a:ln>
        </p:spPr>
        <p:txBody>
          <a:bodyPr anchorCtr="0" anchor="t" bIns="0" lIns="0" spcFirstLastPara="1" rIns="0" wrap="square" tIns="0">
            <a:spAutoFit/>
          </a:bodyPr>
          <a:lstStyle/>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Russell, S., &amp; Norvig, P. (2016). Artificial Intelligence: A Modern Approach (3rd ed.). Pearson.</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0" name="Google Shape;450;p19"/>
          <p:cNvGrpSpPr/>
          <p:nvPr/>
        </p:nvGrpSpPr>
        <p:grpSpPr>
          <a:xfrm rot="-5400000">
            <a:off x="6095749" y="2420783"/>
            <a:ext cx="6818207" cy="21127995"/>
            <a:chOff x="0" y="-47625"/>
            <a:chExt cx="1795742" cy="5564575"/>
          </a:xfrm>
        </p:grpSpPr>
        <p:sp>
          <p:nvSpPr>
            <p:cNvPr id="451" name="Google Shape;451;p1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3" name="Google Shape;453;p19"/>
          <p:cNvGrpSpPr/>
          <p:nvPr/>
        </p:nvGrpSpPr>
        <p:grpSpPr>
          <a:xfrm rot="-5400000">
            <a:off x="3906656" y="-11095415"/>
            <a:ext cx="2045233" cy="21127995"/>
            <a:chOff x="0" y="-47625"/>
            <a:chExt cx="538662" cy="5564575"/>
          </a:xfrm>
        </p:grpSpPr>
        <p:sp>
          <p:nvSpPr>
            <p:cNvPr id="454" name="Google Shape;454;p1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6" name="Google Shape;456;p19"/>
          <p:cNvGrpSpPr/>
          <p:nvPr/>
        </p:nvGrpSpPr>
        <p:grpSpPr>
          <a:xfrm rot="2700000">
            <a:off x="13798263" y="-60632"/>
            <a:ext cx="4685776" cy="1748082"/>
            <a:chOff x="0" y="-47625"/>
            <a:chExt cx="1234114" cy="460400"/>
          </a:xfrm>
        </p:grpSpPr>
        <p:sp>
          <p:nvSpPr>
            <p:cNvPr id="457" name="Google Shape;457;p1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9" name="Google Shape;459;p19"/>
          <p:cNvSpPr txBox="1"/>
          <p:nvPr/>
        </p:nvSpPr>
        <p:spPr>
          <a:xfrm>
            <a:off x="2392342" y="4305300"/>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Ejemplo Práctico</a:t>
            </a:r>
            <a:endParaRPr b="1" sz="6900">
              <a:solidFill>
                <a:srgbClr val="F4F6FC"/>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5" name="Google Shape;465;p20"/>
          <p:cNvGrpSpPr/>
          <p:nvPr/>
        </p:nvGrpSpPr>
        <p:grpSpPr>
          <a:xfrm rot="-5400000">
            <a:off x="6095749" y="2420783"/>
            <a:ext cx="6818207" cy="21127995"/>
            <a:chOff x="0" y="-47625"/>
            <a:chExt cx="1795742" cy="5564575"/>
          </a:xfrm>
        </p:grpSpPr>
        <p:sp>
          <p:nvSpPr>
            <p:cNvPr id="466" name="Google Shape;466;p2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8" name="Google Shape;468;p20"/>
          <p:cNvGrpSpPr/>
          <p:nvPr/>
        </p:nvGrpSpPr>
        <p:grpSpPr>
          <a:xfrm rot="-5400000">
            <a:off x="3906656" y="-11095415"/>
            <a:ext cx="2045233" cy="21127995"/>
            <a:chOff x="0" y="-47625"/>
            <a:chExt cx="538662" cy="5564575"/>
          </a:xfrm>
        </p:grpSpPr>
        <p:sp>
          <p:nvSpPr>
            <p:cNvPr id="469" name="Google Shape;469;p2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2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1" name="Google Shape;471;p20"/>
          <p:cNvGrpSpPr/>
          <p:nvPr/>
        </p:nvGrpSpPr>
        <p:grpSpPr>
          <a:xfrm rot="2700000">
            <a:off x="13798263" y="-60632"/>
            <a:ext cx="4685776" cy="1748082"/>
            <a:chOff x="0" y="-47625"/>
            <a:chExt cx="1234114" cy="460400"/>
          </a:xfrm>
        </p:grpSpPr>
        <p:sp>
          <p:nvSpPr>
            <p:cNvPr id="472" name="Google Shape;472;p2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4" name="Google Shape;474;p20"/>
          <p:cNvSpPr txBox="1"/>
          <p:nvPr/>
        </p:nvSpPr>
        <p:spPr>
          <a:xfrm>
            <a:off x="2392342" y="4148709"/>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rPr>
              <a:t>Corto #1</a:t>
            </a:r>
            <a:endParaRPr b="1" sz="6900">
              <a:solidFill>
                <a:srgbClr val="050A3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21"/>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480" name="Google Shape;480;p21"/>
          <p:cNvGraphicFramePr/>
          <p:nvPr/>
        </p:nvGraphicFramePr>
        <p:xfrm>
          <a:off x="16900" y="1507250"/>
          <a:ext cx="3000000" cy="3000000"/>
        </p:xfrm>
        <a:graphic>
          <a:graphicData uri="http://schemas.openxmlformats.org/drawingml/2006/table">
            <a:tbl>
              <a:tblPr>
                <a:noFill/>
                <a:tableStyleId>{EA9A31D5-CDE2-4F06-BCA6-BC0E6D9160D9}</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Evaluación de Tutor IA1 B</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Si</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81" name="Google Shape;481;p21"/>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482" name="Google Shape;482;p21"/>
          <p:cNvSpPr txBox="1"/>
          <p:nvPr/>
        </p:nvSpPr>
        <p:spPr>
          <a:xfrm>
            <a:off x="16900" y="4955800"/>
            <a:ext cx="6167400" cy="42114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rtl="0" algn="l">
              <a:lnSpc>
                <a:spcPct val="115000"/>
              </a:lnSpc>
              <a:spcBef>
                <a:spcPts val="1200"/>
              </a:spcBef>
              <a:spcAft>
                <a:spcPts val="0"/>
              </a:spcAft>
              <a:buClr>
                <a:schemeClr val="dk1"/>
              </a:buClr>
              <a:buSzPts val="1100"/>
              <a:buFont typeface="Arial"/>
              <a:buNone/>
            </a:pPr>
            <a:r>
              <a:rPr lang="en-US" sz="2400"/>
              <a:t>Natalia Echeverria 202200007</a:t>
            </a:r>
            <a:endParaRPr sz="2400"/>
          </a:p>
          <a:p>
            <a:pPr indent="0" lvl="0" marL="0" rtl="0" algn="l">
              <a:lnSpc>
                <a:spcPct val="115000"/>
              </a:lnSpc>
              <a:spcBef>
                <a:spcPts val="1200"/>
              </a:spcBef>
              <a:spcAft>
                <a:spcPts val="0"/>
              </a:spcAft>
              <a:buClr>
                <a:schemeClr val="dk1"/>
              </a:buClr>
              <a:buSzPts val="1100"/>
              <a:buFont typeface="Arial"/>
              <a:buNone/>
            </a:pPr>
            <a:r>
              <a:rPr lang="en-US" sz="2400"/>
              <a:t>Heinz Gómez – 199819617</a:t>
            </a:r>
            <a:endParaRPr sz="2400"/>
          </a:p>
          <a:p>
            <a:pPr indent="0" lvl="0" marL="0" rtl="0" algn="l">
              <a:lnSpc>
                <a:spcPct val="115000"/>
              </a:lnSpc>
              <a:spcBef>
                <a:spcPts val="1200"/>
              </a:spcBef>
              <a:spcAft>
                <a:spcPts val="0"/>
              </a:spcAft>
              <a:buClr>
                <a:schemeClr val="dk1"/>
              </a:buClr>
              <a:buSzPts val="1100"/>
              <a:buFont typeface="Arial"/>
              <a:buNone/>
            </a:pPr>
            <a:r>
              <a:rPr lang="en-US" sz="2400"/>
              <a:t>Tobías Zamora – 202002873</a:t>
            </a:r>
            <a:endParaRPr sz="2400"/>
          </a:p>
          <a:p>
            <a:pPr indent="0" lvl="0" marL="0" rtl="0" algn="l">
              <a:lnSpc>
                <a:spcPct val="115000"/>
              </a:lnSpc>
              <a:spcBef>
                <a:spcPts val="1200"/>
              </a:spcBef>
              <a:spcAft>
                <a:spcPts val="0"/>
              </a:spcAft>
              <a:buClr>
                <a:schemeClr val="dk1"/>
              </a:buClr>
              <a:buSzPts val="1100"/>
              <a:buFont typeface="Arial"/>
              <a:buNone/>
            </a:pPr>
            <a:r>
              <a:rPr lang="en-US" sz="2400"/>
              <a:t>Brian Ajuchán – 202001086</a:t>
            </a:r>
            <a:endParaRPr sz="2400"/>
          </a:p>
          <a:p>
            <a:pPr indent="0" lvl="0" marL="0" rtl="0" algn="l">
              <a:lnSpc>
                <a:spcPct val="115000"/>
              </a:lnSpc>
              <a:spcBef>
                <a:spcPts val="1200"/>
              </a:spcBef>
              <a:spcAft>
                <a:spcPts val="0"/>
              </a:spcAft>
              <a:buClr>
                <a:schemeClr val="dk1"/>
              </a:buClr>
              <a:buSzPts val="1100"/>
              <a:buFont typeface="Arial"/>
              <a:buNone/>
            </a:pPr>
            <a:r>
              <a:rPr lang="en-US" sz="2400"/>
              <a:t>Wuilmar López – 201901069</a:t>
            </a:r>
            <a:endParaRPr sz="2400"/>
          </a:p>
          <a:p>
            <a:pPr indent="0" lvl="0" marL="0" rtl="0" algn="l">
              <a:lnSpc>
                <a:spcPct val="115000"/>
              </a:lnSpc>
              <a:spcBef>
                <a:spcPts val="1200"/>
              </a:spcBef>
              <a:spcAft>
                <a:spcPts val="0"/>
              </a:spcAft>
              <a:buClr>
                <a:schemeClr val="dk1"/>
              </a:buClr>
              <a:buSzPts val="1100"/>
              <a:buFont typeface="Arial"/>
              <a:buNone/>
            </a:pPr>
            <a:r>
              <a:rPr lang="en-US" sz="2400"/>
              <a:t>Noel Chacón – 201900822</a:t>
            </a:r>
            <a:endParaRPr sz="2400"/>
          </a:p>
          <a:p>
            <a:pPr indent="0" lvl="0" marL="0" marR="0" rtl="0" algn="l">
              <a:lnSpc>
                <a:spcPct val="100000"/>
              </a:lnSpc>
              <a:spcBef>
                <a:spcPts val="1200"/>
              </a:spcBef>
              <a:spcAft>
                <a:spcPts val="0"/>
              </a:spcAft>
              <a:buClr>
                <a:schemeClr val="dk1"/>
              </a:buClr>
              <a:buSzPts val="2400"/>
              <a:buFont typeface="Calibri"/>
              <a:buNone/>
            </a:pPr>
            <a:r>
              <a:t/>
            </a:r>
            <a:endParaRPr sz="2400"/>
          </a:p>
        </p:txBody>
      </p:sp>
      <p:graphicFrame>
        <p:nvGraphicFramePr>
          <p:cNvPr id="483" name="Google Shape;483;p21"/>
          <p:cNvGraphicFramePr/>
          <p:nvPr/>
        </p:nvGraphicFramePr>
        <p:xfrm>
          <a:off x="10656400" y="1940050"/>
          <a:ext cx="3000000" cy="3000000"/>
        </p:xfrm>
        <a:graphic>
          <a:graphicData uri="http://schemas.openxmlformats.org/drawingml/2006/table">
            <a:tbl>
              <a:tblPr>
                <a:noFill/>
                <a:tableStyleId>{EA9A31D5-CDE2-4F06-BCA6-BC0E6D9160D9}</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20:06</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20:16</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10</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84" name="Google Shape;484;p21"/>
          <p:cNvSpPr txBox="1"/>
          <p:nvPr/>
        </p:nvSpPr>
        <p:spPr>
          <a:xfrm>
            <a:off x="6261600" y="4955800"/>
            <a:ext cx="6167400" cy="44823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Pamela Abigail Ratzam Xajil 202207595</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Maria Patricia Serrano Ramirez – 202201989</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Diego Pérez – 202106538</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Josué Caal – 201408473</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Kevin Estuardo Del Cid Quezada – 202103252</a:t>
            </a:r>
            <a:endParaRPr sz="2400">
              <a:solidFill>
                <a:schemeClr val="dk1"/>
              </a:solidFill>
            </a:endParaRPr>
          </a:p>
          <a:p>
            <a:pPr indent="0" lvl="0" marL="0" marR="0" rtl="0" algn="l">
              <a:lnSpc>
                <a:spcPct val="100000"/>
              </a:lnSpc>
              <a:spcBef>
                <a:spcPts val="1200"/>
              </a:spcBef>
              <a:spcAft>
                <a:spcPts val="0"/>
              </a:spcAft>
              <a:buClr>
                <a:schemeClr val="dk1"/>
              </a:buClr>
              <a:buSzPts val="2400"/>
              <a:buFont typeface="Calibri"/>
              <a:buNone/>
            </a:pPr>
            <a:r>
              <a:t/>
            </a:r>
            <a:endParaRPr sz="2400"/>
          </a:p>
        </p:txBody>
      </p:sp>
      <p:sp>
        <p:nvSpPr>
          <p:cNvPr id="485" name="Google Shape;485;p21"/>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489" name="Shape 489"/>
        <p:cNvGrpSpPr/>
        <p:nvPr/>
      </p:nvGrpSpPr>
      <p:grpSpPr>
        <a:xfrm>
          <a:off x="0" y="0"/>
          <a:ext cx="0" cy="0"/>
          <a:chOff x="0" y="0"/>
          <a:chExt cx="0" cy="0"/>
        </a:xfrm>
      </p:grpSpPr>
      <p:sp>
        <p:nvSpPr>
          <p:cNvPr id="490" name="Google Shape;490;p22"/>
          <p:cNvSpPr txBox="1"/>
          <p:nvPr/>
        </p:nvSpPr>
        <p:spPr>
          <a:xfrm>
            <a:off x="4437795" y="3446254"/>
            <a:ext cx="8658900" cy="28914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lang="en-US" sz="6099">
                <a:solidFill>
                  <a:srgbClr val="F4F6FC"/>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1" sz="6099">
              <a:solidFill>
                <a:srgbClr val="F4F6FC"/>
              </a:solidFill>
              <a:latin typeface="Arial"/>
              <a:ea typeface="Arial"/>
              <a:cs typeface="Arial"/>
              <a:sym typeface="Arial"/>
            </a:endParaRPr>
          </a:p>
        </p:txBody>
      </p:sp>
      <p:sp>
        <p:nvSpPr>
          <p:cNvPr id="491" name="Google Shape;491;p22"/>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5000">
                <a:solidFill>
                  <a:srgbClr val="F4F6FC"/>
                </a:solidFill>
                <a:latin typeface="Arial"/>
                <a:ea typeface="Arial"/>
                <a:cs typeface="Arial"/>
                <a:sym typeface="Arial"/>
              </a:rPr>
              <a:t>DUDAS</a:t>
            </a:r>
            <a:endParaRPr/>
          </a:p>
        </p:txBody>
      </p:sp>
      <p:sp>
        <p:nvSpPr>
          <p:cNvPr id="492" name="Google Shape;492;p22"/>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2"/>
          <p:cNvSpPr txBox="1"/>
          <p:nvPr/>
        </p:nvSpPr>
        <p:spPr>
          <a:xfrm>
            <a:off x="2411098" y="7890210"/>
            <a:ext cx="13465804" cy="35750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2000">
                <a:solidFill>
                  <a:srgbClr val="F4F6FC"/>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