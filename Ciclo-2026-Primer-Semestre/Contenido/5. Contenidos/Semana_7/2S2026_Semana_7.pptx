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Arim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iGqHtySmPvUz5srIsSKUTIgHnv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9B1BC1-E120-491D-BEA9-9A65665ABFF5}">
  <a:tblStyle styleId="{049B1BC1-E120-491D-BEA9-9A65665ABFF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Arimo-bold.fntdata"/><Relationship Id="rId12" Type="http://schemas.openxmlformats.org/officeDocument/2006/relationships/slide" Target="slides/slide6.xml"/><Relationship Id="rId34" Type="http://schemas.openxmlformats.org/officeDocument/2006/relationships/font" Target="fonts/Arimo-regular.fntdata"/><Relationship Id="rId15" Type="http://schemas.openxmlformats.org/officeDocument/2006/relationships/slide" Target="slides/slide9.xml"/><Relationship Id="rId37" Type="http://schemas.openxmlformats.org/officeDocument/2006/relationships/font" Target="fonts/Arimo-boldItalic.fntdata"/><Relationship Id="rId14" Type="http://schemas.openxmlformats.org/officeDocument/2006/relationships/slide" Target="slides/slide8.xml"/><Relationship Id="rId36" Type="http://schemas.openxmlformats.org/officeDocument/2006/relationships/font" Target="fonts/Arimo-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0"/>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dk1"/>
              </a:buClr>
              <a:buSzPts val="5600"/>
              <a:buFont typeface="Calibri"/>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30"/>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Clr>
                <a:schemeClr val="dk1"/>
              </a:buClr>
              <a:buSzPts val="3600"/>
              <a:buChar char="●"/>
              <a:defRPr/>
            </a:lvl1pPr>
            <a:lvl2pPr indent="-406400" lvl="1" marL="914400" algn="l">
              <a:lnSpc>
                <a:spcPct val="115000"/>
              </a:lnSpc>
              <a:spcBef>
                <a:spcPts val="0"/>
              </a:spcBef>
              <a:spcAft>
                <a:spcPts val="0"/>
              </a:spcAft>
              <a:buClr>
                <a:schemeClr val="dk1"/>
              </a:buClr>
              <a:buSzPts val="2800"/>
              <a:buChar char="○"/>
              <a:defRPr/>
            </a:lvl2pPr>
            <a:lvl3pPr indent="-406400" lvl="2" marL="1371600" algn="l">
              <a:lnSpc>
                <a:spcPct val="115000"/>
              </a:lnSpc>
              <a:spcBef>
                <a:spcPts val="0"/>
              </a:spcBef>
              <a:spcAft>
                <a:spcPts val="0"/>
              </a:spcAft>
              <a:buClr>
                <a:schemeClr val="dk1"/>
              </a:buClr>
              <a:buSzPts val="2800"/>
              <a:buChar char="■"/>
              <a:defRPr/>
            </a:lvl3pPr>
            <a:lvl4pPr indent="-406400" lvl="3" marL="1828800" algn="l">
              <a:lnSpc>
                <a:spcPct val="115000"/>
              </a:lnSpc>
              <a:spcBef>
                <a:spcPts val="0"/>
              </a:spcBef>
              <a:spcAft>
                <a:spcPts val="0"/>
              </a:spcAft>
              <a:buClr>
                <a:schemeClr val="dk1"/>
              </a:buClr>
              <a:buSzPts val="2800"/>
              <a:buChar char="●"/>
              <a:defRPr/>
            </a:lvl4pPr>
            <a:lvl5pPr indent="-406400" lvl="4" marL="2286000" algn="l">
              <a:lnSpc>
                <a:spcPct val="115000"/>
              </a:lnSpc>
              <a:spcBef>
                <a:spcPts val="0"/>
              </a:spcBef>
              <a:spcAft>
                <a:spcPts val="0"/>
              </a:spcAft>
              <a:buClr>
                <a:schemeClr val="dk1"/>
              </a:buClr>
              <a:buSzPts val="2800"/>
              <a:buChar char="○"/>
              <a:defRPr/>
            </a:lvl5pPr>
            <a:lvl6pPr indent="-406400" lvl="5" marL="2743200" algn="l">
              <a:lnSpc>
                <a:spcPct val="115000"/>
              </a:lnSpc>
              <a:spcBef>
                <a:spcPts val="0"/>
              </a:spcBef>
              <a:spcAft>
                <a:spcPts val="0"/>
              </a:spcAft>
              <a:buClr>
                <a:schemeClr val="dk1"/>
              </a:buClr>
              <a:buSzPts val="2800"/>
              <a:buChar char="■"/>
              <a:defRPr/>
            </a:lvl6pPr>
            <a:lvl7pPr indent="-406400" lvl="6" marL="3200400" algn="l">
              <a:lnSpc>
                <a:spcPct val="115000"/>
              </a:lnSpc>
              <a:spcBef>
                <a:spcPts val="0"/>
              </a:spcBef>
              <a:spcAft>
                <a:spcPts val="0"/>
              </a:spcAft>
              <a:buClr>
                <a:schemeClr val="dk1"/>
              </a:buClr>
              <a:buSzPts val="2800"/>
              <a:buChar char="●"/>
              <a:defRPr/>
            </a:lvl7pPr>
            <a:lvl8pPr indent="-406400" lvl="7" marL="3657600" algn="l">
              <a:lnSpc>
                <a:spcPct val="115000"/>
              </a:lnSpc>
              <a:spcBef>
                <a:spcPts val="0"/>
              </a:spcBef>
              <a:spcAft>
                <a:spcPts val="0"/>
              </a:spcAft>
              <a:buClr>
                <a:schemeClr val="dk1"/>
              </a:buClr>
              <a:buSzPts val="2800"/>
              <a:buChar char="○"/>
              <a:defRPr/>
            </a:lvl8pPr>
            <a:lvl9pPr indent="-406400" lvl="8" marL="4114800" algn="l">
              <a:lnSpc>
                <a:spcPct val="115000"/>
              </a:lnSpc>
              <a:spcBef>
                <a:spcPts val="0"/>
              </a:spcBef>
              <a:spcAft>
                <a:spcPts val="0"/>
              </a:spcAft>
              <a:buClr>
                <a:schemeClr val="dk1"/>
              </a:buClr>
              <a:buSzPts val="2800"/>
              <a:buChar char="■"/>
              <a:defRPr/>
            </a:lvl9pPr>
          </a:lstStyle>
          <a:p/>
        </p:txBody>
      </p:sp>
      <p:sp>
        <p:nvSpPr>
          <p:cNvPr id="22" name="Google Shape;22;p30"/>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6" name="Google Shape;2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8"/>
          <p:cNvSpPr/>
          <p:nvPr>
            <p:ph idx="2" type="pic"/>
          </p:nvPr>
        </p:nvSpPr>
        <p:spPr>
          <a:xfrm>
            <a:off x="1792288" y="612775"/>
            <a:ext cx="5486400" cy="4114800"/>
          </a:xfrm>
          <a:prstGeom prst="rect">
            <a:avLst/>
          </a:prstGeom>
          <a:noFill/>
          <a:ln>
            <a:noFill/>
          </a:ln>
        </p:spPr>
      </p:sp>
      <p:sp>
        <p:nvSpPr>
          <p:cNvPr id="72" name="Google Shape;72;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mt="557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93" name="Google Shape;93;p1"/>
          <p:cNvGraphicFramePr/>
          <p:nvPr/>
        </p:nvGraphicFramePr>
        <p:xfrm>
          <a:off x="10656400" y="1940050"/>
          <a:ext cx="3000000" cy="3000000"/>
        </p:xfrm>
        <a:graphic>
          <a:graphicData uri="http://schemas.openxmlformats.org/drawingml/2006/table">
            <a:tbl>
              <a:tblPr>
                <a:noFill/>
                <a:tableStyleId>{049B1BC1-E120-491D-BEA9-9A65665ABFF5}</a:tableStyleId>
              </a:tblPr>
              <a:tblGrid>
                <a:gridCol w="3030175"/>
                <a:gridCol w="4335825"/>
              </a:tblGrid>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Viernes, 20-</a:t>
                      </a:r>
                      <a:r>
                        <a:rPr lang="en-US" sz="2840">
                          <a:latin typeface="Arimo"/>
                          <a:ea typeface="Arimo"/>
                          <a:cs typeface="Arimo"/>
                          <a:sym typeface="Arimo"/>
                        </a:rPr>
                        <a:t>03</a:t>
                      </a:r>
                      <a:r>
                        <a:rPr lang="en-US" sz="2840" u="none" cap="none" strike="noStrike">
                          <a:solidFill>
                            <a:srgbClr val="000000"/>
                          </a:solidFill>
                          <a:latin typeface="Arimo"/>
                          <a:ea typeface="Arimo"/>
                          <a:cs typeface="Arimo"/>
                          <a:sym typeface="Arimo"/>
                        </a:rPr>
                        <a:t>-</a:t>
                      </a:r>
                      <a:r>
                        <a:rPr lang="en-US" sz="2840">
                          <a:latin typeface="Arimo"/>
                          <a:ea typeface="Arimo"/>
                          <a:cs typeface="Arimo"/>
                          <a:sym typeface="Arimo"/>
                        </a:rPr>
                        <a:t>2026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19:00</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4" name="Google Shape;94;p1"/>
          <p:cNvSpPr txBox="1"/>
          <p:nvPr/>
        </p:nvSpPr>
        <p:spPr>
          <a:xfrm>
            <a:off x="3864138" y="4529138"/>
            <a:ext cx="9513300" cy="9234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999">
                <a:solidFill>
                  <a:srgbClr val="000000"/>
                </a:solidFill>
                <a:latin typeface="Arial"/>
                <a:ea typeface="Arial"/>
                <a:cs typeface="Arial"/>
                <a:sym typeface="Arial"/>
              </a:rPr>
              <a:t>Inteligencia Artificial 1 [</a:t>
            </a:r>
            <a:r>
              <a:rPr b="1" lang="en-US" sz="5999"/>
              <a:t>B</a:t>
            </a:r>
            <a:r>
              <a:rPr b="1" lang="en-US" sz="5999">
                <a:solidFill>
                  <a:srgbClr val="000000"/>
                </a:solidFill>
                <a:latin typeface="Arial"/>
                <a:ea typeface="Arial"/>
                <a:cs typeface="Arial"/>
                <a:sym typeface="Arial"/>
              </a:rPr>
              <a:t>]</a:t>
            </a:r>
            <a:endParaRPr/>
          </a:p>
        </p:txBody>
      </p:sp>
      <p:sp>
        <p:nvSpPr>
          <p:cNvPr id="95" name="Google Shape;95;p1"/>
          <p:cNvSpPr txBox="1"/>
          <p:nvPr/>
        </p:nvSpPr>
        <p:spPr>
          <a:xfrm>
            <a:off x="5117822" y="5845975"/>
            <a:ext cx="91308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US" sz="4999"/>
              <a:t>Alberto Kanec Ixchop Ordoñez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4" r="-22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1028700" y="952267"/>
            <a:ext cx="16230600" cy="8382465"/>
            <a:chOff x="0" y="0"/>
            <a:chExt cx="6045684" cy="3122357"/>
          </a:xfrm>
        </p:grpSpPr>
        <p:sp>
          <p:nvSpPr>
            <p:cNvPr id="102" name="Google Shape;102;p2"/>
            <p:cNvSpPr/>
            <p:nvPr/>
          </p:nvSpPr>
          <p:spPr>
            <a:xfrm>
              <a:off x="0" y="0"/>
              <a:ext cx="6045684" cy="3122357"/>
            </a:xfrm>
            <a:custGeom>
              <a:rect b="b" l="l" r="r" t="t"/>
              <a:pathLst>
                <a:path extrusionOk="0" h="3122357" w="6045684">
                  <a:moveTo>
                    <a:pt x="0" y="0"/>
                  </a:moveTo>
                  <a:lnTo>
                    <a:pt x="6045684" y="0"/>
                  </a:lnTo>
                  <a:lnTo>
                    <a:pt x="6045684" y="3122357"/>
                  </a:lnTo>
                  <a:lnTo>
                    <a:pt x="0" y="3122357"/>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0"/>
              <a:ext cx="6045684" cy="312235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 name="Google Shape;104;p2"/>
          <p:cNvGrpSpPr/>
          <p:nvPr/>
        </p:nvGrpSpPr>
        <p:grpSpPr>
          <a:xfrm>
            <a:off x="12374539" y="8812325"/>
            <a:ext cx="4284389" cy="1748082"/>
            <a:chOff x="0" y="-47625"/>
            <a:chExt cx="1128399" cy="460400"/>
          </a:xfrm>
        </p:grpSpPr>
        <p:sp>
          <p:nvSpPr>
            <p:cNvPr id="105" name="Google Shape;105;p2"/>
            <p:cNvSpPr/>
            <p:nvPr/>
          </p:nvSpPr>
          <p:spPr>
            <a:xfrm>
              <a:off x="0" y="0"/>
              <a:ext cx="1128399" cy="412775"/>
            </a:xfrm>
            <a:custGeom>
              <a:rect b="b" l="l" r="r" t="t"/>
              <a:pathLst>
                <a:path extrusionOk="0" h="412775" w="1128399">
                  <a:moveTo>
                    <a:pt x="0" y="0"/>
                  </a:moveTo>
                  <a:lnTo>
                    <a:pt x="1128399" y="0"/>
                  </a:lnTo>
                  <a:lnTo>
                    <a:pt x="1128399"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0" y="-47625"/>
              <a:ext cx="1128399"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7" name="Google Shape;107;p2"/>
          <p:cNvGrpSpPr/>
          <p:nvPr/>
        </p:nvGrpSpPr>
        <p:grpSpPr>
          <a:xfrm rot="5400000">
            <a:off x="14103077" y="3146822"/>
            <a:ext cx="6983416" cy="1748082"/>
            <a:chOff x="0" y="-47625"/>
            <a:chExt cx="1839254" cy="460400"/>
          </a:xfrm>
        </p:grpSpPr>
        <p:sp>
          <p:nvSpPr>
            <p:cNvPr id="108" name="Google Shape;108;p2"/>
            <p:cNvSpPr/>
            <p:nvPr/>
          </p:nvSpPr>
          <p:spPr>
            <a:xfrm>
              <a:off x="0" y="0"/>
              <a:ext cx="1839254" cy="412775"/>
            </a:xfrm>
            <a:custGeom>
              <a:rect b="b" l="l" r="r" t="t"/>
              <a:pathLst>
                <a:path extrusionOk="0" h="412775" w="1839254">
                  <a:moveTo>
                    <a:pt x="0" y="0"/>
                  </a:moveTo>
                  <a:lnTo>
                    <a:pt x="1839254" y="0"/>
                  </a:lnTo>
                  <a:lnTo>
                    <a:pt x="183925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txBox="1"/>
            <p:nvPr/>
          </p:nvSpPr>
          <p:spPr>
            <a:xfrm>
              <a:off x="0" y="-47625"/>
              <a:ext cx="183925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 name="Google Shape;110;p2"/>
          <p:cNvSpPr/>
          <p:nvPr/>
        </p:nvSpPr>
        <p:spPr>
          <a:xfrm rot="-5400000">
            <a:off x="10540746" y="-52264"/>
            <a:ext cx="11547949" cy="9406329"/>
          </a:xfrm>
          <a:custGeom>
            <a:rect b="b" l="l" r="r" t="t"/>
            <a:pathLst>
              <a:path extrusionOk="0" h="9406329" w="11547949">
                <a:moveTo>
                  <a:pt x="11547949" y="9406329"/>
                </a:moveTo>
                <a:lnTo>
                  <a:pt x="0" y="9406329"/>
                </a:lnTo>
                <a:lnTo>
                  <a:pt x="0" y="0"/>
                </a:lnTo>
                <a:lnTo>
                  <a:pt x="11547949" y="0"/>
                </a:lnTo>
                <a:lnTo>
                  <a:pt x="11547949" y="9406329"/>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2118001" y="6620396"/>
            <a:ext cx="9224100" cy="2000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Escuela de </a:t>
            </a:r>
            <a:r>
              <a:rPr b="1" lang="en-US" sz="2499">
                <a:solidFill>
                  <a:srgbClr val="050A30"/>
                </a:solidFill>
              </a:rPr>
              <a:t>Ingeniería</a:t>
            </a:r>
            <a:r>
              <a:rPr b="1" lang="en-US" sz="2499">
                <a:solidFill>
                  <a:srgbClr val="050A30"/>
                </a:solidFill>
                <a:latin typeface="Arial"/>
                <a:ea typeface="Arial"/>
                <a:cs typeface="Arial"/>
                <a:sym typeface="Arial"/>
              </a:rPr>
              <a:t> de Ciencias Y Sistemas</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Facultad de </a:t>
            </a:r>
            <a:r>
              <a:rPr b="1" lang="en-US" sz="2499">
                <a:solidFill>
                  <a:srgbClr val="050A30"/>
                </a:solidFill>
              </a:rPr>
              <a:t>Ingeniería</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Universidad de San Carlos de Guatemala</a:t>
            </a:r>
            <a:endParaRPr/>
          </a:p>
          <a:p>
            <a:pPr indent="0" lvl="0" marL="0" marR="0" rtl="0" algn="l">
              <a:lnSpc>
                <a:spcPct val="140016"/>
              </a:lnSpc>
              <a:spcBef>
                <a:spcPts val="0"/>
              </a:spcBef>
              <a:spcAft>
                <a:spcPts val="0"/>
              </a:spcAft>
              <a:buNone/>
            </a:pPr>
            <a:r>
              <a:t/>
            </a:r>
            <a:endParaRPr b="1" sz="2499">
              <a:solidFill>
                <a:srgbClr val="050A30"/>
              </a:solidFill>
              <a:latin typeface="Arial"/>
              <a:ea typeface="Arial"/>
              <a:cs typeface="Arial"/>
              <a:sym typeface="Arial"/>
            </a:endParaRPr>
          </a:p>
        </p:txBody>
      </p:sp>
      <p:sp>
        <p:nvSpPr>
          <p:cNvPr id="112" name="Google Shape;112;p2"/>
          <p:cNvSpPr txBox="1"/>
          <p:nvPr/>
        </p:nvSpPr>
        <p:spPr>
          <a:xfrm>
            <a:off x="2118001" y="3415707"/>
            <a:ext cx="11119114" cy="121031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8000">
                <a:solidFill>
                  <a:srgbClr val="050A30"/>
                </a:solidFill>
                <a:latin typeface="Arial"/>
                <a:ea typeface="Arial"/>
                <a:cs typeface="Arial"/>
                <a:sym typeface="Arial"/>
              </a:rPr>
              <a:t>Clase 7</a:t>
            </a:r>
            <a:endParaRPr/>
          </a:p>
        </p:txBody>
      </p:sp>
      <p:sp>
        <p:nvSpPr>
          <p:cNvPr id="113" name="Google Shape;113;p2"/>
          <p:cNvSpPr txBox="1"/>
          <p:nvPr/>
        </p:nvSpPr>
        <p:spPr>
          <a:xfrm>
            <a:off x="2184676" y="2365657"/>
            <a:ext cx="11052439" cy="83566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5500">
                <a:solidFill>
                  <a:srgbClr val="050A30"/>
                </a:solidFill>
                <a:latin typeface="Arial"/>
                <a:ea typeface="Arial"/>
                <a:cs typeface="Arial"/>
                <a:sym typeface="Arial"/>
              </a:rPr>
              <a:t>INTELIGENCIA ARTIFICIAL 1</a:t>
            </a:r>
            <a:endParaRPr/>
          </a:p>
        </p:txBody>
      </p:sp>
      <p:sp>
        <p:nvSpPr>
          <p:cNvPr id="114" name="Google Shape;114;p2"/>
          <p:cNvSpPr txBox="1"/>
          <p:nvPr/>
        </p:nvSpPr>
        <p:spPr>
          <a:xfrm>
            <a:off x="2118001" y="857436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cxnSp>
        <p:nvCxnSpPr>
          <p:cNvPr id="115" name="Google Shape;115;p2"/>
          <p:cNvCxnSpPr/>
          <p:nvPr/>
        </p:nvCxnSpPr>
        <p:spPr>
          <a:xfrm flipH="1" rot="10800000">
            <a:off x="13553005" y="935761"/>
            <a:ext cx="5036482" cy="5036482"/>
          </a:xfrm>
          <a:prstGeom prst="straightConnector1">
            <a:avLst/>
          </a:prstGeom>
          <a:noFill/>
          <a:ln cap="flat" cmpd="sng" w="114300">
            <a:solidFill>
              <a:srgbClr val="050A30"/>
            </a:solidFill>
            <a:prstDash val="solid"/>
            <a:round/>
            <a:headEnd len="sm" w="sm" type="none"/>
            <a:tailEnd len="sm" w="sm" type="none"/>
          </a:ln>
        </p:spPr>
      </p:cxnSp>
      <p:cxnSp>
        <p:nvCxnSpPr>
          <p:cNvPr id="116" name="Google Shape;116;p2"/>
          <p:cNvCxnSpPr/>
          <p:nvPr/>
        </p:nvCxnSpPr>
        <p:spPr>
          <a:xfrm flipH="1" rot="10800000">
            <a:off x="14602740" y="4540846"/>
            <a:ext cx="1216428" cy="1216428"/>
          </a:xfrm>
          <a:prstGeom prst="straightConnector1">
            <a:avLst/>
          </a:prstGeom>
          <a:noFill/>
          <a:ln cap="flat" cmpd="sng" w="114300">
            <a:solidFill>
              <a:srgbClr val="050A30"/>
            </a:solidFill>
            <a:prstDash val="solid"/>
            <a:round/>
            <a:headEnd len="sm" w="sm" type="none"/>
            <a:tailEnd len="sm" w="sm" type="none"/>
          </a:ln>
        </p:spPr>
      </p:cxnSp>
      <p:cxnSp>
        <p:nvCxnSpPr>
          <p:cNvPr id="117" name="Google Shape;117;p2"/>
          <p:cNvCxnSpPr/>
          <p:nvPr/>
        </p:nvCxnSpPr>
        <p:spPr>
          <a:xfrm flipH="1" rot="10800000">
            <a:off x="12944791" y="7512571"/>
            <a:ext cx="2942644" cy="2942644"/>
          </a:xfrm>
          <a:prstGeom prst="straightConnector1">
            <a:avLst/>
          </a:prstGeom>
          <a:noFill/>
          <a:ln cap="flat" cmpd="sng" w="114300">
            <a:solidFill>
              <a:srgbClr val="050A30"/>
            </a:solidFill>
            <a:prstDash val="solid"/>
            <a:round/>
            <a:headEnd len="sm" w="sm" type="none"/>
            <a:tailEnd len="sm" w="sm" type="none"/>
          </a:ln>
        </p:spPr>
      </p:cxnSp>
      <p:cxnSp>
        <p:nvCxnSpPr>
          <p:cNvPr id="118" name="Google Shape;118;p2"/>
          <p:cNvCxnSpPr/>
          <p:nvPr/>
        </p:nvCxnSpPr>
        <p:spPr>
          <a:xfrm flipH="1" rot="10800000">
            <a:off x="11473469" y="9776779"/>
            <a:ext cx="2942644" cy="2942644"/>
          </a:xfrm>
          <a:prstGeom prst="straightConnector1">
            <a:avLst/>
          </a:prstGeom>
          <a:noFill/>
          <a:ln cap="flat" cmpd="sng" w="114300">
            <a:solidFill>
              <a:srgbClr val="050A30"/>
            </a:solidFill>
            <a:prstDash val="solid"/>
            <a:round/>
            <a:headEnd len="sm" w="sm" type="none"/>
            <a:tailEnd len="sm" w="sm" type="none"/>
          </a:ln>
        </p:spPr>
      </p:cxnSp>
      <p:sp>
        <p:nvSpPr>
          <p:cNvPr id="119" name="Google Shape;119;p2"/>
          <p:cNvSpPr txBox="1"/>
          <p:nvPr/>
        </p:nvSpPr>
        <p:spPr>
          <a:xfrm>
            <a:off x="2118001" y="4721267"/>
            <a:ext cx="7842829" cy="1038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050A30"/>
                </a:solidFill>
                <a:latin typeface="Arial"/>
                <a:ea typeface="Arial"/>
                <a:cs typeface="Arial"/>
                <a:sym typeface="Arial"/>
              </a:rPr>
              <a:t>Realidad Aumentada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5" name="Google Shape;125;p3"/>
          <p:cNvGrpSpPr/>
          <p:nvPr/>
        </p:nvGrpSpPr>
        <p:grpSpPr>
          <a:xfrm>
            <a:off x="1362575" y="1028700"/>
            <a:ext cx="15562849" cy="8179961"/>
            <a:chOff x="0" y="0"/>
            <a:chExt cx="5796956" cy="3046927"/>
          </a:xfrm>
        </p:grpSpPr>
        <p:sp>
          <p:nvSpPr>
            <p:cNvPr id="126" name="Google Shape;126;p3"/>
            <p:cNvSpPr/>
            <p:nvPr/>
          </p:nvSpPr>
          <p:spPr>
            <a:xfrm>
              <a:off x="0" y="0"/>
              <a:ext cx="5796955" cy="3046927"/>
            </a:xfrm>
            <a:custGeom>
              <a:rect b="b" l="l" r="r" t="t"/>
              <a:pathLst>
                <a:path extrusionOk="0" h="3046927" w="5796955">
                  <a:moveTo>
                    <a:pt x="0" y="0"/>
                  </a:moveTo>
                  <a:lnTo>
                    <a:pt x="5796955" y="0"/>
                  </a:lnTo>
                  <a:lnTo>
                    <a:pt x="5796955" y="3046927"/>
                  </a:lnTo>
                  <a:lnTo>
                    <a:pt x="0" y="3046927"/>
                  </a:lnTo>
                  <a:close/>
                </a:path>
              </a:pathLst>
            </a:custGeom>
            <a:solidFill>
              <a:srgbClr val="000000">
                <a:alpha val="0"/>
              </a:srgbClr>
            </a:solidFill>
            <a:ln cap="sq" cmpd="sng" w="66675">
              <a:solidFill>
                <a:srgbClr val="570F6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0" y="0"/>
              <a:ext cx="5796956" cy="304692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 name="Google Shape;128;p3"/>
          <p:cNvGrpSpPr/>
          <p:nvPr/>
        </p:nvGrpSpPr>
        <p:grpSpPr>
          <a:xfrm rot="2700000">
            <a:off x="121003" y="7895899"/>
            <a:ext cx="3393988" cy="1748082"/>
            <a:chOff x="0" y="-47625"/>
            <a:chExt cx="893890" cy="460400"/>
          </a:xfrm>
        </p:grpSpPr>
        <p:sp>
          <p:nvSpPr>
            <p:cNvPr id="129" name="Google Shape;129;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 name="Google Shape;131;p3"/>
          <p:cNvGrpSpPr/>
          <p:nvPr/>
        </p:nvGrpSpPr>
        <p:grpSpPr>
          <a:xfrm rot="2700000">
            <a:off x="14900874" y="396084"/>
            <a:ext cx="3393988" cy="1748082"/>
            <a:chOff x="0" y="-47625"/>
            <a:chExt cx="893890" cy="460400"/>
          </a:xfrm>
        </p:grpSpPr>
        <p:sp>
          <p:nvSpPr>
            <p:cNvPr id="132" name="Google Shape;132;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3"/>
          <p:cNvSpPr/>
          <p:nvPr/>
        </p:nvSpPr>
        <p:spPr>
          <a:xfrm>
            <a:off x="-515035" y="5489862"/>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rot="10800000">
            <a:off x="13871465" y="-189523"/>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txBox="1"/>
          <p:nvPr/>
        </p:nvSpPr>
        <p:spPr>
          <a:xfrm>
            <a:off x="10299400" y="3078599"/>
            <a:ext cx="6464100" cy="571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Link del Video</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Actividad</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UEDI</a:t>
            </a:r>
            <a:endParaRPr/>
          </a:p>
        </p:txBody>
      </p:sp>
      <p:sp>
        <p:nvSpPr>
          <p:cNvPr id="137" name="Google Shape;137;p3"/>
          <p:cNvSpPr txBox="1"/>
          <p:nvPr/>
        </p:nvSpPr>
        <p:spPr>
          <a:xfrm>
            <a:off x="1889083"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Agenda</a:t>
            </a:r>
            <a:endParaRPr/>
          </a:p>
        </p:txBody>
      </p:sp>
      <p:sp>
        <p:nvSpPr>
          <p:cNvPr id="138" name="Google Shape;138;p3"/>
          <p:cNvSpPr txBox="1"/>
          <p:nvPr/>
        </p:nvSpPr>
        <p:spPr>
          <a:xfrm>
            <a:off x="2034003" y="3078596"/>
            <a:ext cx="6464400" cy="4417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Recordatorios</a:t>
            </a:r>
            <a:endParaRPr b="1" sz="3500">
              <a:solidFill>
                <a:srgbClr val="F4F6FC"/>
              </a:solidFill>
              <a:latin typeface="Arial"/>
              <a:ea typeface="Arial"/>
              <a:cs typeface="Arial"/>
              <a:sym typeface="Arial"/>
            </a:endParaRPr>
          </a:p>
          <a:p>
            <a:pPr indent="-450850" lvl="0" marL="457200" marR="0" rtl="0" algn="l">
              <a:lnSpc>
                <a:spcPct val="120000"/>
              </a:lnSpc>
              <a:spcBef>
                <a:spcPts val="0"/>
              </a:spcBef>
              <a:spcAft>
                <a:spcPts val="0"/>
              </a:spcAft>
              <a:buClr>
                <a:srgbClr val="F4F6FC"/>
              </a:buClr>
              <a:buSzPts val="3500"/>
              <a:buChar char="-"/>
            </a:pPr>
            <a:r>
              <a:rPr b="1" lang="en-US" sz="3500">
                <a:solidFill>
                  <a:srgbClr val="F4F6FC"/>
                </a:solidFill>
              </a:rPr>
              <a:t>Calificación Proyecto 1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Temas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Diseño de Aplicaciones de Realidad Aumentada</a:t>
            </a:r>
            <a:endParaRPr b="0" i="0" sz="3500" u="none" cap="none" strike="noStrike">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Char char="•"/>
            </a:pPr>
            <a:r>
              <a:rPr lang="en-US" sz="3500">
                <a:solidFill>
                  <a:srgbClr val="F4F6FC"/>
                </a:solidFill>
              </a:rPr>
              <a:t>Tarea #3</a:t>
            </a:r>
            <a:endParaRPr sz="3500">
              <a:solidFill>
                <a:srgbClr val="F4F6FC"/>
              </a:solidFill>
            </a:endParaRPr>
          </a:p>
        </p:txBody>
      </p:sp>
      <p:sp>
        <p:nvSpPr>
          <p:cNvPr id="139" name="Google Shape;139;p3"/>
          <p:cNvSpPr txBox="1"/>
          <p:nvPr/>
        </p:nvSpPr>
        <p:spPr>
          <a:xfrm>
            <a:off x="9926599" y="1511100"/>
            <a:ext cx="5553900" cy="115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Recursos</a:t>
            </a:r>
            <a:endParaRPr/>
          </a:p>
        </p:txBody>
      </p:sp>
      <p:pic>
        <p:nvPicPr>
          <p:cNvPr descr="Código QR&#10;&#10;El contenido generado por IA puede ser incorrecto." id="140" name="Google Shape;140;p3"/>
          <p:cNvPicPr preferRelativeResize="0"/>
          <p:nvPr/>
        </p:nvPicPr>
        <p:blipFill rotWithShape="1">
          <a:blip r:embed="rId5">
            <a:alphaModFix/>
          </a:blip>
          <a:srcRect b="0" l="0" r="0" t="0"/>
          <a:stretch/>
        </p:blipFill>
        <p:spPr>
          <a:xfrm>
            <a:off x="12474251" y="4001746"/>
            <a:ext cx="2114550" cy="2114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6" name="Google Shape;146;p4"/>
          <p:cNvGrpSpPr/>
          <p:nvPr/>
        </p:nvGrpSpPr>
        <p:grpSpPr>
          <a:xfrm rot="-5400000">
            <a:off x="6095749" y="2420783"/>
            <a:ext cx="6818207" cy="21127995"/>
            <a:chOff x="0" y="-47625"/>
            <a:chExt cx="1795742" cy="5564575"/>
          </a:xfrm>
        </p:grpSpPr>
        <p:sp>
          <p:nvSpPr>
            <p:cNvPr id="147" name="Google Shape;147;p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9" name="Google Shape;149;p4"/>
          <p:cNvGrpSpPr/>
          <p:nvPr/>
        </p:nvGrpSpPr>
        <p:grpSpPr>
          <a:xfrm rot="-5400000">
            <a:off x="3906656" y="-11095415"/>
            <a:ext cx="2045233" cy="21127995"/>
            <a:chOff x="0" y="-47625"/>
            <a:chExt cx="538662" cy="5564575"/>
          </a:xfrm>
        </p:grpSpPr>
        <p:sp>
          <p:nvSpPr>
            <p:cNvPr id="150" name="Google Shape;150;p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2" name="Google Shape;152;p4"/>
          <p:cNvGrpSpPr/>
          <p:nvPr/>
        </p:nvGrpSpPr>
        <p:grpSpPr>
          <a:xfrm rot="2700000">
            <a:off x="13798263" y="-60632"/>
            <a:ext cx="4685776" cy="1748082"/>
            <a:chOff x="0" y="-47625"/>
            <a:chExt cx="1234114" cy="460400"/>
          </a:xfrm>
        </p:grpSpPr>
        <p:sp>
          <p:nvSpPr>
            <p:cNvPr id="153" name="Google Shape;153;p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7AC3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5" name="Google Shape;155;p4"/>
          <p:cNvSpPr txBox="1"/>
          <p:nvPr/>
        </p:nvSpPr>
        <p:spPr>
          <a:xfrm>
            <a:off x="1374900" y="1409234"/>
            <a:ext cx="13991100" cy="19992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None/>
            </a:pPr>
            <a:r>
              <a:rPr b="1" lang="en-US" sz="6098">
                <a:solidFill>
                  <a:srgbClr val="050A30"/>
                </a:solidFill>
                <a:latin typeface="Arial"/>
                <a:ea typeface="Arial"/>
                <a:cs typeface="Arial"/>
                <a:sym typeface="Arial"/>
              </a:rPr>
              <a:t>COMPETENCIA(S) Que desarrollaremos</a:t>
            </a:r>
            <a:endParaRPr/>
          </a:p>
        </p:txBody>
      </p:sp>
      <p:sp>
        <p:nvSpPr>
          <p:cNvPr id="156" name="Google Shape;156;p4"/>
          <p:cNvSpPr txBox="1"/>
          <p:nvPr/>
        </p:nvSpPr>
        <p:spPr>
          <a:xfrm>
            <a:off x="2557550" y="3698875"/>
            <a:ext cx="12569700" cy="406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000">
                <a:solidFill>
                  <a:srgbClr val="050A30"/>
                </a:solidFill>
                <a:latin typeface="Arial"/>
                <a:ea typeface="Arial"/>
                <a:cs typeface="Arial"/>
                <a:sym typeface="Arial"/>
              </a:rPr>
              <a:t>Crea aplicaciones de realidad aumentada con contenido digital interactivo mediante el uso de bibliotecas y técnicas de diseño de experiencias para integrar información virtual en el mundo real de forma efectiva y funcional.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62" name="Google Shape;162;p5"/>
          <p:cNvGrpSpPr/>
          <p:nvPr/>
        </p:nvGrpSpPr>
        <p:grpSpPr>
          <a:xfrm rot="-5400000">
            <a:off x="6095749" y="2420783"/>
            <a:ext cx="6818207" cy="21127995"/>
            <a:chOff x="0" y="-47625"/>
            <a:chExt cx="1795742" cy="5564575"/>
          </a:xfrm>
        </p:grpSpPr>
        <p:sp>
          <p:nvSpPr>
            <p:cNvPr id="163" name="Google Shape;163;p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5" name="Google Shape;165;p5"/>
          <p:cNvGrpSpPr/>
          <p:nvPr/>
        </p:nvGrpSpPr>
        <p:grpSpPr>
          <a:xfrm rot="-5400000">
            <a:off x="3906656" y="-11095415"/>
            <a:ext cx="2045233" cy="21127995"/>
            <a:chOff x="0" y="-47625"/>
            <a:chExt cx="538662" cy="5564575"/>
          </a:xfrm>
        </p:grpSpPr>
        <p:sp>
          <p:nvSpPr>
            <p:cNvPr id="166" name="Google Shape;166;p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8" name="Google Shape;168;p5"/>
          <p:cNvGrpSpPr/>
          <p:nvPr/>
        </p:nvGrpSpPr>
        <p:grpSpPr>
          <a:xfrm rot="2700000">
            <a:off x="13798263" y="-60632"/>
            <a:ext cx="4685776" cy="1748082"/>
            <a:chOff x="0" y="-47625"/>
            <a:chExt cx="1234114" cy="460400"/>
          </a:xfrm>
        </p:grpSpPr>
        <p:sp>
          <p:nvSpPr>
            <p:cNvPr id="169" name="Google Shape;169;p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1" name="Google Shape;171;p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5"/>
          <p:cNvSpPr txBox="1"/>
          <p:nvPr/>
        </p:nvSpPr>
        <p:spPr>
          <a:xfrm>
            <a:off x="2433094" y="491209"/>
            <a:ext cx="13421700" cy="2697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965">
                <a:solidFill>
                  <a:srgbClr val="050A30"/>
                </a:solidFill>
                <a:latin typeface="Arial"/>
                <a:ea typeface="Arial"/>
                <a:cs typeface="Arial"/>
                <a:sym typeface="Arial"/>
              </a:rPr>
              <a:t>Diseño de aplicaciones con Realidad Aumentada</a:t>
            </a:r>
            <a:endParaRPr sz="900"/>
          </a:p>
        </p:txBody>
      </p:sp>
      <p:grpSp>
        <p:nvGrpSpPr>
          <p:cNvPr id="173" name="Google Shape;173;p5"/>
          <p:cNvGrpSpPr/>
          <p:nvPr/>
        </p:nvGrpSpPr>
        <p:grpSpPr>
          <a:xfrm>
            <a:off x="807488" y="3754019"/>
            <a:ext cx="7529013" cy="4684217"/>
            <a:chOff x="890625" y="3889007"/>
            <a:chExt cx="7529013" cy="4684217"/>
          </a:xfrm>
        </p:grpSpPr>
        <p:grpSp>
          <p:nvGrpSpPr>
            <p:cNvPr id="174" name="Google Shape;174;p5"/>
            <p:cNvGrpSpPr/>
            <p:nvPr/>
          </p:nvGrpSpPr>
          <p:grpSpPr>
            <a:xfrm>
              <a:off x="890625" y="3889007"/>
              <a:ext cx="7529013" cy="4684217"/>
              <a:chOff x="0" y="-47625"/>
              <a:chExt cx="1982937" cy="1233695"/>
            </a:xfrm>
          </p:grpSpPr>
          <p:sp>
            <p:nvSpPr>
              <p:cNvPr id="175" name="Google Shape;175;p5"/>
              <p:cNvSpPr/>
              <p:nvPr/>
            </p:nvSpPr>
            <p:spPr>
              <a:xfrm>
                <a:off x="0" y="0"/>
                <a:ext cx="1982937" cy="1186070"/>
              </a:xfrm>
              <a:custGeom>
                <a:rect b="b" l="l" r="r" t="t"/>
                <a:pathLst>
                  <a:path extrusionOk="0"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5"/>
              <p:cNvSpPr txBox="1"/>
              <p:nvPr/>
            </p:nvSpPr>
            <p:spPr>
              <a:xfrm>
                <a:off x="0" y="-47625"/>
                <a:ext cx="1982937" cy="123369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5"/>
            <p:cNvSpPr txBox="1"/>
            <p:nvPr/>
          </p:nvSpPr>
          <p:spPr>
            <a:xfrm>
              <a:off x="1086225" y="4229875"/>
              <a:ext cx="7056000" cy="36933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FFFFF"/>
                  </a:solidFill>
                  <a:latin typeface="Arial"/>
                  <a:ea typeface="Arial"/>
                  <a:cs typeface="Arial"/>
                  <a:sym typeface="Arial"/>
                </a:rPr>
                <a:t>El diseño de aplicaciones con realidad aumentada (RA) es un campo emocionante y en expansión que combina el mundo digital con el mundo físico, proporcionando una experiencia inmersiva e interactiva para los usuarios.</a:t>
              </a:r>
              <a:endParaRPr/>
            </a:p>
          </p:txBody>
        </p:sp>
      </p:grpSp>
      <p:grpSp>
        <p:nvGrpSpPr>
          <p:cNvPr id="178" name="Google Shape;178;p5"/>
          <p:cNvGrpSpPr/>
          <p:nvPr/>
        </p:nvGrpSpPr>
        <p:grpSpPr>
          <a:xfrm>
            <a:off x="9576441" y="3754032"/>
            <a:ext cx="7529013" cy="4684217"/>
            <a:chOff x="0" y="-47625"/>
            <a:chExt cx="1982937" cy="1233695"/>
          </a:xfrm>
        </p:grpSpPr>
        <p:sp>
          <p:nvSpPr>
            <p:cNvPr id="179" name="Google Shape;179;p5"/>
            <p:cNvSpPr/>
            <p:nvPr/>
          </p:nvSpPr>
          <p:spPr>
            <a:xfrm>
              <a:off x="0" y="0"/>
              <a:ext cx="1982937" cy="1186070"/>
            </a:xfrm>
            <a:custGeom>
              <a:rect b="b" l="l" r="r" t="t"/>
              <a:pathLst>
                <a:path extrusionOk="0"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5"/>
            <p:cNvSpPr txBox="1"/>
            <p:nvPr/>
          </p:nvSpPr>
          <p:spPr>
            <a:xfrm>
              <a:off x="0" y="-47625"/>
              <a:ext cx="1982937" cy="123369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1" name="Google Shape;181;p5"/>
          <p:cNvSpPr txBox="1"/>
          <p:nvPr/>
        </p:nvSpPr>
        <p:spPr>
          <a:xfrm>
            <a:off x="9812925" y="4051725"/>
            <a:ext cx="7056000" cy="43395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FFFFF"/>
                </a:solidFill>
                <a:latin typeface="Arial"/>
                <a:ea typeface="Arial"/>
                <a:cs typeface="Arial"/>
                <a:sym typeface="Arial"/>
              </a:rPr>
              <a:t>Al diseñar aplicaciones de RA, se deben tomar en cuenta diversos aspectos para crear una experiencia fluida y útil que aproveche al máximo las capacidades tecnológicas disponibles, pero también asegure que la interfaz y la interacción sean intuitivas y agradables.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7" name="Google Shape;187;p6"/>
          <p:cNvGrpSpPr/>
          <p:nvPr/>
        </p:nvGrpSpPr>
        <p:grpSpPr>
          <a:xfrm rot="-5400000">
            <a:off x="6095749" y="2420783"/>
            <a:ext cx="6818207" cy="21127995"/>
            <a:chOff x="0" y="-47625"/>
            <a:chExt cx="1795742" cy="5564575"/>
          </a:xfrm>
        </p:grpSpPr>
        <p:sp>
          <p:nvSpPr>
            <p:cNvPr id="188" name="Google Shape;188;p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0" name="Google Shape;190;p6"/>
          <p:cNvGrpSpPr/>
          <p:nvPr/>
        </p:nvGrpSpPr>
        <p:grpSpPr>
          <a:xfrm rot="-5400000">
            <a:off x="3906656" y="-11095415"/>
            <a:ext cx="2045233" cy="21127995"/>
            <a:chOff x="0" y="-47625"/>
            <a:chExt cx="538662" cy="5564575"/>
          </a:xfrm>
        </p:grpSpPr>
        <p:sp>
          <p:nvSpPr>
            <p:cNvPr id="191" name="Google Shape;191;p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3" name="Google Shape;193;p6"/>
          <p:cNvGrpSpPr/>
          <p:nvPr/>
        </p:nvGrpSpPr>
        <p:grpSpPr>
          <a:xfrm rot="2700000">
            <a:off x="13798263" y="-60632"/>
            <a:ext cx="4685776" cy="1748082"/>
            <a:chOff x="0" y="-47625"/>
            <a:chExt cx="1234114" cy="460400"/>
          </a:xfrm>
        </p:grpSpPr>
        <p:sp>
          <p:nvSpPr>
            <p:cNvPr id="194" name="Google Shape;194;p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6" name="Google Shape;196;p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6"/>
          <p:cNvSpPr txBox="1"/>
          <p:nvPr/>
        </p:nvSpPr>
        <p:spPr>
          <a:xfrm>
            <a:off x="2674381" y="1270079"/>
            <a:ext cx="12247200" cy="70296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None/>
            </a:pPr>
            <a:r>
              <a:rPr b="1" lang="en-US" sz="9928">
                <a:solidFill>
                  <a:srgbClr val="F4F6FC"/>
                </a:solidFill>
                <a:latin typeface="Arial"/>
                <a:ea typeface="Arial"/>
                <a:cs typeface="Arial"/>
                <a:sym typeface="Arial"/>
              </a:rPr>
              <a:t>Aspectos clave en el diseño de Realidad Aumentada</a:t>
            </a:r>
            <a:endParaRPr/>
          </a:p>
        </p:txBody>
      </p:sp>
      <p:sp>
        <p:nvSpPr>
          <p:cNvPr id="198" name="Google Shape;198;p6"/>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4" name="Google Shape;204;p7"/>
          <p:cNvGrpSpPr/>
          <p:nvPr/>
        </p:nvGrpSpPr>
        <p:grpSpPr>
          <a:xfrm rot="-5400000">
            <a:off x="6095749" y="2420783"/>
            <a:ext cx="6818207" cy="21127995"/>
            <a:chOff x="0" y="-47625"/>
            <a:chExt cx="1795742" cy="5564575"/>
          </a:xfrm>
        </p:grpSpPr>
        <p:sp>
          <p:nvSpPr>
            <p:cNvPr id="205" name="Google Shape;205;p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7" name="Google Shape;207;p7"/>
          <p:cNvGrpSpPr/>
          <p:nvPr/>
        </p:nvGrpSpPr>
        <p:grpSpPr>
          <a:xfrm rot="-5400000">
            <a:off x="3906656" y="-11095415"/>
            <a:ext cx="2045233" cy="21127995"/>
            <a:chOff x="0" y="-47625"/>
            <a:chExt cx="538662" cy="5564575"/>
          </a:xfrm>
        </p:grpSpPr>
        <p:sp>
          <p:nvSpPr>
            <p:cNvPr id="208" name="Google Shape;208;p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0" name="Google Shape;210;p7"/>
          <p:cNvGrpSpPr/>
          <p:nvPr/>
        </p:nvGrpSpPr>
        <p:grpSpPr>
          <a:xfrm rot="2700000">
            <a:off x="13798263" y="-60632"/>
            <a:ext cx="4685776" cy="1748082"/>
            <a:chOff x="0" y="-47625"/>
            <a:chExt cx="1234114" cy="460400"/>
          </a:xfrm>
        </p:grpSpPr>
        <p:sp>
          <p:nvSpPr>
            <p:cNvPr id="211" name="Google Shape;211;p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3" name="Google Shape;213;p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7"/>
          <p:cNvSpPr txBox="1"/>
          <p:nvPr/>
        </p:nvSpPr>
        <p:spPr>
          <a:xfrm>
            <a:off x="2554434" y="1449130"/>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Interacción del usuario con el entorno físico</a:t>
            </a:r>
            <a:endParaRPr/>
          </a:p>
        </p:txBody>
      </p:sp>
      <p:sp>
        <p:nvSpPr>
          <p:cNvPr id="215" name="Google Shape;215;p7"/>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16" name="Google Shape;216;p7"/>
          <p:cNvSpPr txBox="1"/>
          <p:nvPr/>
        </p:nvSpPr>
        <p:spPr>
          <a:xfrm>
            <a:off x="1691038" y="4820472"/>
            <a:ext cx="14905924" cy="26574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A diferencia de las aplicaciones tradicionales, las aplicaciones de RA deben considerar cómo los usuarios interactúan con su entorno físico y cómo la tecnología digital se superpone sobre ese entorno. Es fundamental que el diseño facilite la interacción entre el usuario y el entorno de manera natural y fluida.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2" name="Google Shape;222;p8"/>
          <p:cNvGrpSpPr/>
          <p:nvPr/>
        </p:nvGrpSpPr>
        <p:grpSpPr>
          <a:xfrm rot="-5400000">
            <a:off x="6095749" y="2420783"/>
            <a:ext cx="6818207" cy="21127995"/>
            <a:chOff x="0" y="-47625"/>
            <a:chExt cx="1795742" cy="5564575"/>
          </a:xfrm>
        </p:grpSpPr>
        <p:sp>
          <p:nvSpPr>
            <p:cNvPr id="223" name="Google Shape;223;p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5" name="Google Shape;225;p8"/>
          <p:cNvGrpSpPr/>
          <p:nvPr/>
        </p:nvGrpSpPr>
        <p:grpSpPr>
          <a:xfrm rot="-5400000">
            <a:off x="3906656" y="-11095415"/>
            <a:ext cx="2045233" cy="21127995"/>
            <a:chOff x="0" y="-47625"/>
            <a:chExt cx="538662" cy="5564575"/>
          </a:xfrm>
        </p:grpSpPr>
        <p:sp>
          <p:nvSpPr>
            <p:cNvPr id="226" name="Google Shape;226;p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8" name="Google Shape;228;p8"/>
          <p:cNvGrpSpPr/>
          <p:nvPr/>
        </p:nvGrpSpPr>
        <p:grpSpPr>
          <a:xfrm rot="2700000">
            <a:off x="13798263" y="-60632"/>
            <a:ext cx="4685776" cy="1748082"/>
            <a:chOff x="0" y="-47625"/>
            <a:chExt cx="1234114" cy="460400"/>
          </a:xfrm>
        </p:grpSpPr>
        <p:sp>
          <p:nvSpPr>
            <p:cNvPr id="229" name="Google Shape;229;p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1" name="Google Shape;231;p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8"/>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33" name="Google Shape;233;p8"/>
          <p:cNvSpPr txBox="1"/>
          <p:nvPr/>
        </p:nvSpPr>
        <p:spPr>
          <a:xfrm>
            <a:off x="2554434" y="1449130"/>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Interacción del usuario con el entorno físico</a:t>
            </a:r>
            <a:endParaRPr/>
          </a:p>
        </p:txBody>
      </p:sp>
      <p:grpSp>
        <p:nvGrpSpPr>
          <p:cNvPr id="234" name="Google Shape;234;p8"/>
          <p:cNvGrpSpPr/>
          <p:nvPr/>
        </p:nvGrpSpPr>
        <p:grpSpPr>
          <a:xfrm>
            <a:off x="7757617" y="3835316"/>
            <a:ext cx="3675297" cy="4320540"/>
            <a:chOff x="0" y="-76200"/>
            <a:chExt cx="756234" cy="889000"/>
          </a:xfrm>
        </p:grpSpPr>
        <p:sp>
          <p:nvSpPr>
            <p:cNvPr id="235" name="Google Shape;235;p8"/>
            <p:cNvSpPr/>
            <p:nvPr/>
          </p:nvSpPr>
          <p:spPr>
            <a:xfrm>
              <a:off x="0" y="0"/>
              <a:ext cx="756234" cy="812800"/>
            </a:xfrm>
            <a:custGeom>
              <a:rect b="b" l="l" r="r" t="t"/>
              <a:pathLst>
                <a:path extrusionOk="0" h="812800" w="756234">
                  <a:moveTo>
                    <a:pt x="756234" y="0"/>
                  </a:moveTo>
                  <a:lnTo>
                    <a:pt x="756234" y="698500"/>
                  </a:lnTo>
                  <a:lnTo>
                    <a:pt x="378117" y="812800"/>
                  </a:lnTo>
                  <a:lnTo>
                    <a:pt x="0" y="698500"/>
                  </a:lnTo>
                  <a:lnTo>
                    <a:pt x="0" y="0"/>
                  </a:lnTo>
                  <a:lnTo>
                    <a:pt x="756234"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8"/>
            <p:cNvSpPr txBox="1"/>
            <p:nvPr/>
          </p:nvSpPr>
          <p:spPr>
            <a:xfrm>
              <a:off x="0" y="-76200"/>
              <a:ext cx="756234"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699">
                  <a:solidFill>
                    <a:srgbClr val="000000"/>
                  </a:solidFill>
                  <a:latin typeface="Arial"/>
                  <a:ea typeface="Arial"/>
                  <a:cs typeface="Arial"/>
                  <a:sym typeface="Arial"/>
                </a:rPr>
                <a:t>Toques y Deslizamiento</a:t>
              </a:r>
              <a:endParaRPr/>
            </a:p>
          </p:txBody>
        </p:sp>
      </p:grpSp>
      <p:grpSp>
        <p:nvGrpSpPr>
          <p:cNvPr id="237" name="Google Shape;237;p8"/>
          <p:cNvGrpSpPr/>
          <p:nvPr/>
        </p:nvGrpSpPr>
        <p:grpSpPr>
          <a:xfrm>
            <a:off x="2428391" y="3835316"/>
            <a:ext cx="3595676" cy="4320540"/>
            <a:chOff x="0" y="-76200"/>
            <a:chExt cx="739851" cy="889000"/>
          </a:xfrm>
        </p:grpSpPr>
        <p:sp>
          <p:nvSpPr>
            <p:cNvPr id="238" name="Google Shape;238;p8"/>
            <p:cNvSpPr/>
            <p:nvPr/>
          </p:nvSpPr>
          <p:spPr>
            <a:xfrm>
              <a:off x="0" y="0"/>
              <a:ext cx="739851" cy="812800"/>
            </a:xfrm>
            <a:custGeom>
              <a:rect b="b" l="l" r="r" t="t"/>
              <a:pathLst>
                <a:path extrusionOk="0" h="812800" w="739851">
                  <a:moveTo>
                    <a:pt x="739851" y="0"/>
                  </a:moveTo>
                  <a:lnTo>
                    <a:pt x="739851" y="698500"/>
                  </a:lnTo>
                  <a:lnTo>
                    <a:pt x="369926" y="812800"/>
                  </a:lnTo>
                  <a:lnTo>
                    <a:pt x="0" y="698500"/>
                  </a:lnTo>
                  <a:lnTo>
                    <a:pt x="0" y="0"/>
                  </a:lnTo>
                  <a:lnTo>
                    <a:pt x="739851"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8"/>
            <p:cNvSpPr txBox="1"/>
            <p:nvPr/>
          </p:nvSpPr>
          <p:spPr>
            <a:xfrm>
              <a:off x="0" y="-76200"/>
              <a:ext cx="73985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Gestos</a:t>
              </a:r>
              <a:endParaRPr/>
            </a:p>
          </p:txBody>
        </p:sp>
      </p:grpSp>
      <p:grpSp>
        <p:nvGrpSpPr>
          <p:cNvPr id="240" name="Google Shape;240;p8"/>
          <p:cNvGrpSpPr/>
          <p:nvPr/>
        </p:nvGrpSpPr>
        <p:grpSpPr>
          <a:xfrm>
            <a:off x="13166464" y="3835316"/>
            <a:ext cx="3595676" cy="4320540"/>
            <a:chOff x="0" y="-76200"/>
            <a:chExt cx="739851" cy="889000"/>
          </a:xfrm>
        </p:grpSpPr>
        <p:sp>
          <p:nvSpPr>
            <p:cNvPr id="241" name="Google Shape;241;p8"/>
            <p:cNvSpPr/>
            <p:nvPr/>
          </p:nvSpPr>
          <p:spPr>
            <a:xfrm>
              <a:off x="0" y="0"/>
              <a:ext cx="739851" cy="812800"/>
            </a:xfrm>
            <a:custGeom>
              <a:rect b="b" l="l" r="r" t="t"/>
              <a:pathLst>
                <a:path extrusionOk="0" h="812800" w="739851">
                  <a:moveTo>
                    <a:pt x="739851" y="0"/>
                  </a:moveTo>
                  <a:lnTo>
                    <a:pt x="739851" y="698500"/>
                  </a:lnTo>
                  <a:lnTo>
                    <a:pt x="369926" y="812800"/>
                  </a:lnTo>
                  <a:lnTo>
                    <a:pt x="0" y="698500"/>
                  </a:lnTo>
                  <a:lnTo>
                    <a:pt x="0" y="0"/>
                  </a:lnTo>
                  <a:lnTo>
                    <a:pt x="739851"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txBox="1"/>
            <p:nvPr/>
          </p:nvSpPr>
          <p:spPr>
            <a:xfrm>
              <a:off x="0" y="-76200"/>
              <a:ext cx="73985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Voz y Control por Movimiento</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9"/>
          <p:cNvSpPr/>
          <p:nvPr/>
        </p:nvSpPr>
        <p:spPr>
          <a:xfrm>
            <a:off x="69050" y="-102870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8" name="Google Shape;248;p9"/>
          <p:cNvGrpSpPr/>
          <p:nvPr/>
        </p:nvGrpSpPr>
        <p:grpSpPr>
          <a:xfrm rot="-5400000">
            <a:off x="6095749" y="2420783"/>
            <a:ext cx="6818207" cy="21127995"/>
            <a:chOff x="0" y="-47625"/>
            <a:chExt cx="1795742" cy="5564575"/>
          </a:xfrm>
        </p:grpSpPr>
        <p:sp>
          <p:nvSpPr>
            <p:cNvPr id="249" name="Google Shape;249;p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1" name="Google Shape;251;p9"/>
          <p:cNvGrpSpPr/>
          <p:nvPr/>
        </p:nvGrpSpPr>
        <p:grpSpPr>
          <a:xfrm rot="-5400000">
            <a:off x="3906656" y="-11095415"/>
            <a:ext cx="2045233" cy="21127995"/>
            <a:chOff x="0" y="-47625"/>
            <a:chExt cx="538662" cy="5564575"/>
          </a:xfrm>
        </p:grpSpPr>
        <p:sp>
          <p:nvSpPr>
            <p:cNvPr id="252" name="Google Shape;252;p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4" name="Google Shape;254;p9"/>
          <p:cNvGrpSpPr/>
          <p:nvPr/>
        </p:nvGrpSpPr>
        <p:grpSpPr>
          <a:xfrm rot="2700000">
            <a:off x="13798263" y="-60632"/>
            <a:ext cx="4685776" cy="1748082"/>
            <a:chOff x="0" y="-47625"/>
            <a:chExt cx="1234114" cy="460400"/>
          </a:xfrm>
        </p:grpSpPr>
        <p:sp>
          <p:nvSpPr>
            <p:cNvPr id="255" name="Google Shape;255;p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 name="Google Shape;257;p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9"/>
          <p:cNvSpPr txBox="1"/>
          <p:nvPr/>
        </p:nvSpPr>
        <p:spPr>
          <a:xfrm>
            <a:off x="2554434" y="1849679"/>
            <a:ext cx="13179000" cy="24405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Diseño de la Interfaz de Usuario</a:t>
            </a:r>
            <a:endParaRPr/>
          </a:p>
        </p:txBody>
      </p:sp>
      <p:sp>
        <p:nvSpPr>
          <p:cNvPr id="259" name="Google Shape;259;p9"/>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60" name="Google Shape;260;p9"/>
          <p:cNvSpPr txBox="1"/>
          <p:nvPr/>
        </p:nvSpPr>
        <p:spPr>
          <a:xfrm>
            <a:off x="1691050" y="4820475"/>
            <a:ext cx="14905800" cy="2401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Aunque la RA se trata principalmente de integrar elementos digitales con el entorno físico, la interfaz de usuario (UI) sigue siendo esencial. El diseño de la UI debe garantizar que la información digital se muestre de manera clara, no intrusiva y fácil de interactuar.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6" name="Google Shape;266;p10"/>
          <p:cNvGrpSpPr/>
          <p:nvPr/>
        </p:nvGrpSpPr>
        <p:grpSpPr>
          <a:xfrm rot="-5400000">
            <a:off x="6095749" y="2420783"/>
            <a:ext cx="6818207" cy="21127995"/>
            <a:chOff x="0" y="-47625"/>
            <a:chExt cx="1795742" cy="5564575"/>
          </a:xfrm>
        </p:grpSpPr>
        <p:sp>
          <p:nvSpPr>
            <p:cNvPr id="267" name="Google Shape;267;p1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9" name="Google Shape;269;p10"/>
          <p:cNvGrpSpPr/>
          <p:nvPr/>
        </p:nvGrpSpPr>
        <p:grpSpPr>
          <a:xfrm rot="-5400000">
            <a:off x="3906656" y="-11095415"/>
            <a:ext cx="2045233" cy="21127995"/>
            <a:chOff x="0" y="-47625"/>
            <a:chExt cx="538662" cy="5564575"/>
          </a:xfrm>
        </p:grpSpPr>
        <p:sp>
          <p:nvSpPr>
            <p:cNvPr id="270" name="Google Shape;270;p1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2" name="Google Shape;272;p10"/>
          <p:cNvGrpSpPr/>
          <p:nvPr/>
        </p:nvGrpSpPr>
        <p:grpSpPr>
          <a:xfrm rot="2700000">
            <a:off x="13798263" y="-60632"/>
            <a:ext cx="4685776" cy="1748082"/>
            <a:chOff x="0" y="-47625"/>
            <a:chExt cx="1234114" cy="460400"/>
          </a:xfrm>
        </p:grpSpPr>
        <p:sp>
          <p:nvSpPr>
            <p:cNvPr id="273" name="Google Shape;273;p1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5" name="Google Shape;275;p1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0"/>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77" name="Google Shape;277;p10"/>
          <p:cNvSpPr txBox="1"/>
          <p:nvPr/>
        </p:nvSpPr>
        <p:spPr>
          <a:xfrm>
            <a:off x="2428400" y="1555179"/>
            <a:ext cx="13179300" cy="24405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Diseño de la Interfaz de Usuario</a:t>
            </a:r>
            <a:endParaRPr/>
          </a:p>
        </p:txBody>
      </p:sp>
      <p:grpSp>
        <p:nvGrpSpPr>
          <p:cNvPr id="278" name="Google Shape;278;p10"/>
          <p:cNvGrpSpPr/>
          <p:nvPr/>
        </p:nvGrpSpPr>
        <p:grpSpPr>
          <a:xfrm>
            <a:off x="7757617" y="4205648"/>
            <a:ext cx="3675297" cy="4276709"/>
            <a:chOff x="0" y="0"/>
            <a:chExt cx="698500" cy="812800"/>
          </a:xfrm>
        </p:grpSpPr>
        <p:sp>
          <p:nvSpPr>
            <p:cNvPr id="279" name="Google Shape;279;p10"/>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0"/>
            <p:cNvSpPr txBox="1"/>
            <p:nvPr/>
          </p:nvSpPr>
          <p:spPr>
            <a:xfrm>
              <a:off x="0" y="63500"/>
              <a:ext cx="698500" cy="609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Botones y Controles</a:t>
              </a:r>
              <a:endParaRPr/>
            </a:p>
          </p:txBody>
        </p:sp>
      </p:grpSp>
      <p:grpSp>
        <p:nvGrpSpPr>
          <p:cNvPr id="281" name="Google Shape;281;p10"/>
          <p:cNvGrpSpPr/>
          <p:nvPr/>
        </p:nvGrpSpPr>
        <p:grpSpPr>
          <a:xfrm>
            <a:off x="2428391" y="4205648"/>
            <a:ext cx="3595676" cy="4184059"/>
            <a:chOff x="0" y="0"/>
            <a:chExt cx="698500" cy="812800"/>
          </a:xfrm>
        </p:grpSpPr>
        <p:sp>
          <p:nvSpPr>
            <p:cNvPr id="282" name="Google Shape;282;p10"/>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0"/>
            <p:cNvSpPr txBox="1"/>
            <p:nvPr/>
          </p:nvSpPr>
          <p:spPr>
            <a:xfrm>
              <a:off x="0" y="63500"/>
              <a:ext cx="698500" cy="609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Simplicidad</a:t>
              </a:r>
              <a:endParaRPr/>
            </a:p>
          </p:txBody>
        </p:sp>
      </p:grpSp>
      <p:grpSp>
        <p:nvGrpSpPr>
          <p:cNvPr id="284" name="Google Shape;284;p10"/>
          <p:cNvGrpSpPr/>
          <p:nvPr/>
        </p:nvGrpSpPr>
        <p:grpSpPr>
          <a:xfrm>
            <a:off x="13166464" y="4205648"/>
            <a:ext cx="3595676" cy="4596506"/>
            <a:chOff x="0" y="0"/>
            <a:chExt cx="698500" cy="892922"/>
          </a:xfrm>
        </p:grpSpPr>
        <p:sp>
          <p:nvSpPr>
            <p:cNvPr id="285" name="Google Shape;285;p10"/>
            <p:cNvSpPr/>
            <p:nvPr/>
          </p:nvSpPr>
          <p:spPr>
            <a:xfrm>
              <a:off x="0" y="0"/>
              <a:ext cx="698500" cy="892922"/>
            </a:xfrm>
            <a:custGeom>
              <a:rect b="b" l="l" r="r" t="t"/>
              <a:pathLst>
                <a:path extrusionOk="0" h="892922" w="698500">
                  <a:moveTo>
                    <a:pt x="349250" y="0"/>
                  </a:moveTo>
                  <a:lnTo>
                    <a:pt x="698500" y="203200"/>
                  </a:lnTo>
                  <a:lnTo>
                    <a:pt x="698500" y="689722"/>
                  </a:lnTo>
                  <a:lnTo>
                    <a:pt x="349250" y="892922"/>
                  </a:lnTo>
                  <a:lnTo>
                    <a:pt x="0" y="689722"/>
                  </a:lnTo>
                  <a:lnTo>
                    <a:pt x="0" y="203200"/>
                  </a:lnTo>
                  <a:lnTo>
                    <a:pt x="349250"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0"/>
            <p:cNvSpPr txBox="1"/>
            <p:nvPr/>
          </p:nvSpPr>
          <p:spPr>
            <a:xfrm>
              <a:off x="2" y="102594"/>
              <a:ext cx="698400" cy="650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599">
                  <a:solidFill>
                    <a:srgbClr val="000000"/>
                  </a:solidFill>
                  <a:latin typeface="Arial"/>
                  <a:ea typeface="Arial"/>
                  <a:cs typeface="Arial"/>
                  <a:sym typeface="Arial"/>
                </a:rPr>
                <a:t>Buen Manejo de Dimensiones de Pantalla</a:t>
              </a:r>
              <a:endParaRPr sz="1000"/>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2" name="Google Shape;292;p11"/>
          <p:cNvGrpSpPr/>
          <p:nvPr/>
        </p:nvGrpSpPr>
        <p:grpSpPr>
          <a:xfrm rot="-5400000">
            <a:off x="6095749" y="2420783"/>
            <a:ext cx="6818207" cy="21127995"/>
            <a:chOff x="0" y="-47625"/>
            <a:chExt cx="1795742" cy="5564575"/>
          </a:xfrm>
        </p:grpSpPr>
        <p:sp>
          <p:nvSpPr>
            <p:cNvPr id="293" name="Google Shape;293;p1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5" name="Google Shape;295;p11"/>
          <p:cNvGrpSpPr/>
          <p:nvPr/>
        </p:nvGrpSpPr>
        <p:grpSpPr>
          <a:xfrm rot="-5400000">
            <a:off x="3906656" y="-11095415"/>
            <a:ext cx="2045233" cy="21127995"/>
            <a:chOff x="0" y="-47625"/>
            <a:chExt cx="538662" cy="5564575"/>
          </a:xfrm>
        </p:grpSpPr>
        <p:sp>
          <p:nvSpPr>
            <p:cNvPr id="296" name="Google Shape;296;p1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8" name="Google Shape;298;p11"/>
          <p:cNvGrpSpPr/>
          <p:nvPr/>
        </p:nvGrpSpPr>
        <p:grpSpPr>
          <a:xfrm rot="2700000">
            <a:off x="13798263" y="-60632"/>
            <a:ext cx="4685776" cy="1748082"/>
            <a:chOff x="0" y="-47625"/>
            <a:chExt cx="1234114" cy="460400"/>
          </a:xfrm>
        </p:grpSpPr>
        <p:sp>
          <p:nvSpPr>
            <p:cNvPr id="299" name="Google Shape;299;p1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1" name="Google Shape;301;p11"/>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txBox="1"/>
          <p:nvPr/>
        </p:nvSpPr>
        <p:spPr>
          <a:xfrm>
            <a:off x="2554434" y="1983221"/>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Ubicación y anclaje de objetos 3D</a:t>
            </a:r>
            <a:endParaRPr/>
          </a:p>
        </p:txBody>
      </p:sp>
      <p:sp>
        <p:nvSpPr>
          <p:cNvPr id="303" name="Google Shape;303;p11"/>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04" name="Google Shape;304;p11"/>
          <p:cNvSpPr txBox="1"/>
          <p:nvPr/>
        </p:nvSpPr>
        <p:spPr>
          <a:xfrm>
            <a:off x="1691038" y="4820472"/>
            <a:ext cx="14905924" cy="21240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Uno de los mayores desafíos del diseño de RA es cómo integrar los objetos 3D en el entorno físico de una manera realista y funcional. Los objetos digitales deben ubicarse correctamente en el mundo real de modo que parezcan formar parte de él.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0" name="Google Shape;310;p12"/>
          <p:cNvGrpSpPr/>
          <p:nvPr/>
        </p:nvGrpSpPr>
        <p:grpSpPr>
          <a:xfrm rot="-5400000">
            <a:off x="6095749" y="2420783"/>
            <a:ext cx="6818207" cy="21127995"/>
            <a:chOff x="0" y="-47625"/>
            <a:chExt cx="1795742" cy="5564575"/>
          </a:xfrm>
        </p:grpSpPr>
        <p:sp>
          <p:nvSpPr>
            <p:cNvPr id="311" name="Google Shape;311;p1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3" name="Google Shape;313;p12"/>
          <p:cNvGrpSpPr/>
          <p:nvPr/>
        </p:nvGrpSpPr>
        <p:grpSpPr>
          <a:xfrm rot="-5400000">
            <a:off x="3906656" y="-11095415"/>
            <a:ext cx="2045233" cy="21127995"/>
            <a:chOff x="0" y="-47625"/>
            <a:chExt cx="538662" cy="5564575"/>
          </a:xfrm>
        </p:grpSpPr>
        <p:sp>
          <p:nvSpPr>
            <p:cNvPr id="314" name="Google Shape;314;p1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6" name="Google Shape;316;p12"/>
          <p:cNvGrpSpPr/>
          <p:nvPr/>
        </p:nvGrpSpPr>
        <p:grpSpPr>
          <a:xfrm rot="2700000">
            <a:off x="13798263" y="-60632"/>
            <a:ext cx="4685776" cy="1748082"/>
            <a:chOff x="0" y="-47625"/>
            <a:chExt cx="1234114" cy="460400"/>
          </a:xfrm>
        </p:grpSpPr>
        <p:sp>
          <p:nvSpPr>
            <p:cNvPr id="317" name="Google Shape;317;p1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9" name="Google Shape;319;p12"/>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21" name="Google Shape;321;p12"/>
          <p:cNvSpPr txBox="1"/>
          <p:nvPr/>
        </p:nvSpPr>
        <p:spPr>
          <a:xfrm>
            <a:off x="2554434" y="1452923"/>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Ubicación y anclaje de objetos 3D</a:t>
            </a:r>
            <a:endParaRPr/>
          </a:p>
        </p:txBody>
      </p:sp>
      <p:grpSp>
        <p:nvGrpSpPr>
          <p:cNvPr id="322" name="Google Shape;322;p12"/>
          <p:cNvGrpSpPr/>
          <p:nvPr/>
        </p:nvGrpSpPr>
        <p:grpSpPr>
          <a:xfrm>
            <a:off x="7757617" y="3825445"/>
            <a:ext cx="3675297" cy="4435703"/>
            <a:chOff x="0" y="-76200"/>
            <a:chExt cx="736600" cy="889000"/>
          </a:xfrm>
        </p:grpSpPr>
        <p:sp>
          <p:nvSpPr>
            <p:cNvPr id="323" name="Google Shape;323;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Escala Realista</a:t>
              </a:r>
              <a:endParaRPr/>
            </a:p>
          </p:txBody>
        </p:sp>
      </p:grpSp>
      <p:grpSp>
        <p:nvGrpSpPr>
          <p:cNvPr id="325" name="Google Shape;325;p12"/>
          <p:cNvGrpSpPr/>
          <p:nvPr/>
        </p:nvGrpSpPr>
        <p:grpSpPr>
          <a:xfrm>
            <a:off x="2428391" y="3833682"/>
            <a:ext cx="3595676" cy="4339608"/>
            <a:chOff x="0" y="-76200"/>
            <a:chExt cx="736600" cy="889000"/>
          </a:xfrm>
        </p:grpSpPr>
        <p:sp>
          <p:nvSpPr>
            <p:cNvPr id="326" name="Google Shape;326;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Detección de Superficies</a:t>
              </a:r>
              <a:endParaRPr/>
            </a:p>
          </p:txBody>
        </p:sp>
      </p:grpSp>
      <p:grpSp>
        <p:nvGrpSpPr>
          <p:cNvPr id="328" name="Google Shape;328;p12"/>
          <p:cNvGrpSpPr/>
          <p:nvPr/>
        </p:nvGrpSpPr>
        <p:grpSpPr>
          <a:xfrm>
            <a:off x="13166464" y="3833682"/>
            <a:ext cx="3595676" cy="4339608"/>
            <a:chOff x="0" y="-76200"/>
            <a:chExt cx="736600" cy="889000"/>
          </a:xfrm>
        </p:grpSpPr>
        <p:sp>
          <p:nvSpPr>
            <p:cNvPr id="329" name="Google Shape;329;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Sombra y Reflejos</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6" name="Google Shape;336;p13"/>
          <p:cNvGrpSpPr/>
          <p:nvPr/>
        </p:nvGrpSpPr>
        <p:grpSpPr>
          <a:xfrm rot="-5400000">
            <a:off x="6095749" y="2420783"/>
            <a:ext cx="6818207" cy="21127995"/>
            <a:chOff x="0" y="-47625"/>
            <a:chExt cx="1795742" cy="5564575"/>
          </a:xfrm>
        </p:grpSpPr>
        <p:sp>
          <p:nvSpPr>
            <p:cNvPr id="337" name="Google Shape;337;p1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9" name="Google Shape;339;p13"/>
          <p:cNvGrpSpPr/>
          <p:nvPr/>
        </p:nvGrpSpPr>
        <p:grpSpPr>
          <a:xfrm rot="-5400000">
            <a:off x="3906656" y="-11095415"/>
            <a:ext cx="2045233" cy="21127995"/>
            <a:chOff x="0" y="-47625"/>
            <a:chExt cx="538662" cy="5564575"/>
          </a:xfrm>
        </p:grpSpPr>
        <p:sp>
          <p:nvSpPr>
            <p:cNvPr id="340" name="Google Shape;340;p1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2" name="Google Shape;342;p13"/>
          <p:cNvGrpSpPr/>
          <p:nvPr/>
        </p:nvGrpSpPr>
        <p:grpSpPr>
          <a:xfrm rot="2700000">
            <a:off x="13798263" y="-60632"/>
            <a:ext cx="4685776" cy="1748082"/>
            <a:chOff x="0" y="-47625"/>
            <a:chExt cx="1234114" cy="460400"/>
          </a:xfrm>
        </p:grpSpPr>
        <p:sp>
          <p:nvSpPr>
            <p:cNvPr id="343" name="Google Shape;343;p1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p13"/>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13"/>
          <p:cNvSpPr txBox="1"/>
          <p:nvPr/>
        </p:nvSpPr>
        <p:spPr>
          <a:xfrm>
            <a:off x="2554434" y="1983221"/>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Optimización para dispositivos móviles</a:t>
            </a:r>
            <a:endParaRPr/>
          </a:p>
        </p:txBody>
      </p:sp>
      <p:sp>
        <p:nvSpPr>
          <p:cNvPr id="347" name="Google Shape;347;p13"/>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48" name="Google Shape;348;p13"/>
          <p:cNvSpPr txBox="1"/>
          <p:nvPr/>
        </p:nvSpPr>
        <p:spPr>
          <a:xfrm>
            <a:off x="1691038" y="4820472"/>
            <a:ext cx="14905924" cy="26574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La mayoría de las aplicaciones de RA se ejecutan en dispositivos móviles (iPhone, Android), lo que significa que el rendimiento es un factor crucial. Las aplicaciones de RA deben estar optimizadas para garantizar un rendimiento fluido, especialmente dado que la RA implica procesamiento de gráficos 3D y seguimiento en tiempo real.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4" name="Google Shape;354;p14"/>
          <p:cNvGrpSpPr/>
          <p:nvPr/>
        </p:nvGrpSpPr>
        <p:grpSpPr>
          <a:xfrm rot="-5400000">
            <a:off x="6095749" y="2420783"/>
            <a:ext cx="6818207" cy="21127995"/>
            <a:chOff x="0" y="-47625"/>
            <a:chExt cx="1795742" cy="5564575"/>
          </a:xfrm>
        </p:grpSpPr>
        <p:sp>
          <p:nvSpPr>
            <p:cNvPr id="355" name="Google Shape;355;p1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7" name="Google Shape;357;p14"/>
          <p:cNvGrpSpPr/>
          <p:nvPr/>
        </p:nvGrpSpPr>
        <p:grpSpPr>
          <a:xfrm rot="-5400000">
            <a:off x="3906656" y="-11095415"/>
            <a:ext cx="2045233" cy="21127995"/>
            <a:chOff x="0" y="-47625"/>
            <a:chExt cx="538662" cy="5564575"/>
          </a:xfrm>
        </p:grpSpPr>
        <p:sp>
          <p:nvSpPr>
            <p:cNvPr id="358" name="Google Shape;358;p1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0" name="Google Shape;360;p14"/>
          <p:cNvGrpSpPr/>
          <p:nvPr/>
        </p:nvGrpSpPr>
        <p:grpSpPr>
          <a:xfrm rot="2700000">
            <a:off x="13798263" y="-60632"/>
            <a:ext cx="4685776" cy="1748082"/>
            <a:chOff x="0" y="-47625"/>
            <a:chExt cx="1234114" cy="460400"/>
          </a:xfrm>
        </p:grpSpPr>
        <p:sp>
          <p:nvSpPr>
            <p:cNvPr id="361" name="Google Shape;361;p1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3" name="Google Shape;363;p14"/>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4"/>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65" name="Google Shape;365;p14"/>
          <p:cNvSpPr txBox="1"/>
          <p:nvPr/>
        </p:nvSpPr>
        <p:spPr>
          <a:xfrm>
            <a:off x="2554434" y="1452923"/>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Ubicación y anclaje de objetos 3D</a:t>
            </a:r>
            <a:endParaRPr/>
          </a:p>
        </p:txBody>
      </p:sp>
      <p:grpSp>
        <p:nvGrpSpPr>
          <p:cNvPr id="366" name="Google Shape;366;p14"/>
          <p:cNvGrpSpPr/>
          <p:nvPr/>
        </p:nvGrpSpPr>
        <p:grpSpPr>
          <a:xfrm>
            <a:off x="3407042" y="3986736"/>
            <a:ext cx="4079280" cy="4072309"/>
            <a:chOff x="0" y="0"/>
            <a:chExt cx="883626" cy="882116"/>
          </a:xfrm>
        </p:grpSpPr>
        <p:sp>
          <p:nvSpPr>
            <p:cNvPr id="367" name="Google Shape;367;p14"/>
            <p:cNvSpPr/>
            <p:nvPr/>
          </p:nvSpPr>
          <p:spPr>
            <a:xfrm>
              <a:off x="0" y="0"/>
              <a:ext cx="883626" cy="882116"/>
            </a:xfrm>
            <a:custGeom>
              <a:rect b="b" l="l" r="r" t="t"/>
              <a:pathLst>
                <a:path extrusionOk="0" h="882116" w="883626">
                  <a:moveTo>
                    <a:pt x="441813" y="0"/>
                  </a:moveTo>
                  <a:cubicBezTo>
                    <a:pt x="197806" y="0"/>
                    <a:pt x="0" y="197468"/>
                    <a:pt x="0" y="441058"/>
                  </a:cubicBezTo>
                  <a:cubicBezTo>
                    <a:pt x="0" y="684648"/>
                    <a:pt x="197806" y="882116"/>
                    <a:pt x="441813" y="882116"/>
                  </a:cubicBezTo>
                  <a:cubicBezTo>
                    <a:pt x="685820" y="882116"/>
                    <a:pt x="883626" y="684648"/>
                    <a:pt x="883626" y="441058"/>
                  </a:cubicBezTo>
                  <a:cubicBezTo>
                    <a:pt x="883626" y="197468"/>
                    <a:pt x="685820" y="0"/>
                    <a:pt x="441813" y="0"/>
                  </a:cubicBez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4"/>
            <p:cNvSpPr txBox="1"/>
            <p:nvPr/>
          </p:nvSpPr>
          <p:spPr>
            <a:xfrm>
              <a:off x="82840" y="6498"/>
              <a:ext cx="717946" cy="79292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Uso eficiente de los Recursos</a:t>
              </a:r>
              <a:endParaRPr/>
            </a:p>
          </p:txBody>
        </p:sp>
      </p:grpSp>
      <p:grpSp>
        <p:nvGrpSpPr>
          <p:cNvPr id="369" name="Google Shape;369;p14"/>
          <p:cNvGrpSpPr/>
          <p:nvPr/>
        </p:nvGrpSpPr>
        <p:grpSpPr>
          <a:xfrm>
            <a:off x="10881106" y="3986736"/>
            <a:ext cx="4070740" cy="4072309"/>
            <a:chOff x="0" y="0"/>
            <a:chExt cx="858644" cy="858975"/>
          </a:xfrm>
        </p:grpSpPr>
        <p:sp>
          <p:nvSpPr>
            <p:cNvPr id="370" name="Google Shape;370;p14"/>
            <p:cNvSpPr/>
            <p:nvPr/>
          </p:nvSpPr>
          <p:spPr>
            <a:xfrm>
              <a:off x="0" y="0"/>
              <a:ext cx="858644" cy="858975"/>
            </a:xfrm>
            <a:custGeom>
              <a:rect b="b" l="l" r="r" t="t"/>
              <a:pathLst>
                <a:path extrusionOk="0" h="858975" w="858644">
                  <a:moveTo>
                    <a:pt x="429322" y="0"/>
                  </a:moveTo>
                  <a:cubicBezTo>
                    <a:pt x="192214" y="0"/>
                    <a:pt x="0" y="192288"/>
                    <a:pt x="0" y="429488"/>
                  </a:cubicBezTo>
                  <a:cubicBezTo>
                    <a:pt x="0" y="666687"/>
                    <a:pt x="192214" y="858975"/>
                    <a:pt x="429322" y="858975"/>
                  </a:cubicBezTo>
                  <a:cubicBezTo>
                    <a:pt x="666430" y="858975"/>
                    <a:pt x="858644" y="666687"/>
                    <a:pt x="858644" y="429488"/>
                  </a:cubicBezTo>
                  <a:cubicBezTo>
                    <a:pt x="858644" y="192288"/>
                    <a:pt x="666430" y="0"/>
                    <a:pt x="429322" y="0"/>
                  </a:cubicBez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4"/>
            <p:cNvSpPr txBox="1"/>
            <p:nvPr/>
          </p:nvSpPr>
          <p:spPr>
            <a:xfrm>
              <a:off x="80498" y="4329"/>
              <a:ext cx="697648" cy="774117"/>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Tamaño y Carga</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7" name="Google Shape;377;p15"/>
          <p:cNvGrpSpPr/>
          <p:nvPr/>
        </p:nvGrpSpPr>
        <p:grpSpPr>
          <a:xfrm rot="-5400000">
            <a:off x="6095749" y="2420783"/>
            <a:ext cx="6818207" cy="21127995"/>
            <a:chOff x="0" y="-47625"/>
            <a:chExt cx="1795742" cy="5564575"/>
          </a:xfrm>
        </p:grpSpPr>
        <p:sp>
          <p:nvSpPr>
            <p:cNvPr id="378" name="Google Shape;378;p1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0" name="Google Shape;380;p15"/>
          <p:cNvGrpSpPr/>
          <p:nvPr/>
        </p:nvGrpSpPr>
        <p:grpSpPr>
          <a:xfrm rot="-5400000">
            <a:off x="3906656" y="-11095415"/>
            <a:ext cx="2045233" cy="21127995"/>
            <a:chOff x="0" y="-47625"/>
            <a:chExt cx="538662" cy="5564575"/>
          </a:xfrm>
        </p:grpSpPr>
        <p:sp>
          <p:nvSpPr>
            <p:cNvPr id="381" name="Google Shape;381;p1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3" name="Google Shape;383;p15"/>
          <p:cNvGrpSpPr/>
          <p:nvPr/>
        </p:nvGrpSpPr>
        <p:grpSpPr>
          <a:xfrm rot="2700000">
            <a:off x="13798263" y="-60632"/>
            <a:ext cx="4685776" cy="1748082"/>
            <a:chOff x="0" y="-47625"/>
            <a:chExt cx="1234114" cy="460400"/>
          </a:xfrm>
        </p:grpSpPr>
        <p:sp>
          <p:nvSpPr>
            <p:cNvPr id="384" name="Google Shape;384;p1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6" name="Google Shape;386;p1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5"/>
          <p:cNvSpPr txBox="1"/>
          <p:nvPr/>
        </p:nvSpPr>
        <p:spPr>
          <a:xfrm>
            <a:off x="2554434" y="146314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Realismo y Efectos Visuales</a:t>
            </a:r>
            <a:endParaRPr/>
          </a:p>
        </p:txBody>
      </p:sp>
      <p:sp>
        <p:nvSpPr>
          <p:cNvPr id="388" name="Google Shape;388;p15"/>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89" name="Google Shape;389;p15"/>
          <p:cNvSpPr txBox="1"/>
          <p:nvPr/>
        </p:nvSpPr>
        <p:spPr>
          <a:xfrm>
            <a:off x="1691038" y="3021446"/>
            <a:ext cx="14905924" cy="1057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Crear una experiencia inmersiva significa trabajar en la calidad visual de los objetos y efectos en la escena.</a:t>
            </a:r>
            <a:endParaRPr/>
          </a:p>
        </p:txBody>
      </p:sp>
      <p:grpSp>
        <p:nvGrpSpPr>
          <p:cNvPr id="390" name="Google Shape;390;p15"/>
          <p:cNvGrpSpPr/>
          <p:nvPr/>
        </p:nvGrpSpPr>
        <p:grpSpPr>
          <a:xfrm>
            <a:off x="7005882" y="4762963"/>
            <a:ext cx="4296343" cy="2182208"/>
            <a:chOff x="0" y="-76200"/>
            <a:chExt cx="950146" cy="482600"/>
          </a:xfrm>
        </p:grpSpPr>
        <p:sp>
          <p:nvSpPr>
            <p:cNvPr id="391" name="Google Shape;391;p15"/>
            <p:cNvSpPr/>
            <p:nvPr/>
          </p:nvSpPr>
          <p:spPr>
            <a:xfrm>
              <a:off x="0" y="0"/>
              <a:ext cx="950146" cy="406400"/>
            </a:xfrm>
            <a:custGeom>
              <a:rect b="b" l="l" r="r" t="t"/>
              <a:pathLst>
                <a:path extrusionOk="0" h="406400" w="950146">
                  <a:moveTo>
                    <a:pt x="746946" y="0"/>
                  </a:moveTo>
                  <a:lnTo>
                    <a:pt x="0" y="0"/>
                  </a:lnTo>
                  <a:lnTo>
                    <a:pt x="0" y="406400"/>
                  </a:lnTo>
                  <a:lnTo>
                    <a:pt x="746946" y="406400"/>
                  </a:lnTo>
                  <a:lnTo>
                    <a:pt x="950146" y="203200"/>
                  </a:lnTo>
                  <a:lnTo>
                    <a:pt x="746946"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5"/>
            <p:cNvSpPr txBox="1"/>
            <p:nvPr/>
          </p:nvSpPr>
          <p:spPr>
            <a:xfrm>
              <a:off x="0" y="-76200"/>
              <a:ext cx="835846"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Efectos de Sonido</a:t>
              </a:r>
              <a:endParaRPr/>
            </a:p>
          </p:txBody>
        </p:sp>
      </p:grpSp>
      <p:grpSp>
        <p:nvGrpSpPr>
          <p:cNvPr id="393" name="Google Shape;393;p15"/>
          <p:cNvGrpSpPr/>
          <p:nvPr/>
        </p:nvGrpSpPr>
        <p:grpSpPr>
          <a:xfrm>
            <a:off x="1676657" y="4769127"/>
            <a:ext cx="4296343" cy="2134933"/>
            <a:chOff x="0" y="-76200"/>
            <a:chExt cx="971185" cy="482600"/>
          </a:xfrm>
        </p:grpSpPr>
        <p:sp>
          <p:nvSpPr>
            <p:cNvPr id="394" name="Google Shape;394;p15"/>
            <p:cNvSpPr/>
            <p:nvPr/>
          </p:nvSpPr>
          <p:spPr>
            <a:xfrm>
              <a:off x="0" y="0"/>
              <a:ext cx="971185" cy="406400"/>
            </a:xfrm>
            <a:custGeom>
              <a:rect b="b" l="l" r="r" t="t"/>
              <a:pathLst>
                <a:path extrusionOk="0" h="406400" w="971185">
                  <a:moveTo>
                    <a:pt x="767985" y="0"/>
                  </a:moveTo>
                  <a:lnTo>
                    <a:pt x="0" y="0"/>
                  </a:lnTo>
                  <a:lnTo>
                    <a:pt x="0" y="406400"/>
                  </a:lnTo>
                  <a:lnTo>
                    <a:pt x="767985" y="406400"/>
                  </a:lnTo>
                  <a:lnTo>
                    <a:pt x="971185" y="203200"/>
                  </a:lnTo>
                  <a:lnTo>
                    <a:pt x="767985"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5"/>
            <p:cNvSpPr txBox="1"/>
            <p:nvPr/>
          </p:nvSpPr>
          <p:spPr>
            <a:xfrm>
              <a:off x="0" y="-76200"/>
              <a:ext cx="856885"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Texturas y Detalles</a:t>
              </a:r>
              <a:endParaRPr/>
            </a:p>
          </p:txBody>
        </p:sp>
      </p:grpSp>
      <p:grpSp>
        <p:nvGrpSpPr>
          <p:cNvPr id="396" name="Google Shape;396;p15"/>
          <p:cNvGrpSpPr/>
          <p:nvPr/>
        </p:nvGrpSpPr>
        <p:grpSpPr>
          <a:xfrm>
            <a:off x="12330925" y="4810237"/>
            <a:ext cx="4280418" cy="2134933"/>
            <a:chOff x="0" y="-76200"/>
            <a:chExt cx="967586" cy="482600"/>
          </a:xfrm>
        </p:grpSpPr>
        <p:sp>
          <p:nvSpPr>
            <p:cNvPr id="397" name="Google Shape;397;p15"/>
            <p:cNvSpPr/>
            <p:nvPr/>
          </p:nvSpPr>
          <p:spPr>
            <a:xfrm>
              <a:off x="0" y="0"/>
              <a:ext cx="967586" cy="406400"/>
            </a:xfrm>
            <a:custGeom>
              <a:rect b="b" l="l" r="r" t="t"/>
              <a:pathLst>
                <a:path extrusionOk="0" h="406400" w="967586">
                  <a:moveTo>
                    <a:pt x="764386" y="0"/>
                  </a:moveTo>
                  <a:lnTo>
                    <a:pt x="0" y="0"/>
                  </a:lnTo>
                  <a:lnTo>
                    <a:pt x="0" y="406400"/>
                  </a:lnTo>
                  <a:lnTo>
                    <a:pt x="764386" y="406400"/>
                  </a:lnTo>
                  <a:lnTo>
                    <a:pt x="967586" y="203200"/>
                  </a:lnTo>
                  <a:lnTo>
                    <a:pt x="764386"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5"/>
            <p:cNvSpPr txBox="1"/>
            <p:nvPr/>
          </p:nvSpPr>
          <p:spPr>
            <a:xfrm>
              <a:off x="0" y="-76200"/>
              <a:ext cx="853286"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Iluminación Dinámica</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4" name="Google Shape;404;p16"/>
          <p:cNvGrpSpPr/>
          <p:nvPr/>
        </p:nvGrpSpPr>
        <p:grpSpPr>
          <a:xfrm rot="-5400000">
            <a:off x="6095749" y="2420783"/>
            <a:ext cx="6818207" cy="21127995"/>
            <a:chOff x="0" y="-47625"/>
            <a:chExt cx="1795742" cy="5564575"/>
          </a:xfrm>
        </p:grpSpPr>
        <p:sp>
          <p:nvSpPr>
            <p:cNvPr id="405" name="Google Shape;405;p1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7" name="Google Shape;407;p16"/>
          <p:cNvGrpSpPr/>
          <p:nvPr/>
        </p:nvGrpSpPr>
        <p:grpSpPr>
          <a:xfrm rot="-5400000">
            <a:off x="3906656" y="-11095415"/>
            <a:ext cx="2045233" cy="21127995"/>
            <a:chOff x="0" y="-47625"/>
            <a:chExt cx="538662" cy="5564575"/>
          </a:xfrm>
        </p:grpSpPr>
        <p:sp>
          <p:nvSpPr>
            <p:cNvPr id="408" name="Google Shape;408;p1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0" name="Google Shape;410;p16"/>
          <p:cNvGrpSpPr/>
          <p:nvPr/>
        </p:nvGrpSpPr>
        <p:grpSpPr>
          <a:xfrm rot="2700000">
            <a:off x="13798263" y="-60632"/>
            <a:ext cx="4685776" cy="1748082"/>
            <a:chOff x="0" y="-47625"/>
            <a:chExt cx="1234114" cy="460400"/>
          </a:xfrm>
        </p:grpSpPr>
        <p:sp>
          <p:nvSpPr>
            <p:cNvPr id="411" name="Google Shape;411;p1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3" name="Google Shape;413;p1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6"/>
          <p:cNvSpPr txBox="1"/>
          <p:nvPr/>
        </p:nvSpPr>
        <p:spPr>
          <a:xfrm>
            <a:off x="2554434" y="146314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4F6FC"/>
                </a:solidFill>
                <a:latin typeface="Arial"/>
                <a:ea typeface="Arial"/>
                <a:cs typeface="Arial"/>
                <a:sym typeface="Arial"/>
              </a:rPr>
              <a:t>Accesibilidad</a:t>
            </a:r>
            <a:endParaRPr/>
          </a:p>
        </p:txBody>
      </p:sp>
      <p:sp>
        <p:nvSpPr>
          <p:cNvPr id="415" name="Google Shape;415;p16"/>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416" name="Google Shape;416;p16"/>
          <p:cNvSpPr txBox="1"/>
          <p:nvPr/>
        </p:nvSpPr>
        <p:spPr>
          <a:xfrm>
            <a:off x="1691038" y="2925901"/>
            <a:ext cx="14905924" cy="1057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F4F6FC"/>
                </a:solidFill>
                <a:latin typeface="Arial"/>
                <a:ea typeface="Arial"/>
                <a:cs typeface="Arial"/>
                <a:sym typeface="Arial"/>
              </a:rPr>
              <a:t>Las aplicaciones de RA deben ser accesibles para un público amplio. Esto incluye usuarios con discapacidades o dificultades de interacción.</a:t>
            </a:r>
            <a:endParaRPr/>
          </a:p>
        </p:txBody>
      </p:sp>
      <p:grpSp>
        <p:nvGrpSpPr>
          <p:cNvPr id="417" name="Google Shape;417;p16"/>
          <p:cNvGrpSpPr/>
          <p:nvPr/>
        </p:nvGrpSpPr>
        <p:grpSpPr>
          <a:xfrm>
            <a:off x="6782943" y="4842713"/>
            <a:ext cx="4742221" cy="2450258"/>
            <a:chOff x="0" y="-57150"/>
            <a:chExt cx="897153" cy="463550"/>
          </a:xfrm>
        </p:grpSpPr>
        <p:sp>
          <p:nvSpPr>
            <p:cNvPr id="418" name="Google Shape;418;p16"/>
            <p:cNvSpPr/>
            <p:nvPr/>
          </p:nvSpPr>
          <p:spPr>
            <a:xfrm>
              <a:off x="0" y="0"/>
              <a:ext cx="897153" cy="406400"/>
            </a:xfrm>
            <a:custGeom>
              <a:rect b="b" l="l" r="r" t="t"/>
              <a:pathLst>
                <a:path extrusionOk="0" h="406400" w="897153">
                  <a:moveTo>
                    <a:pt x="0" y="0"/>
                  </a:moveTo>
                  <a:lnTo>
                    <a:pt x="693953" y="0"/>
                  </a:lnTo>
                  <a:lnTo>
                    <a:pt x="897153" y="203200"/>
                  </a:lnTo>
                  <a:lnTo>
                    <a:pt x="693953" y="406400"/>
                  </a:lnTo>
                  <a:lnTo>
                    <a:pt x="0" y="406400"/>
                  </a:lnTo>
                  <a:lnTo>
                    <a:pt x="203200" y="203200"/>
                  </a:lnTo>
                  <a:lnTo>
                    <a:pt x="0" y="0"/>
                  </a:lnTo>
                  <a:close/>
                </a:path>
              </a:pathLst>
            </a:custGeom>
            <a:gradFill>
              <a:gsLst>
                <a:gs pos="0">
                  <a:srgbClr val="A6A6A6"/>
                </a:gs>
                <a:gs pos="100000">
                  <a:srgbClr val="FFFF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6"/>
            <p:cNvSpPr txBox="1"/>
            <p:nvPr/>
          </p:nvSpPr>
          <p:spPr>
            <a:xfrm>
              <a:off x="177800" y="-57150"/>
              <a:ext cx="643153"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Soporte para lectores de pantalla</a:t>
              </a:r>
              <a:endParaRPr/>
            </a:p>
          </p:txBody>
        </p:sp>
      </p:grpSp>
      <p:grpSp>
        <p:nvGrpSpPr>
          <p:cNvPr id="420" name="Google Shape;420;p16"/>
          <p:cNvGrpSpPr/>
          <p:nvPr/>
        </p:nvGrpSpPr>
        <p:grpSpPr>
          <a:xfrm>
            <a:off x="1453717" y="4841413"/>
            <a:ext cx="4757726" cy="2450258"/>
            <a:chOff x="0" y="-57150"/>
            <a:chExt cx="900086" cy="463550"/>
          </a:xfrm>
        </p:grpSpPr>
        <p:sp>
          <p:nvSpPr>
            <p:cNvPr id="421" name="Google Shape;421;p16"/>
            <p:cNvSpPr/>
            <p:nvPr/>
          </p:nvSpPr>
          <p:spPr>
            <a:xfrm>
              <a:off x="0" y="0"/>
              <a:ext cx="900086" cy="406400"/>
            </a:xfrm>
            <a:custGeom>
              <a:rect b="b" l="l" r="r" t="t"/>
              <a:pathLst>
                <a:path extrusionOk="0" h="406400" w="900086">
                  <a:moveTo>
                    <a:pt x="0" y="0"/>
                  </a:moveTo>
                  <a:lnTo>
                    <a:pt x="696886" y="0"/>
                  </a:lnTo>
                  <a:lnTo>
                    <a:pt x="900086" y="203200"/>
                  </a:lnTo>
                  <a:lnTo>
                    <a:pt x="696886" y="406400"/>
                  </a:lnTo>
                  <a:lnTo>
                    <a:pt x="0" y="406400"/>
                  </a:lnTo>
                  <a:lnTo>
                    <a:pt x="203200" y="203200"/>
                  </a:lnTo>
                  <a:lnTo>
                    <a:pt x="0" y="0"/>
                  </a:lnTo>
                  <a:close/>
                </a:path>
              </a:pathLst>
            </a:custGeom>
            <a:gradFill>
              <a:gsLst>
                <a:gs pos="0">
                  <a:srgbClr val="CDFFD8"/>
                </a:gs>
                <a:gs pos="100000">
                  <a:srgbClr val="94B9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6"/>
            <p:cNvSpPr txBox="1"/>
            <p:nvPr/>
          </p:nvSpPr>
          <p:spPr>
            <a:xfrm>
              <a:off x="177800" y="-57150"/>
              <a:ext cx="646086"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Contrastes de colores altos</a:t>
              </a:r>
              <a:endParaRPr/>
            </a:p>
          </p:txBody>
        </p:sp>
      </p:grpSp>
      <p:grpSp>
        <p:nvGrpSpPr>
          <p:cNvPr id="423" name="Google Shape;423;p16"/>
          <p:cNvGrpSpPr/>
          <p:nvPr/>
        </p:nvGrpSpPr>
        <p:grpSpPr>
          <a:xfrm>
            <a:off x="12096664" y="4842533"/>
            <a:ext cx="4726297" cy="2441176"/>
            <a:chOff x="0" y="-57150"/>
            <a:chExt cx="897467" cy="463550"/>
          </a:xfrm>
        </p:grpSpPr>
        <p:sp>
          <p:nvSpPr>
            <p:cNvPr id="424" name="Google Shape;424;p16"/>
            <p:cNvSpPr/>
            <p:nvPr/>
          </p:nvSpPr>
          <p:spPr>
            <a:xfrm>
              <a:off x="0" y="0"/>
              <a:ext cx="897467" cy="406400"/>
            </a:xfrm>
            <a:custGeom>
              <a:rect b="b" l="l" r="r" t="t"/>
              <a:pathLst>
                <a:path extrusionOk="0" h="406400" w="897467">
                  <a:moveTo>
                    <a:pt x="0" y="0"/>
                  </a:moveTo>
                  <a:lnTo>
                    <a:pt x="694267" y="0"/>
                  </a:lnTo>
                  <a:lnTo>
                    <a:pt x="897467" y="203200"/>
                  </a:lnTo>
                  <a:lnTo>
                    <a:pt x="694267" y="406400"/>
                  </a:lnTo>
                  <a:lnTo>
                    <a:pt x="0" y="406400"/>
                  </a:lnTo>
                  <a:lnTo>
                    <a:pt x="203200" y="203200"/>
                  </a:lnTo>
                  <a:lnTo>
                    <a:pt x="0" y="0"/>
                  </a:lnTo>
                  <a:close/>
                </a:path>
              </a:pathLst>
            </a:custGeom>
            <a:gradFill>
              <a:gsLst>
                <a:gs pos="0">
                  <a:srgbClr val="FFF7AD"/>
                </a:gs>
                <a:gs pos="100000">
                  <a:srgbClr val="FFA9F9"/>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6"/>
            <p:cNvSpPr txBox="1"/>
            <p:nvPr/>
          </p:nvSpPr>
          <p:spPr>
            <a:xfrm>
              <a:off x="177800" y="-57150"/>
              <a:ext cx="643467"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Opciones de interaccción alternativa</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1" name="Google Shape;431;p17"/>
          <p:cNvGrpSpPr/>
          <p:nvPr/>
        </p:nvGrpSpPr>
        <p:grpSpPr>
          <a:xfrm rot="-5400000">
            <a:off x="6095749" y="2420783"/>
            <a:ext cx="6818207" cy="21127995"/>
            <a:chOff x="0" y="-47625"/>
            <a:chExt cx="1795742" cy="5564575"/>
          </a:xfrm>
        </p:grpSpPr>
        <p:sp>
          <p:nvSpPr>
            <p:cNvPr id="432" name="Google Shape;432;p1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4" name="Google Shape;434;p17"/>
          <p:cNvGrpSpPr/>
          <p:nvPr/>
        </p:nvGrpSpPr>
        <p:grpSpPr>
          <a:xfrm rot="-5400000">
            <a:off x="3906656" y="-11095415"/>
            <a:ext cx="2045233" cy="21127995"/>
            <a:chOff x="0" y="-47625"/>
            <a:chExt cx="538662" cy="5564575"/>
          </a:xfrm>
        </p:grpSpPr>
        <p:sp>
          <p:nvSpPr>
            <p:cNvPr id="435" name="Google Shape;435;p1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7" name="Google Shape;437;p17"/>
          <p:cNvGrpSpPr/>
          <p:nvPr/>
        </p:nvGrpSpPr>
        <p:grpSpPr>
          <a:xfrm rot="2700000">
            <a:off x="13798263" y="-60632"/>
            <a:ext cx="4685776" cy="1748082"/>
            <a:chOff x="0" y="-47625"/>
            <a:chExt cx="1234114" cy="460400"/>
          </a:xfrm>
        </p:grpSpPr>
        <p:sp>
          <p:nvSpPr>
            <p:cNvPr id="438" name="Google Shape;438;p1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0" name="Google Shape;440;p1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7"/>
          <p:cNvSpPr txBox="1"/>
          <p:nvPr/>
        </p:nvSpPr>
        <p:spPr>
          <a:xfrm>
            <a:off x="2554434" y="112331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Pruebas de Adaptabilidad</a:t>
            </a:r>
            <a:endParaRPr/>
          </a:p>
        </p:txBody>
      </p:sp>
      <p:sp>
        <p:nvSpPr>
          <p:cNvPr id="442" name="Google Shape;442;p17"/>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443" name="Google Shape;443;p17"/>
          <p:cNvSpPr txBox="1"/>
          <p:nvPr/>
        </p:nvSpPr>
        <p:spPr>
          <a:xfrm>
            <a:off x="1691038" y="2516184"/>
            <a:ext cx="14905924" cy="15906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Dado que las aplicaciones de RA involucran la interacción en el mundo físico, es fundamental realizar pruebas exhaustivas para asegurarse de que los objetos virtuales se comporten correctamente en diferentes entornos.</a:t>
            </a:r>
            <a:endParaRPr/>
          </a:p>
        </p:txBody>
      </p:sp>
      <p:grpSp>
        <p:nvGrpSpPr>
          <p:cNvPr id="444" name="Google Shape;444;p17"/>
          <p:cNvGrpSpPr/>
          <p:nvPr/>
        </p:nvGrpSpPr>
        <p:grpSpPr>
          <a:xfrm>
            <a:off x="4015865" y="4740718"/>
            <a:ext cx="4296343" cy="2550953"/>
            <a:chOff x="0" y="-76200"/>
            <a:chExt cx="812800" cy="482600"/>
          </a:xfrm>
        </p:grpSpPr>
        <p:sp>
          <p:nvSpPr>
            <p:cNvPr id="445" name="Google Shape;445;p17"/>
            <p:cNvSpPr/>
            <p:nvPr/>
          </p:nvSpPr>
          <p:spPr>
            <a:xfrm>
              <a:off x="0" y="0"/>
              <a:ext cx="812800" cy="406400"/>
            </a:xfrm>
            <a:custGeom>
              <a:rect b="b" l="l" r="r" t="t"/>
              <a:pathLst>
                <a:path extrusionOk="0"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CDFFD8"/>
                </a:gs>
                <a:gs pos="100000">
                  <a:srgbClr val="94B9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7"/>
            <p:cNvSpPr txBox="1"/>
            <p:nvPr/>
          </p:nvSpPr>
          <p:spPr>
            <a:xfrm>
              <a:off x="0" y="-76200"/>
              <a:ext cx="812800"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Pruebas de Usuario</a:t>
              </a:r>
              <a:endParaRPr/>
            </a:p>
          </p:txBody>
        </p:sp>
      </p:grpSp>
      <p:grpSp>
        <p:nvGrpSpPr>
          <p:cNvPr id="447" name="Google Shape;447;p17"/>
          <p:cNvGrpSpPr/>
          <p:nvPr/>
        </p:nvGrpSpPr>
        <p:grpSpPr>
          <a:xfrm>
            <a:off x="9928019" y="4750173"/>
            <a:ext cx="4280418" cy="2541498"/>
            <a:chOff x="0" y="-76200"/>
            <a:chExt cx="812800" cy="482600"/>
          </a:xfrm>
        </p:grpSpPr>
        <p:sp>
          <p:nvSpPr>
            <p:cNvPr id="448" name="Google Shape;448;p17"/>
            <p:cNvSpPr/>
            <p:nvPr/>
          </p:nvSpPr>
          <p:spPr>
            <a:xfrm>
              <a:off x="0" y="0"/>
              <a:ext cx="812800" cy="406400"/>
            </a:xfrm>
            <a:custGeom>
              <a:rect b="b" l="l" r="r" t="t"/>
              <a:pathLst>
                <a:path extrusionOk="0"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7AD"/>
                </a:gs>
                <a:gs pos="100000">
                  <a:srgbClr val="FFA9F9"/>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7"/>
            <p:cNvSpPr txBox="1"/>
            <p:nvPr/>
          </p:nvSpPr>
          <p:spPr>
            <a:xfrm>
              <a:off x="0" y="-76200"/>
              <a:ext cx="812800"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Feedback en tiempo real</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5" name="Google Shape;455;p18"/>
          <p:cNvGrpSpPr/>
          <p:nvPr/>
        </p:nvGrpSpPr>
        <p:grpSpPr>
          <a:xfrm rot="-5400000">
            <a:off x="6095749" y="2420783"/>
            <a:ext cx="6818207" cy="21127995"/>
            <a:chOff x="0" y="-47625"/>
            <a:chExt cx="1795742" cy="5564575"/>
          </a:xfrm>
        </p:grpSpPr>
        <p:sp>
          <p:nvSpPr>
            <p:cNvPr id="456" name="Google Shape;456;p1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8" name="Google Shape;458;p18"/>
          <p:cNvGrpSpPr/>
          <p:nvPr/>
        </p:nvGrpSpPr>
        <p:grpSpPr>
          <a:xfrm rot="-5400000">
            <a:off x="3906656" y="-11095415"/>
            <a:ext cx="2045233" cy="21127995"/>
            <a:chOff x="0" y="-47625"/>
            <a:chExt cx="538662" cy="5564575"/>
          </a:xfrm>
        </p:grpSpPr>
        <p:sp>
          <p:nvSpPr>
            <p:cNvPr id="459" name="Google Shape;459;p1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1" name="Google Shape;461;p18"/>
          <p:cNvGrpSpPr/>
          <p:nvPr/>
        </p:nvGrpSpPr>
        <p:grpSpPr>
          <a:xfrm rot="2700000">
            <a:off x="13798263" y="-60632"/>
            <a:ext cx="4685776" cy="1748082"/>
            <a:chOff x="0" y="-47625"/>
            <a:chExt cx="1234114" cy="460400"/>
          </a:xfrm>
        </p:grpSpPr>
        <p:sp>
          <p:nvSpPr>
            <p:cNvPr id="462" name="Google Shape;462;p1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4" name="Google Shape;464;p1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8"/>
          <p:cNvSpPr txBox="1"/>
          <p:nvPr/>
        </p:nvSpPr>
        <p:spPr>
          <a:xfrm>
            <a:off x="3020359" y="3976163"/>
            <a:ext cx="12247282" cy="211455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F4F6FC"/>
                </a:solidFill>
                <a:latin typeface="Arial"/>
                <a:ea typeface="Arial"/>
                <a:cs typeface="Arial"/>
                <a:sym typeface="Arial"/>
              </a:rPr>
              <a:t>Desafíos y Futuro del Contenido Digital en RA</a:t>
            </a:r>
            <a:endParaRPr/>
          </a:p>
        </p:txBody>
      </p:sp>
      <p:sp>
        <p:nvSpPr>
          <p:cNvPr id="466" name="Google Shape;466;p18"/>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2" name="Google Shape;472;p19"/>
          <p:cNvGrpSpPr/>
          <p:nvPr/>
        </p:nvGrpSpPr>
        <p:grpSpPr>
          <a:xfrm rot="-5400000">
            <a:off x="6095749" y="2420783"/>
            <a:ext cx="6818207" cy="21127995"/>
            <a:chOff x="0" y="-47625"/>
            <a:chExt cx="1795742" cy="5564575"/>
          </a:xfrm>
        </p:grpSpPr>
        <p:sp>
          <p:nvSpPr>
            <p:cNvPr id="473" name="Google Shape;473;p1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5" name="Google Shape;475;p19"/>
          <p:cNvGrpSpPr/>
          <p:nvPr/>
        </p:nvGrpSpPr>
        <p:grpSpPr>
          <a:xfrm rot="-5400000">
            <a:off x="3906656" y="-11095415"/>
            <a:ext cx="2045233" cy="21127995"/>
            <a:chOff x="0" y="-47625"/>
            <a:chExt cx="538662" cy="5564575"/>
          </a:xfrm>
        </p:grpSpPr>
        <p:sp>
          <p:nvSpPr>
            <p:cNvPr id="476" name="Google Shape;476;p1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8" name="Google Shape;478;p19"/>
          <p:cNvGrpSpPr/>
          <p:nvPr/>
        </p:nvGrpSpPr>
        <p:grpSpPr>
          <a:xfrm rot="2700000">
            <a:off x="13798263" y="-60632"/>
            <a:ext cx="4685776" cy="1748082"/>
            <a:chOff x="0" y="-47625"/>
            <a:chExt cx="1234114" cy="460400"/>
          </a:xfrm>
        </p:grpSpPr>
        <p:sp>
          <p:nvSpPr>
            <p:cNvPr id="479" name="Google Shape;479;p1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1" name="Google Shape;481;p1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2" name="Google Shape;482;p19"/>
          <p:cNvGrpSpPr/>
          <p:nvPr/>
        </p:nvGrpSpPr>
        <p:grpSpPr>
          <a:xfrm>
            <a:off x="1028700" y="2513045"/>
            <a:ext cx="7528964" cy="2384944"/>
            <a:chOff x="0" y="-47625"/>
            <a:chExt cx="1982937" cy="628134"/>
          </a:xfrm>
        </p:grpSpPr>
        <p:sp>
          <p:nvSpPr>
            <p:cNvPr id="483" name="Google Shape;483;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5" name="Google Shape;485;p19"/>
          <p:cNvGrpSpPr/>
          <p:nvPr/>
        </p:nvGrpSpPr>
        <p:grpSpPr>
          <a:xfrm>
            <a:off x="9595266" y="2513045"/>
            <a:ext cx="7528964" cy="2384944"/>
            <a:chOff x="0" y="-47625"/>
            <a:chExt cx="1982937" cy="628134"/>
          </a:xfrm>
        </p:grpSpPr>
        <p:sp>
          <p:nvSpPr>
            <p:cNvPr id="486" name="Google Shape;486;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8" name="Google Shape;488;p19"/>
          <p:cNvSpPr txBox="1"/>
          <p:nvPr/>
        </p:nvSpPr>
        <p:spPr>
          <a:xfrm>
            <a:off x="2554434" y="867816"/>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Desafíos Actuales</a:t>
            </a:r>
            <a:endParaRPr/>
          </a:p>
        </p:txBody>
      </p:sp>
      <p:sp>
        <p:nvSpPr>
          <p:cNvPr id="489" name="Google Shape;489;p19"/>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490" name="Google Shape;490;p19"/>
          <p:cNvSpPr txBox="1"/>
          <p:nvPr/>
        </p:nvSpPr>
        <p:spPr>
          <a:xfrm>
            <a:off x="1537684" y="3212738"/>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Alto costo de desarrollo y producción de contenido interactivo.</a:t>
            </a:r>
            <a:endParaRPr/>
          </a:p>
        </p:txBody>
      </p:sp>
      <p:grpSp>
        <p:nvGrpSpPr>
          <p:cNvPr id="491" name="Google Shape;491;p19"/>
          <p:cNvGrpSpPr/>
          <p:nvPr/>
        </p:nvGrpSpPr>
        <p:grpSpPr>
          <a:xfrm>
            <a:off x="5379518" y="5632237"/>
            <a:ext cx="7528964" cy="2384944"/>
            <a:chOff x="0" y="-47625"/>
            <a:chExt cx="1982937" cy="628134"/>
          </a:xfrm>
        </p:grpSpPr>
        <p:sp>
          <p:nvSpPr>
            <p:cNvPr id="492" name="Google Shape;492;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4" name="Google Shape;494;p19"/>
          <p:cNvSpPr txBox="1"/>
          <p:nvPr/>
        </p:nvSpPr>
        <p:spPr>
          <a:xfrm>
            <a:off x="10104249" y="3212738"/>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Limitaciones tecnológicas en dispositivos móviles y gafas de RA.</a:t>
            </a:r>
            <a:endParaRPr/>
          </a:p>
        </p:txBody>
      </p:sp>
      <p:sp>
        <p:nvSpPr>
          <p:cNvPr id="495" name="Google Shape;495;p19"/>
          <p:cNvSpPr txBox="1"/>
          <p:nvPr/>
        </p:nvSpPr>
        <p:spPr>
          <a:xfrm>
            <a:off x="5888502" y="6362672"/>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Problemas de usabilidad y accesibilidad para algunos usuarios.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1" name="Google Shape;501;p20"/>
          <p:cNvGrpSpPr/>
          <p:nvPr/>
        </p:nvGrpSpPr>
        <p:grpSpPr>
          <a:xfrm rot="-5400000">
            <a:off x="6095749" y="2420783"/>
            <a:ext cx="6818207" cy="21127995"/>
            <a:chOff x="0" y="-47625"/>
            <a:chExt cx="1795742" cy="5564575"/>
          </a:xfrm>
        </p:grpSpPr>
        <p:sp>
          <p:nvSpPr>
            <p:cNvPr id="502" name="Google Shape;502;p2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4" name="Google Shape;504;p20"/>
          <p:cNvGrpSpPr/>
          <p:nvPr/>
        </p:nvGrpSpPr>
        <p:grpSpPr>
          <a:xfrm rot="-5400000">
            <a:off x="3906656" y="-11095415"/>
            <a:ext cx="2045233" cy="21127995"/>
            <a:chOff x="0" y="-47625"/>
            <a:chExt cx="538662" cy="5564575"/>
          </a:xfrm>
        </p:grpSpPr>
        <p:sp>
          <p:nvSpPr>
            <p:cNvPr id="505" name="Google Shape;505;p2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2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7" name="Google Shape;507;p20"/>
          <p:cNvGrpSpPr/>
          <p:nvPr/>
        </p:nvGrpSpPr>
        <p:grpSpPr>
          <a:xfrm rot="2700000">
            <a:off x="13798263" y="-60632"/>
            <a:ext cx="4685776" cy="1748082"/>
            <a:chOff x="0" y="-47625"/>
            <a:chExt cx="1234114" cy="460400"/>
          </a:xfrm>
        </p:grpSpPr>
        <p:sp>
          <p:nvSpPr>
            <p:cNvPr id="508" name="Google Shape;508;p2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2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0" name="Google Shape;510;p2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11" name="Google Shape;511;p20"/>
          <p:cNvGrpSpPr/>
          <p:nvPr/>
        </p:nvGrpSpPr>
        <p:grpSpPr>
          <a:xfrm>
            <a:off x="1028700" y="2829529"/>
            <a:ext cx="7528964" cy="2384944"/>
            <a:chOff x="0" y="-47625"/>
            <a:chExt cx="1982937" cy="628134"/>
          </a:xfrm>
        </p:grpSpPr>
        <p:sp>
          <p:nvSpPr>
            <p:cNvPr id="512" name="Google Shape;512;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4" name="Google Shape;514;p20"/>
          <p:cNvGrpSpPr/>
          <p:nvPr/>
        </p:nvGrpSpPr>
        <p:grpSpPr>
          <a:xfrm>
            <a:off x="9595266" y="2829529"/>
            <a:ext cx="7528964" cy="2384944"/>
            <a:chOff x="0" y="-47625"/>
            <a:chExt cx="1982937" cy="628134"/>
          </a:xfrm>
        </p:grpSpPr>
        <p:sp>
          <p:nvSpPr>
            <p:cNvPr id="515" name="Google Shape;515;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20"/>
          <p:cNvSpPr txBox="1"/>
          <p:nvPr/>
        </p:nvSpPr>
        <p:spPr>
          <a:xfrm>
            <a:off x="2554434" y="867816"/>
            <a:ext cx="13179131" cy="85725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607">
                <a:solidFill>
                  <a:srgbClr val="F4F6FC"/>
                </a:solidFill>
                <a:latin typeface="Arial"/>
                <a:ea typeface="Arial"/>
                <a:cs typeface="Arial"/>
                <a:sym typeface="Arial"/>
              </a:rPr>
              <a:t>Futuro del Contenido Digital en RA</a:t>
            </a:r>
            <a:endParaRPr/>
          </a:p>
        </p:txBody>
      </p:sp>
      <p:sp>
        <p:nvSpPr>
          <p:cNvPr id="518" name="Google Shape;518;p20"/>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519" name="Google Shape;519;p20"/>
          <p:cNvSpPr txBox="1"/>
          <p:nvPr/>
        </p:nvSpPr>
        <p:spPr>
          <a:xfrm>
            <a:off x="1537684" y="3559964"/>
            <a:ext cx="6510997" cy="1057854"/>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Avances en inteligencia artificial para personalizar la experiencia de RA.</a:t>
            </a:r>
            <a:endParaRPr/>
          </a:p>
        </p:txBody>
      </p:sp>
      <p:sp>
        <p:nvSpPr>
          <p:cNvPr id="520" name="Google Shape;520;p20"/>
          <p:cNvSpPr txBox="1"/>
          <p:nvPr/>
        </p:nvSpPr>
        <p:spPr>
          <a:xfrm>
            <a:off x="10104249" y="3554064"/>
            <a:ext cx="6510997" cy="1057854"/>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Mayor integración con el metaverso y experiencias digitales híbridas.</a:t>
            </a:r>
            <a:endParaRPr/>
          </a:p>
        </p:txBody>
      </p:sp>
      <p:grpSp>
        <p:nvGrpSpPr>
          <p:cNvPr id="521" name="Google Shape;521;p20"/>
          <p:cNvGrpSpPr/>
          <p:nvPr/>
        </p:nvGrpSpPr>
        <p:grpSpPr>
          <a:xfrm>
            <a:off x="5379518" y="5706864"/>
            <a:ext cx="7528964" cy="2384944"/>
            <a:chOff x="0" y="-47625"/>
            <a:chExt cx="1982937" cy="628134"/>
          </a:xfrm>
        </p:grpSpPr>
        <p:sp>
          <p:nvSpPr>
            <p:cNvPr id="522" name="Google Shape;522;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4" name="Google Shape;524;p20"/>
          <p:cNvSpPr txBox="1"/>
          <p:nvPr/>
        </p:nvSpPr>
        <p:spPr>
          <a:xfrm>
            <a:off x="5888502" y="6178668"/>
            <a:ext cx="6510997" cy="1596463"/>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Dispositivos más accesibles y optimización de la calidad gráfica en ra.</a:t>
            </a:r>
            <a:endParaRPr b="1" sz="2999">
              <a:solidFill>
                <a:srgbClr val="050A3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0" name="Google Shape;530;p21"/>
          <p:cNvGrpSpPr/>
          <p:nvPr/>
        </p:nvGrpSpPr>
        <p:grpSpPr>
          <a:xfrm rot="-5400000">
            <a:off x="6095749" y="2420783"/>
            <a:ext cx="6818207" cy="21127995"/>
            <a:chOff x="0" y="-47625"/>
            <a:chExt cx="1795742" cy="5564575"/>
          </a:xfrm>
        </p:grpSpPr>
        <p:sp>
          <p:nvSpPr>
            <p:cNvPr id="531" name="Google Shape;531;p2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3" name="Google Shape;533;p21"/>
          <p:cNvGrpSpPr/>
          <p:nvPr/>
        </p:nvGrpSpPr>
        <p:grpSpPr>
          <a:xfrm rot="-5400000">
            <a:off x="3906656" y="-11095415"/>
            <a:ext cx="2045233" cy="21127995"/>
            <a:chOff x="0" y="-47625"/>
            <a:chExt cx="538662" cy="5564575"/>
          </a:xfrm>
        </p:grpSpPr>
        <p:sp>
          <p:nvSpPr>
            <p:cNvPr id="534" name="Google Shape;534;p2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6" name="Google Shape;536;p21"/>
          <p:cNvGrpSpPr/>
          <p:nvPr/>
        </p:nvGrpSpPr>
        <p:grpSpPr>
          <a:xfrm rot="2700000">
            <a:off x="13798263" y="-60632"/>
            <a:ext cx="4685776" cy="1748082"/>
            <a:chOff x="0" y="-47625"/>
            <a:chExt cx="1234114" cy="460400"/>
          </a:xfrm>
        </p:grpSpPr>
        <p:sp>
          <p:nvSpPr>
            <p:cNvPr id="537" name="Google Shape;537;p2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9" name="Google Shape;539;p21"/>
          <p:cNvSpPr txBox="1"/>
          <p:nvPr/>
        </p:nvSpPr>
        <p:spPr>
          <a:xfrm>
            <a:off x="2392343" y="705467"/>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Conceptos Clave Aprendidos </a:t>
            </a:r>
            <a:endParaRPr/>
          </a:p>
        </p:txBody>
      </p:sp>
      <p:sp>
        <p:nvSpPr>
          <p:cNvPr id="540" name="Google Shape;540;p21"/>
          <p:cNvSpPr txBox="1"/>
          <p:nvPr/>
        </p:nvSpPr>
        <p:spPr>
          <a:xfrm>
            <a:off x="319935" y="1785983"/>
            <a:ext cx="17623519" cy="7583803"/>
          </a:xfrm>
          <a:prstGeom prst="rect">
            <a:avLst/>
          </a:prstGeom>
          <a:noFill/>
          <a:ln>
            <a:noFill/>
          </a:ln>
        </p:spPr>
        <p:txBody>
          <a:bodyPr anchorCtr="0" anchor="t" bIns="0" lIns="0" spcFirstLastPara="1" rIns="0" wrap="square" tIns="0">
            <a:spAutoFit/>
          </a:bodyPr>
          <a:lstStyle/>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Diseño RA: </a:t>
            </a:r>
            <a:r>
              <a:rPr b="0" i="0" lang="en-US" sz="3300" u="none" cap="none" strike="noStrike">
                <a:solidFill>
                  <a:srgbClr val="050A30"/>
                </a:solidFill>
                <a:latin typeface="Arial"/>
                <a:ea typeface="Arial"/>
                <a:cs typeface="Arial"/>
                <a:sym typeface="Arial"/>
              </a:rPr>
              <a:t>Crear experiencias que integren elementos digitales en el entorno físico de forma intuitiva.</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Interacción natural: </a:t>
            </a:r>
            <a:r>
              <a:rPr b="0" i="0" lang="en-US" sz="3300" u="none" cap="none" strike="noStrike">
                <a:solidFill>
                  <a:srgbClr val="050A30"/>
                </a:solidFill>
                <a:latin typeface="Arial"/>
                <a:ea typeface="Arial"/>
                <a:cs typeface="Arial"/>
                <a:sym typeface="Arial"/>
              </a:rPr>
              <a:t>Uso de gestos, voz y movimientos para una experiencia fluida con el entorno.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UI en RA: </a:t>
            </a:r>
            <a:r>
              <a:rPr b="0" i="0" lang="en-US" sz="3300" u="none" cap="none" strike="noStrike">
                <a:solidFill>
                  <a:srgbClr val="050A30"/>
                </a:solidFill>
                <a:latin typeface="Arial"/>
                <a:ea typeface="Arial"/>
                <a:cs typeface="Arial"/>
                <a:sym typeface="Arial"/>
              </a:rPr>
              <a:t>Interfaces claras, simples y no intrusivas que mejoran la interacción.</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Anclaje 3D: </a:t>
            </a:r>
            <a:r>
              <a:rPr b="0" i="0" lang="en-US" sz="3300" u="none" cap="none" strike="noStrike">
                <a:solidFill>
                  <a:srgbClr val="050A30"/>
                </a:solidFill>
                <a:latin typeface="Arial"/>
                <a:ea typeface="Arial"/>
                <a:cs typeface="Arial"/>
                <a:sym typeface="Arial"/>
              </a:rPr>
              <a:t>Objetos bien posicionados con escala, sombras y realismo.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Optimización móvil: </a:t>
            </a:r>
            <a:r>
              <a:rPr b="0" i="0" lang="en-US" sz="3300" u="none" cap="none" strike="noStrike">
                <a:solidFill>
                  <a:srgbClr val="050A30"/>
                </a:solidFill>
                <a:latin typeface="Arial"/>
                <a:ea typeface="Arial"/>
                <a:cs typeface="Arial"/>
                <a:sym typeface="Arial"/>
              </a:rPr>
              <a:t>Buen uso de recursos para mantener el rendimiento.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Accesibilidad: </a:t>
            </a:r>
            <a:r>
              <a:rPr b="0" i="0" lang="en-US" sz="3300" u="none" cap="none" strike="noStrike">
                <a:solidFill>
                  <a:srgbClr val="050A30"/>
                </a:solidFill>
                <a:latin typeface="Arial"/>
                <a:ea typeface="Arial"/>
                <a:cs typeface="Arial"/>
                <a:sym typeface="Arial"/>
              </a:rPr>
              <a:t>Diseño inclusivo con soporte a múltiples formas de interacción.</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Pruebas contextuales: </a:t>
            </a:r>
            <a:r>
              <a:rPr b="0" i="0" lang="en-US" sz="3300" u="none" cap="none" strike="noStrike">
                <a:solidFill>
                  <a:srgbClr val="050A30"/>
                </a:solidFill>
                <a:latin typeface="Arial"/>
                <a:ea typeface="Arial"/>
                <a:cs typeface="Arial"/>
                <a:sym typeface="Arial"/>
              </a:rPr>
              <a:t>Evaluar la app en distintos entornos físicos.</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Futuro de la RA: </a:t>
            </a:r>
            <a:r>
              <a:rPr b="0" i="0" lang="en-US" sz="3300" u="none" cap="none" strike="noStrike">
                <a:solidFill>
                  <a:srgbClr val="050A30"/>
                </a:solidFill>
                <a:latin typeface="Arial"/>
                <a:ea typeface="Arial"/>
                <a:cs typeface="Arial"/>
                <a:sym typeface="Arial"/>
              </a:rPr>
              <a:t>IA, metaverso y mejor calidad gráfica impulsarán su evolución.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6" name="Google Shape;546;p22"/>
          <p:cNvGrpSpPr/>
          <p:nvPr/>
        </p:nvGrpSpPr>
        <p:grpSpPr>
          <a:xfrm rot="-5400000">
            <a:off x="6095749" y="2420783"/>
            <a:ext cx="6818207" cy="21127995"/>
            <a:chOff x="0" y="-47625"/>
            <a:chExt cx="1795742" cy="5564575"/>
          </a:xfrm>
        </p:grpSpPr>
        <p:sp>
          <p:nvSpPr>
            <p:cNvPr id="547" name="Google Shape;547;p2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2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9" name="Google Shape;549;p22"/>
          <p:cNvGrpSpPr/>
          <p:nvPr/>
        </p:nvGrpSpPr>
        <p:grpSpPr>
          <a:xfrm rot="-5400000">
            <a:off x="3906656" y="-11095415"/>
            <a:ext cx="2045233" cy="21127995"/>
            <a:chOff x="0" y="-47625"/>
            <a:chExt cx="538662" cy="5564575"/>
          </a:xfrm>
        </p:grpSpPr>
        <p:sp>
          <p:nvSpPr>
            <p:cNvPr id="550" name="Google Shape;550;p2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2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2" name="Google Shape;552;p22"/>
          <p:cNvGrpSpPr/>
          <p:nvPr/>
        </p:nvGrpSpPr>
        <p:grpSpPr>
          <a:xfrm rot="2700000">
            <a:off x="13798263" y="-60632"/>
            <a:ext cx="4685776" cy="1748082"/>
            <a:chOff x="0" y="-47625"/>
            <a:chExt cx="1234114" cy="460400"/>
          </a:xfrm>
        </p:grpSpPr>
        <p:sp>
          <p:nvSpPr>
            <p:cNvPr id="553" name="Google Shape;553;p2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2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5" name="Google Shape;555;p22"/>
          <p:cNvSpPr txBox="1"/>
          <p:nvPr/>
        </p:nvSpPr>
        <p:spPr>
          <a:xfrm>
            <a:off x="2392343" y="712826"/>
            <a:ext cx="13503315" cy="2015745"/>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Estetica, funcionalidad, optimización</a:t>
            </a:r>
            <a:endParaRPr b="1" sz="6900">
              <a:solidFill>
                <a:srgbClr val="F4F6FC"/>
              </a:solidFill>
              <a:latin typeface="Arial"/>
              <a:ea typeface="Arial"/>
              <a:cs typeface="Arial"/>
              <a:sym typeface="Arial"/>
            </a:endParaRPr>
          </a:p>
        </p:txBody>
      </p:sp>
      <p:sp>
        <p:nvSpPr>
          <p:cNvPr id="556" name="Google Shape;556;p22"/>
          <p:cNvSpPr txBox="1"/>
          <p:nvPr/>
        </p:nvSpPr>
        <p:spPr>
          <a:xfrm>
            <a:off x="1028700" y="2812153"/>
            <a:ext cx="16230600" cy="6760200"/>
          </a:xfrm>
          <a:prstGeom prst="rect">
            <a:avLst/>
          </a:prstGeom>
          <a:noFill/>
          <a:ln>
            <a:noFill/>
          </a:ln>
        </p:spPr>
        <p:txBody>
          <a:bodyPr anchorCtr="0" anchor="t" bIns="0" lIns="0" spcFirstLastPara="1" rIns="0" wrap="square" tIns="0">
            <a:spAutoFit/>
          </a:bodyPr>
          <a:lstStyle/>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estética se relaciona con la capacidad de presentar soluciones de manera clara, atractiva y ordenada, favoreciendo la comprensión y la experiencia visual.</a:t>
            </a:r>
            <a:endParaRPr/>
          </a:p>
          <a:p>
            <a:pPr indent="0" lvl="1" marL="388624" marR="0" rtl="0" algn="just">
              <a:lnSpc>
                <a:spcPct val="140000"/>
              </a:lnSpc>
              <a:spcBef>
                <a:spcPts val="0"/>
              </a:spcBef>
              <a:spcAft>
                <a:spcPts val="0"/>
              </a:spcAft>
              <a:buNone/>
            </a:pPr>
            <a:r>
              <a:t/>
            </a:r>
            <a:endParaRPr b="1" i="0" sz="3600" u="none" cap="none" strike="noStrike">
              <a:solidFill>
                <a:srgbClr val="F4F6FC"/>
              </a:solidFill>
              <a:latin typeface="Arial"/>
              <a:ea typeface="Arial"/>
              <a:cs typeface="Arial"/>
              <a:sym typeface="Arial"/>
            </a:endParaRPr>
          </a:p>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funcionalidad implica que las soluciones propuestas cumplan con su propósito de manera efectiva y práctica.</a:t>
            </a:r>
            <a:endParaRPr/>
          </a:p>
          <a:p>
            <a:pPr indent="0" lvl="1" marL="388624" marR="0" rtl="0" algn="just">
              <a:lnSpc>
                <a:spcPct val="140000"/>
              </a:lnSpc>
              <a:spcBef>
                <a:spcPts val="0"/>
              </a:spcBef>
              <a:spcAft>
                <a:spcPts val="0"/>
              </a:spcAft>
              <a:buNone/>
            </a:pPr>
            <a:r>
              <a:t/>
            </a:r>
            <a:endParaRPr b="1" i="0" sz="3600" u="none" cap="none" strike="noStrike">
              <a:solidFill>
                <a:srgbClr val="F4F6FC"/>
              </a:solidFill>
              <a:latin typeface="Arial"/>
              <a:ea typeface="Arial"/>
              <a:cs typeface="Arial"/>
              <a:sym typeface="Arial"/>
            </a:endParaRPr>
          </a:p>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optimización se centra en mejorar los procesos y soluciones para que sean más rápidos, eficientes y con menor uso de recursos</a:t>
            </a:r>
            <a:r>
              <a:rPr b="0" i="0" lang="en-US" sz="3600" u="none" cap="none" strike="noStrike">
                <a:solidFill>
                  <a:srgbClr val="F4F6FC"/>
                </a:solidFill>
                <a:latin typeface="Arial"/>
                <a:ea typeface="Arial"/>
                <a:cs typeface="Arial"/>
                <a:sym typeface="Arial"/>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62" name="Google Shape;562;p23"/>
          <p:cNvGrpSpPr/>
          <p:nvPr/>
        </p:nvGrpSpPr>
        <p:grpSpPr>
          <a:xfrm rot="-5400000">
            <a:off x="6095749" y="2420783"/>
            <a:ext cx="6818207" cy="21127995"/>
            <a:chOff x="0" y="-47625"/>
            <a:chExt cx="1795742" cy="5564575"/>
          </a:xfrm>
        </p:grpSpPr>
        <p:sp>
          <p:nvSpPr>
            <p:cNvPr id="563" name="Google Shape;563;p2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2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5" name="Google Shape;565;p23"/>
          <p:cNvGrpSpPr/>
          <p:nvPr/>
        </p:nvGrpSpPr>
        <p:grpSpPr>
          <a:xfrm rot="-5400000">
            <a:off x="3906656" y="-11095415"/>
            <a:ext cx="2045233" cy="21127995"/>
            <a:chOff x="0" y="-47625"/>
            <a:chExt cx="538662" cy="5564575"/>
          </a:xfrm>
        </p:grpSpPr>
        <p:sp>
          <p:nvSpPr>
            <p:cNvPr id="566" name="Google Shape;566;p2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8" name="Google Shape;568;p23"/>
          <p:cNvGrpSpPr/>
          <p:nvPr/>
        </p:nvGrpSpPr>
        <p:grpSpPr>
          <a:xfrm rot="2700000">
            <a:off x="13798263" y="-60632"/>
            <a:ext cx="4685776" cy="1748082"/>
            <a:chOff x="0" y="-47625"/>
            <a:chExt cx="1234114" cy="460400"/>
          </a:xfrm>
        </p:grpSpPr>
        <p:sp>
          <p:nvSpPr>
            <p:cNvPr id="569" name="Google Shape;569;p2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1" name="Google Shape;571;p23"/>
          <p:cNvSpPr txBox="1"/>
          <p:nvPr/>
        </p:nvSpPr>
        <p:spPr>
          <a:xfrm>
            <a:off x="2392343" y="1673265"/>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Referencias</a:t>
            </a:r>
            <a:endParaRPr/>
          </a:p>
        </p:txBody>
      </p:sp>
      <p:sp>
        <p:nvSpPr>
          <p:cNvPr id="572" name="Google Shape;572;p23"/>
          <p:cNvSpPr txBox="1"/>
          <p:nvPr/>
        </p:nvSpPr>
        <p:spPr>
          <a:xfrm>
            <a:off x="2027167" y="4268899"/>
            <a:ext cx="14233665" cy="1471929"/>
          </a:xfrm>
          <a:prstGeom prst="rect">
            <a:avLst/>
          </a:prstGeom>
          <a:noFill/>
          <a:ln>
            <a:noFill/>
          </a:ln>
        </p:spPr>
        <p:txBody>
          <a:bodyPr anchorCtr="0" anchor="t" bIns="0" lIns="0" spcFirstLastPara="1" rIns="0" wrap="square" tIns="0">
            <a:spAutoFit/>
          </a:bodyPr>
          <a:lstStyle/>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Russell, S., &amp; Norvig, P. (2016). Artificial Intelligence: A Modern Approach (3rd ed.). Pearson.</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78" name="Google Shape;578;p24"/>
          <p:cNvGrpSpPr/>
          <p:nvPr/>
        </p:nvGrpSpPr>
        <p:grpSpPr>
          <a:xfrm rot="-5400000">
            <a:off x="6095749" y="2420783"/>
            <a:ext cx="6818207" cy="21127995"/>
            <a:chOff x="0" y="-47625"/>
            <a:chExt cx="1795742" cy="5564575"/>
          </a:xfrm>
        </p:grpSpPr>
        <p:sp>
          <p:nvSpPr>
            <p:cNvPr id="579" name="Google Shape;579;p2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2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1" name="Google Shape;581;p24"/>
          <p:cNvGrpSpPr/>
          <p:nvPr/>
        </p:nvGrpSpPr>
        <p:grpSpPr>
          <a:xfrm rot="-5400000">
            <a:off x="3906656" y="-11095415"/>
            <a:ext cx="2045233" cy="21127995"/>
            <a:chOff x="0" y="-47625"/>
            <a:chExt cx="538662" cy="5564575"/>
          </a:xfrm>
        </p:grpSpPr>
        <p:sp>
          <p:nvSpPr>
            <p:cNvPr id="582" name="Google Shape;582;p2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2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4" name="Google Shape;584;p24"/>
          <p:cNvGrpSpPr/>
          <p:nvPr/>
        </p:nvGrpSpPr>
        <p:grpSpPr>
          <a:xfrm rot="2700000">
            <a:off x="13798263" y="-60632"/>
            <a:ext cx="4685776" cy="1748082"/>
            <a:chOff x="0" y="-47625"/>
            <a:chExt cx="1234114" cy="460400"/>
          </a:xfrm>
        </p:grpSpPr>
        <p:sp>
          <p:nvSpPr>
            <p:cNvPr id="585" name="Google Shape;585;p2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2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7" name="Google Shape;587;p24"/>
          <p:cNvSpPr txBox="1"/>
          <p:nvPr/>
        </p:nvSpPr>
        <p:spPr>
          <a:xfrm>
            <a:off x="2392342" y="4305300"/>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Ejemplo Práctico</a:t>
            </a:r>
            <a:endParaRPr b="1" sz="6900">
              <a:solidFill>
                <a:srgbClr val="F4F6FC"/>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4" r="-224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93" name="Google Shape;593;p25"/>
          <p:cNvGrpSpPr/>
          <p:nvPr/>
        </p:nvGrpSpPr>
        <p:grpSpPr>
          <a:xfrm rot="-5400000">
            <a:off x="6095749" y="2420783"/>
            <a:ext cx="6818207" cy="21127995"/>
            <a:chOff x="0" y="-47625"/>
            <a:chExt cx="1795742" cy="5564575"/>
          </a:xfrm>
        </p:grpSpPr>
        <p:sp>
          <p:nvSpPr>
            <p:cNvPr id="594" name="Google Shape;594;p2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2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6" name="Google Shape;596;p25"/>
          <p:cNvGrpSpPr/>
          <p:nvPr/>
        </p:nvGrpSpPr>
        <p:grpSpPr>
          <a:xfrm rot="-5400000">
            <a:off x="3906656" y="-11095415"/>
            <a:ext cx="2045233" cy="21127995"/>
            <a:chOff x="0" y="-47625"/>
            <a:chExt cx="538662" cy="5564575"/>
          </a:xfrm>
        </p:grpSpPr>
        <p:sp>
          <p:nvSpPr>
            <p:cNvPr id="597" name="Google Shape;597;p2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2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9" name="Google Shape;599;p25"/>
          <p:cNvGrpSpPr/>
          <p:nvPr/>
        </p:nvGrpSpPr>
        <p:grpSpPr>
          <a:xfrm rot="2700000">
            <a:off x="13798263" y="-60632"/>
            <a:ext cx="4685776" cy="1748082"/>
            <a:chOff x="0" y="-47625"/>
            <a:chExt cx="1234114" cy="460400"/>
          </a:xfrm>
        </p:grpSpPr>
        <p:sp>
          <p:nvSpPr>
            <p:cNvPr id="600" name="Google Shape;600;p2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2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2" name="Google Shape;602;p25"/>
          <p:cNvSpPr txBox="1"/>
          <p:nvPr/>
        </p:nvSpPr>
        <p:spPr>
          <a:xfrm>
            <a:off x="2392342" y="4148709"/>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Actividad Práctica</a:t>
            </a:r>
            <a:endParaRPr b="1" sz="6900">
              <a:solidFill>
                <a:srgbClr val="050A3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26"/>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608" name="Google Shape;608;p26"/>
          <p:cNvGraphicFramePr/>
          <p:nvPr/>
        </p:nvGraphicFramePr>
        <p:xfrm>
          <a:off x="16900" y="1507250"/>
          <a:ext cx="3000000" cy="3000000"/>
        </p:xfrm>
        <a:graphic>
          <a:graphicData uri="http://schemas.openxmlformats.org/drawingml/2006/table">
            <a:tbl>
              <a:tblPr>
                <a:noFill/>
                <a:tableStyleId>{049B1BC1-E120-491D-BEA9-9A65665ABFF5}</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09" name="Google Shape;609;p26"/>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610" name="Google Shape;610;p26"/>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aphicFrame>
        <p:nvGraphicFramePr>
          <p:cNvPr id="611" name="Google Shape;611;p26"/>
          <p:cNvGraphicFramePr/>
          <p:nvPr/>
        </p:nvGraphicFramePr>
        <p:xfrm>
          <a:off x="10656400" y="1940050"/>
          <a:ext cx="3000000" cy="3000000"/>
        </p:xfrm>
        <a:graphic>
          <a:graphicData uri="http://schemas.openxmlformats.org/drawingml/2006/table">
            <a:tbl>
              <a:tblPr>
                <a:noFill/>
                <a:tableStyleId>{049B1BC1-E120-491D-BEA9-9A65665ABFF5}</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12" name="Google Shape;612;p26"/>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613" name="Google Shape;613;p26"/>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617" name="Shape 617"/>
        <p:cNvGrpSpPr/>
        <p:nvPr/>
      </p:nvGrpSpPr>
      <p:grpSpPr>
        <a:xfrm>
          <a:off x="0" y="0"/>
          <a:ext cx="0" cy="0"/>
          <a:chOff x="0" y="0"/>
          <a:chExt cx="0" cy="0"/>
        </a:xfrm>
      </p:grpSpPr>
      <p:sp>
        <p:nvSpPr>
          <p:cNvPr id="618" name="Google Shape;618;p27"/>
          <p:cNvSpPr txBox="1"/>
          <p:nvPr/>
        </p:nvSpPr>
        <p:spPr>
          <a:xfrm>
            <a:off x="4437795" y="3446254"/>
            <a:ext cx="8658828" cy="243852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1" lang="en-US" sz="6099">
                <a:solidFill>
                  <a:srgbClr val="F4F6FC"/>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1" sz="6099">
              <a:solidFill>
                <a:srgbClr val="F4F6FC"/>
              </a:solidFill>
              <a:latin typeface="Arial"/>
              <a:ea typeface="Arial"/>
              <a:cs typeface="Arial"/>
              <a:sym typeface="Arial"/>
            </a:endParaRPr>
          </a:p>
        </p:txBody>
      </p:sp>
      <p:sp>
        <p:nvSpPr>
          <p:cNvPr id="619" name="Google Shape;619;p2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5000">
                <a:solidFill>
                  <a:srgbClr val="F4F6FC"/>
                </a:solidFill>
                <a:latin typeface="Arial"/>
                <a:ea typeface="Arial"/>
                <a:cs typeface="Arial"/>
                <a:sym typeface="Arial"/>
              </a:rPr>
              <a:t>DUDAS</a:t>
            </a:r>
            <a:endParaRPr/>
          </a:p>
        </p:txBody>
      </p:sp>
      <p:sp>
        <p:nvSpPr>
          <p:cNvPr id="620" name="Google Shape;620;p2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27"/>
          <p:cNvSpPr txBox="1"/>
          <p:nvPr/>
        </p:nvSpPr>
        <p:spPr>
          <a:xfrm>
            <a:off x="2411098" y="7890210"/>
            <a:ext cx="13465804" cy="35750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2000">
                <a:solidFill>
                  <a:srgbClr val="F4F6FC"/>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